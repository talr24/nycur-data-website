
<file path=[Content_Types].xml><?xml version="1.0" encoding="utf-8"?>
<Types xmlns="http://schemas.openxmlformats.org/package/2006/content-types">
  <Default ContentType="image/jpeg" Extension="jpg"/>
  <Default ContentType="application/x-fontdata" Extension="fntdata"/>
  <Default ContentType="image/gif" Extension="gif"/>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24.xml"/>
  <Override ContentType="application/vnd.openxmlformats-officedocument.presentationml.notesSlide+xml" PartName="/ppt/notesSlides/notesSlide17.xml"/>
  <Override ContentType="application/vnd.openxmlformats-officedocument.presentationml.notesSlide+xml" PartName="/ppt/notesSlides/notesSlide42.xml"/>
  <Override ContentType="application/vnd.openxmlformats-officedocument.presentationml.notesSlide+xml" PartName="/ppt/notesSlides/notesSlide16.xml"/>
  <Override ContentType="application/vnd.openxmlformats-officedocument.presentationml.notesSlide+xml" PartName="/ppt/notesSlides/notesSlide34.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43.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6.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44.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45.xml"/>
  <Override ContentType="application/vnd.openxmlformats-officedocument.presentationml.notesSlide+xml" PartName="/ppt/notesSlides/notesSlide46.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1.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47.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8.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48.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6.xml"/>
  <Override ContentType="application/vnd.openxmlformats-officedocument.presentationml.notesSlide+xml" PartName="/ppt/notesSlides/notesSlide49.xml"/>
  <Override ContentType="application/vnd.openxmlformats-officedocument.presentationml.notesSlide+xml" PartName="/ppt/notesSlides/notesSlide19.xml"/>
  <Override ContentType="application/vnd.openxmlformats-officedocument.presentationml.notesSlide+xml" PartName="/ppt/notesSlides/notesSlide40.xml"/>
  <Override ContentType="application/vnd.openxmlformats-officedocument.presentationml.notesSlide+xml" PartName="/ppt/notesSlides/notesSlide23.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11.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9.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7.xml"/>
  <Override ContentType="application/vnd.openxmlformats-officedocument.presentationml.slideLayout+xml" PartName="/ppt/slideLayouts/slideLayout14.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21.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43.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5.xml"/>
  <Override ContentType="application/vnd.openxmlformats-officedocument.presentationml.slide+xml" PartName="/ppt/slides/slide17.xml"/>
  <Override ContentType="application/vnd.openxmlformats-officedocument.presentationml.slide+xml" PartName="/ppt/slides/slide42.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33.xml"/>
  <Override ContentType="application/vnd.openxmlformats-officedocument.presentationml.slide+xml" PartName="/ppt/slides/slide16.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7.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36.xml"/>
  <Override ContentType="application/vnd.openxmlformats-officedocument.presentationml.slide+xml" PartName="/ppt/slides/slide23.xml"/>
  <Override ContentType="application/vnd.openxmlformats-officedocument.presentationml.slide+xml" PartName="/ppt/slides/slide49.xml"/>
  <Override ContentType="application/vnd.openxmlformats-officedocument.presentationml.slide+xml" PartName="/ppt/slides/slide10.xml"/>
  <Override ContentType="application/vnd.openxmlformats-officedocument.presentationml.slide+xml" PartName="/ppt/slides/slide6.xml"/>
  <Override ContentType="application/vnd.openxmlformats-officedocument.presentationml.slide+xml" PartName="/ppt/slides/slide40.xml"/>
  <Override ContentType="application/vnd.openxmlformats-officedocument.presentationml.slide+xml" PartName="/ppt/slides/slide4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9.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12.xml"/>
  <Override ContentType="application/vnd.openxmlformats-officedocument.presentationml.slide+xml" PartName="/ppt/slides/slide47.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32.xml"/>
  <Override ContentType="application/vnd.openxmlformats-officedocument.presentationml.slide+xml" PartName="/ppt/slides/slide1.xml"/>
  <Override ContentType="application/vnd.openxmlformats-officedocument.presentationml.slide+xml" PartName="/ppt/slides/slide45.xml"/>
  <Override ContentType="application/vnd.openxmlformats-officedocument.presentationml.slide+xml" PartName="/ppt/slides/slide28.xml"/>
  <Override ContentType="application/vnd.openxmlformats-officedocument.presentationml.slide+xml" PartName="/ppt/slides/slide15.xml"/>
  <Override ContentType="application/vnd.openxmlformats-officedocument.presentationml.slide+xml" PartName="/ppt/slides/slide31.xml"/>
  <Override ContentType="application/vnd.openxmlformats-officedocument.presentationml.slide+xml" PartName="/ppt/slides/slide27.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70" r:id="rId4"/>
    <p:sldMasterId id="2147483671"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Lst>
  <p:sldSz cy="6858000" cx="9144000"/>
  <p:notesSz cx="6858000" cy="9144000"/>
  <p:embeddedFontLst>
    <p:embeddedFont>
      <p:font typeface="Roboto"/>
      <p:regular r:id="rId56"/>
      <p:bold r:id="rId57"/>
      <p:italic r:id="rId58"/>
      <p:boldItalic r:id="rId59"/>
    </p:embeddedFont>
    <p:embeddedFont>
      <p:font typeface="Lato"/>
      <p:regular r:id="rId60"/>
      <p:bold r:id="rId61"/>
      <p:italic r:id="rId62"/>
      <p:boldItalic r:id="rId63"/>
    </p:embeddedFont>
    <p:embeddedFont>
      <p:font typeface="Inter"/>
      <p:regular r:id="rId64"/>
      <p:bold r:id="rId65"/>
      <p:italic r:id="rId66"/>
      <p:boldItalic r:id="rId67"/>
    </p:embeddedFont>
    <p:embeddedFont>
      <p:font typeface="Roboto Mono Light"/>
      <p:regular r:id="rId68"/>
      <p:bold r:id="rId69"/>
      <p:italic r:id="rId70"/>
      <p:boldItalic r:id="rId71"/>
    </p:embeddedFont>
    <p:embeddedFont>
      <p:font typeface="Lato Light"/>
      <p:regular r:id="rId72"/>
      <p:bold r:id="rId73"/>
      <p:italic r:id="rId74"/>
      <p:boldItalic r:id="rId75"/>
    </p:embeddedFont>
    <p:embeddedFont>
      <p:font typeface="Roboto Mono"/>
      <p:regular r:id="rId76"/>
      <p:bold r:id="rId77"/>
      <p:italic r:id="rId78"/>
      <p:boldItalic r:id="rId79"/>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viewPr>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42" Type="http://schemas.openxmlformats.org/officeDocument/2006/relationships/slide" Target="slides/slide36.xml"/><Relationship Id="rId41" Type="http://schemas.openxmlformats.org/officeDocument/2006/relationships/slide" Target="slides/slide35.xml"/><Relationship Id="rId44" Type="http://schemas.openxmlformats.org/officeDocument/2006/relationships/slide" Target="slides/slide38.xml"/><Relationship Id="rId43" Type="http://schemas.openxmlformats.org/officeDocument/2006/relationships/slide" Target="slides/slide37.xml"/><Relationship Id="rId46" Type="http://schemas.openxmlformats.org/officeDocument/2006/relationships/slide" Target="slides/slide40.xml"/><Relationship Id="rId45" Type="http://schemas.openxmlformats.org/officeDocument/2006/relationships/slide" Target="slides/slide39.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3.xml"/><Relationship Id="rId48" Type="http://schemas.openxmlformats.org/officeDocument/2006/relationships/slide" Target="slides/slide42.xml"/><Relationship Id="rId47" Type="http://schemas.openxmlformats.org/officeDocument/2006/relationships/slide" Target="slides/slide41.xml"/><Relationship Id="rId49" Type="http://schemas.openxmlformats.org/officeDocument/2006/relationships/slide" Target="slides/slide43.xml"/><Relationship Id="rId5" Type="http://schemas.openxmlformats.org/officeDocument/2006/relationships/slideMaster" Target="slideMasters/slideMaster2.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73" Type="http://schemas.openxmlformats.org/officeDocument/2006/relationships/font" Target="fonts/LatoLight-bold.fntdata"/><Relationship Id="rId72" Type="http://schemas.openxmlformats.org/officeDocument/2006/relationships/font" Target="fonts/LatoLight-regular.fntdata"/><Relationship Id="rId31" Type="http://schemas.openxmlformats.org/officeDocument/2006/relationships/slide" Target="slides/slide25.xml"/><Relationship Id="rId75" Type="http://schemas.openxmlformats.org/officeDocument/2006/relationships/font" Target="fonts/LatoLight-boldItalic.fntdata"/><Relationship Id="rId30" Type="http://schemas.openxmlformats.org/officeDocument/2006/relationships/slide" Target="slides/slide24.xml"/><Relationship Id="rId74" Type="http://schemas.openxmlformats.org/officeDocument/2006/relationships/font" Target="fonts/LatoLight-italic.fntdata"/><Relationship Id="rId33" Type="http://schemas.openxmlformats.org/officeDocument/2006/relationships/slide" Target="slides/slide27.xml"/><Relationship Id="rId77" Type="http://schemas.openxmlformats.org/officeDocument/2006/relationships/font" Target="fonts/RobotoMono-bold.fntdata"/><Relationship Id="rId32" Type="http://schemas.openxmlformats.org/officeDocument/2006/relationships/slide" Target="slides/slide26.xml"/><Relationship Id="rId76" Type="http://schemas.openxmlformats.org/officeDocument/2006/relationships/font" Target="fonts/RobotoMono-regular.fntdata"/><Relationship Id="rId35" Type="http://schemas.openxmlformats.org/officeDocument/2006/relationships/slide" Target="slides/slide29.xml"/><Relationship Id="rId79" Type="http://schemas.openxmlformats.org/officeDocument/2006/relationships/font" Target="fonts/RobotoMono-boldItalic.fntdata"/><Relationship Id="rId34" Type="http://schemas.openxmlformats.org/officeDocument/2006/relationships/slide" Target="slides/slide28.xml"/><Relationship Id="rId78" Type="http://schemas.openxmlformats.org/officeDocument/2006/relationships/font" Target="fonts/RobotoMono-italic.fntdata"/><Relationship Id="rId71" Type="http://schemas.openxmlformats.org/officeDocument/2006/relationships/font" Target="fonts/RobotoMonoLight-boldItalic.fntdata"/><Relationship Id="rId70" Type="http://schemas.openxmlformats.org/officeDocument/2006/relationships/font" Target="fonts/RobotoMonoLight-italic.fntdata"/><Relationship Id="rId37" Type="http://schemas.openxmlformats.org/officeDocument/2006/relationships/slide" Target="slides/slide31.xml"/><Relationship Id="rId36" Type="http://schemas.openxmlformats.org/officeDocument/2006/relationships/slide" Target="slides/slide30.xml"/><Relationship Id="rId39" Type="http://schemas.openxmlformats.org/officeDocument/2006/relationships/slide" Target="slides/slide33.xml"/><Relationship Id="rId38" Type="http://schemas.openxmlformats.org/officeDocument/2006/relationships/slide" Target="slides/slide32.xml"/><Relationship Id="rId62" Type="http://schemas.openxmlformats.org/officeDocument/2006/relationships/font" Target="fonts/Lato-italic.fntdata"/><Relationship Id="rId61" Type="http://schemas.openxmlformats.org/officeDocument/2006/relationships/font" Target="fonts/Lato-bold.fntdata"/><Relationship Id="rId20" Type="http://schemas.openxmlformats.org/officeDocument/2006/relationships/slide" Target="slides/slide14.xml"/><Relationship Id="rId64" Type="http://schemas.openxmlformats.org/officeDocument/2006/relationships/font" Target="fonts/Inter-regular.fntdata"/><Relationship Id="rId63" Type="http://schemas.openxmlformats.org/officeDocument/2006/relationships/font" Target="fonts/Lato-boldItalic.fntdata"/><Relationship Id="rId22" Type="http://schemas.openxmlformats.org/officeDocument/2006/relationships/slide" Target="slides/slide16.xml"/><Relationship Id="rId66" Type="http://schemas.openxmlformats.org/officeDocument/2006/relationships/font" Target="fonts/Inter-italic.fntdata"/><Relationship Id="rId21" Type="http://schemas.openxmlformats.org/officeDocument/2006/relationships/slide" Target="slides/slide15.xml"/><Relationship Id="rId65" Type="http://schemas.openxmlformats.org/officeDocument/2006/relationships/font" Target="fonts/Inter-bold.fntdata"/><Relationship Id="rId24" Type="http://schemas.openxmlformats.org/officeDocument/2006/relationships/slide" Target="slides/slide18.xml"/><Relationship Id="rId68" Type="http://schemas.openxmlformats.org/officeDocument/2006/relationships/font" Target="fonts/RobotoMonoLight-regular.fntdata"/><Relationship Id="rId23" Type="http://schemas.openxmlformats.org/officeDocument/2006/relationships/slide" Target="slides/slide17.xml"/><Relationship Id="rId67" Type="http://schemas.openxmlformats.org/officeDocument/2006/relationships/font" Target="fonts/Inter-boldItalic.fntdata"/><Relationship Id="rId60" Type="http://schemas.openxmlformats.org/officeDocument/2006/relationships/font" Target="fonts/Lato-regular.fntdata"/><Relationship Id="rId26" Type="http://schemas.openxmlformats.org/officeDocument/2006/relationships/slide" Target="slides/slide20.xml"/><Relationship Id="rId25" Type="http://schemas.openxmlformats.org/officeDocument/2006/relationships/slide" Target="slides/slide19.xml"/><Relationship Id="rId69" Type="http://schemas.openxmlformats.org/officeDocument/2006/relationships/font" Target="fonts/RobotoMonoLight-bold.fntdata"/><Relationship Id="rId28" Type="http://schemas.openxmlformats.org/officeDocument/2006/relationships/slide" Target="slides/slide22.xml"/><Relationship Id="rId27" Type="http://schemas.openxmlformats.org/officeDocument/2006/relationships/slide" Target="slides/slide21.xml"/><Relationship Id="rId29" Type="http://schemas.openxmlformats.org/officeDocument/2006/relationships/slide" Target="slides/slide23.xml"/><Relationship Id="rId51" Type="http://schemas.openxmlformats.org/officeDocument/2006/relationships/slide" Target="slides/slide45.xml"/><Relationship Id="rId50" Type="http://schemas.openxmlformats.org/officeDocument/2006/relationships/slide" Target="slides/slide44.xml"/><Relationship Id="rId53" Type="http://schemas.openxmlformats.org/officeDocument/2006/relationships/slide" Target="slides/slide47.xml"/><Relationship Id="rId52" Type="http://schemas.openxmlformats.org/officeDocument/2006/relationships/slide" Target="slides/slide46.xml"/><Relationship Id="rId11" Type="http://schemas.openxmlformats.org/officeDocument/2006/relationships/slide" Target="slides/slide5.xml"/><Relationship Id="rId55" Type="http://schemas.openxmlformats.org/officeDocument/2006/relationships/slide" Target="slides/slide49.xml"/><Relationship Id="rId10" Type="http://schemas.openxmlformats.org/officeDocument/2006/relationships/slide" Target="slides/slide4.xml"/><Relationship Id="rId54" Type="http://schemas.openxmlformats.org/officeDocument/2006/relationships/slide" Target="slides/slide48.xml"/><Relationship Id="rId13" Type="http://schemas.openxmlformats.org/officeDocument/2006/relationships/slide" Target="slides/slide7.xml"/><Relationship Id="rId57" Type="http://schemas.openxmlformats.org/officeDocument/2006/relationships/font" Target="fonts/Roboto-bold.fntdata"/><Relationship Id="rId12" Type="http://schemas.openxmlformats.org/officeDocument/2006/relationships/slide" Target="slides/slide6.xml"/><Relationship Id="rId56" Type="http://schemas.openxmlformats.org/officeDocument/2006/relationships/font" Target="fonts/Roboto-regular.fntdata"/><Relationship Id="rId15" Type="http://schemas.openxmlformats.org/officeDocument/2006/relationships/slide" Target="slides/slide9.xml"/><Relationship Id="rId59" Type="http://schemas.openxmlformats.org/officeDocument/2006/relationships/font" Target="fonts/Roboto-boldItalic.fntdata"/><Relationship Id="rId14" Type="http://schemas.openxmlformats.org/officeDocument/2006/relationships/slide" Target="slides/slide8.xml"/><Relationship Id="rId58" Type="http://schemas.openxmlformats.org/officeDocument/2006/relationships/font" Target="fonts/Roboto-italic.fntdata"/><Relationship Id="rId17" Type="http://schemas.openxmlformats.org/officeDocument/2006/relationships/slide" Target="slides/slide11.xml"/><Relationship Id="rId16" Type="http://schemas.openxmlformats.org/officeDocument/2006/relationships/slide" Target="slides/slide10.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309"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8" name="Shape 178"/>
        <p:cNvGrpSpPr/>
        <p:nvPr/>
      </p:nvGrpSpPr>
      <p:grpSpPr>
        <a:xfrm>
          <a:off x="0" y="0"/>
          <a:ext cx="0" cy="0"/>
          <a:chOff x="0" y="0"/>
          <a:chExt cx="0" cy="0"/>
        </a:xfrm>
      </p:grpSpPr>
      <p:sp>
        <p:nvSpPr>
          <p:cNvPr id="179" name="Google Shape;179;g21b8ded45e9_1_0:notes"/>
          <p:cNvSpPr/>
          <p:nvPr>
            <p:ph idx="2" type="sldImg"/>
          </p:nvPr>
        </p:nvSpPr>
        <p:spPr>
          <a:xfrm>
            <a:off x="1143309"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180" name="Google Shape;180;g21b8ded45e9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5" name="Shape 185"/>
        <p:cNvGrpSpPr/>
        <p:nvPr/>
      </p:nvGrpSpPr>
      <p:grpSpPr>
        <a:xfrm>
          <a:off x="0" y="0"/>
          <a:ext cx="0" cy="0"/>
          <a:chOff x="0" y="0"/>
          <a:chExt cx="0" cy="0"/>
        </a:xfrm>
      </p:grpSpPr>
      <p:sp>
        <p:nvSpPr>
          <p:cNvPr id="186" name="Google Shape;186;g3cf2b808fdf_0_18:notes"/>
          <p:cNvSpPr/>
          <p:nvPr>
            <p:ph idx="2" type="sldImg"/>
          </p:nvPr>
        </p:nvSpPr>
        <p:spPr>
          <a:xfrm>
            <a:off x="1143300"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187" name="Google Shape;187;g3cf2b808fdf_0_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1400">
                <a:latin typeface="Roboto Mono"/>
                <a:ea typeface="Roboto Mono"/>
                <a:cs typeface="Roboto Mono"/>
                <a:sym typeface="Roboto Mono"/>
              </a:rPr>
              <a:t>Have you ever attended a community board meeting?</a:t>
            </a:r>
            <a:endParaRPr sz="1400">
              <a:latin typeface="Roboto Mono"/>
              <a:ea typeface="Roboto Mono"/>
              <a:cs typeface="Roboto Mono"/>
              <a:sym typeface="Roboto Mono"/>
            </a:endParaRPr>
          </a:p>
          <a:p>
            <a:pPr indent="0" lvl="0" marL="0" rtl="0" algn="l">
              <a:spcBef>
                <a:spcPts val="0"/>
              </a:spcBef>
              <a:spcAft>
                <a:spcPts val="0"/>
              </a:spcAft>
              <a:buNone/>
            </a:pPr>
            <a:r>
              <a:t/>
            </a:r>
            <a:endParaRPr sz="1400">
              <a:latin typeface="Roboto Mono"/>
              <a:ea typeface="Roboto Mono"/>
              <a:cs typeface="Roboto Mono"/>
              <a:sym typeface="Roboto Mono"/>
            </a:endParaRPr>
          </a:p>
          <a:p>
            <a:pPr indent="0" lvl="0" marL="0" rtl="0" algn="l">
              <a:spcBef>
                <a:spcPts val="0"/>
              </a:spcBef>
              <a:spcAft>
                <a:spcPts val="0"/>
              </a:spcAft>
              <a:buNone/>
            </a:pPr>
            <a:r>
              <a:rPr lang="en" sz="1400">
                <a:latin typeface="Roboto Mono"/>
                <a:ea typeface="Roboto Mono"/>
                <a:cs typeface="Roboto Mono"/>
                <a:sym typeface="Roboto Mono"/>
              </a:rPr>
              <a:t>I see some nods in the virtual crowd, it looks like some of us have attended, but maybe not as much as we would like. </a:t>
            </a:r>
            <a:endParaRPr sz="1400">
              <a:latin typeface="Roboto Mono"/>
              <a:ea typeface="Roboto Mono"/>
              <a:cs typeface="Roboto Mono"/>
              <a:sym typeface="Roboto Mono"/>
            </a:endParaRPr>
          </a:p>
          <a:p>
            <a:pPr indent="0" lvl="0" marL="0" rtl="0" algn="l">
              <a:spcBef>
                <a:spcPts val="0"/>
              </a:spcBef>
              <a:spcAft>
                <a:spcPts val="0"/>
              </a:spcAft>
              <a:buNone/>
            </a:pPr>
            <a:r>
              <a:t/>
            </a:r>
            <a:endParaRPr sz="1400">
              <a:latin typeface="Roboto Mono"/>
              <a:ea typeface="Roboto Mono"/>
              <a:cs typeface="Roboto Mono"/>
              <a:sym typeface="Roboto Mono"/>
            </a:endParaRPr>
          </a:p>
          <a:p>
            <a:pPr indent="0" lvl="0" marL="0" rtl="0" algn="l">
              <a:spcBef>
                <a:spcPts val="0"/>
              </a:spcBef>
              <a:spcAft>
                <a:spcPts val="0"/>
              </a:spcAft>
              <a:buNone/>
            </a:pPr>
            <a:r>
              <a:rPr lang="en" sz="1400">
                <a:latin typeface="Roboto Mono"/>
                <a:ea typeface="Roboto Mono"/>
                <a:cs typeface="Roboto Mono"/>
                <a:sym typeface="Roboto Mono"/>
              </a:rPr>
              <a:t>while some of us have attended these meetings, why are they important?</a:t>
            </a:r>
            <a:endParaRPr sz="1400">
              <a:latin typeface="Roboto Mono"/>
              <a:ea typeface="Roboto Mono"/>
              <a:cs typeface="Roboto Mono"/>
              <a:sym typeface="Roboto Mono"/>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3" name="Shape 193"/>
        <p:cNvGrpSpPr/>
        <p:nvPr/>
      </p:nvGrpSpPr>
      <p:grpSpPr>
        <a:xfrm>
          <a:off x="0" y="0"/>
          <a:ext cx="0" cy="0"/>
          <a:chOff x="0" y="0"/>
          <a:chExt cx="0" cy="0"/>
        </a:xfrm>
      </p:grpSpPr>
      <p:sp>
        <p:nvSpPr>
          <p:cNvPr id="194" name="Google Shape;194;g39632e5ac8b_0_187:notes"/>
          <p:cNvSpPr/>
          <p:nvPr>
            <p:ph idx="2" type="sldImg"/>
          </p:nvPr>
        </p:nvSpPr>
        <p:spPr>
          <a:xfrm>
            <a:off x="1143300"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195" name="Google Shape;195;g39632e5ac8b_0_1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1400">
                <a:latin typeface="Roboto Mono"/>
                <a:ea typeface="Roboto Mono"/>
                <a:cs typeface="Roboto Mono"/>
                <a:sym typeface="Roboto Mono"/>
              </a:rPr>
              <a:t>Community boards discuss policies, initiatives, priorities which impact our day to day lives.</a:t>
            </a:r>
            <a:endParaRPr sz="1400">
              <a:latin typeface="Roboto Mono"/>
              <a:ea typeface="Roboto Mono"/>
              <a:cs typeface="Roboto Mono"/>
              <a:sym typeface="Roboto Mono"/>
            </a:endParaRPr>
          </a:p>
          <a:p>
            <a:pPr indent="0" lvl="0" marL="0" rtl="0" algn="l">
              <a:spcBef>
                <a:spcPts val="0"/>
              </a:spcBef>
              <a:spcAft>
                <a:spcPts val="0"/>
              </a:spcAft>
              <a:buNone/>
            </a:pPr>
            <a:r>
              <a:t/>
            </a:r>
            <a:endParaRPr sz="1400">
              <a:latin typeface="Roboto Mono"/>
              <a:ea typeface="Roboto Mono"/>
              <a:cs typeface="Roboto Mono"/>
              <a:sym typeface="Roboto Mono"/>
            </a:endParaRPr>
          </a:p>
          <a:p>
            <a:pPr indent="0" lvl="0" marL="0" rtl="0" algn="l">
              <a:spcBef>
                <a:spcPts val="0"/>
              </a:spcBef>
              <a:spcAft>
                <a:spcPts val="0"/>
              </a:spcAft>
              <a:buNone/>
            </a:pPr>
            <a:r>
              <a:rPr lang="en" sz="1400">
                <a:latin typeface="Roboto Mono"/>
                <a:ea typeface="Roboto Mono"/>
                <a:cs typeface="Roboto Mono"/>
                <a:sym typeface="Roboto Mono"/>
              </a:rPr>
              <a:t>They act as the community’s voice when brokering conversations with state and local governments, non profit agencies and other organizations.</a:t>
            </a:r>
            <a:endParaRPr sz="1400">
              <a:latin typeface="Roboto Mono"/>
              <a:ea typeface="Roboto Mono"/>
              <a:cs typeface="Roboto Mono"/>
              <a:sym typeface="Roboto Mono"/>
            </a:endParaRPr>
          </a:p>
          <a:p>
            <a:pPr indent="0" lvl="0" marL="0" rtl="0" algn="l">
              <a:spcBef>
                <a:spcPts val="0"/>
              </a:spcBef>
              <a:spcAft>
                <a:spcPts val="0"/>
              </a:spcAft>
              <a:buNone/>
            </a:pPr>
            <a:r>
              <a:t/>
            </a:r>
            <a:endParaRPr sz="1400">
              <a:latin typeface="Roboto Mono"/>
              <a:ea typeface="Roboto Mono"/>
              <a:cs typeface="Roboto Mono"/>
              <a:sym typeface="Roboto Mono"/>
            </a:endParaRPr>
          </a:p>
          <a:p>
            <a:pPr indent="0" lvl="0" marL="0" rtl="0" algn="l">
              <a:lnSpc>
                <a:spcPct val="115000"/>
              </a:lnSpc>
              <a:spcBef>
                <a:spcPts val="0"/>
              </a:spcBef>
              <a:spcAft>
                <a:spcPts val="0"/>
              </a:spcAft>
              <a:buNone/>
            </a:pPr>
            <a:r>
              <a:rPr lang="en" sz="1050">
                <a:solidFill>
                  <a:srgbClr val="1F1F1F"/>
                </a:solidFill>
                <a:latin typeface="Inter"/>
                <a:ea typeface="Inter"/>
                <a:cs typeface="Inter"/>
                <a:sym typeface="Inter"/>
              </a:rPr>
              <a:t>In a nutshell, they are the most local level of democracy, and making them more accessible strengthens the representation of the community. </a:t>
            </a:r>
            <a:endParaRPr sz="1400">
              <a:latin typeface="Roboto Mono"/>
              <a:ea typeface="Roboto Mono"/>
              <a:cs typeface="Roboto Mono"/>
              <a:sym typeface="Roboto Mono"/>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g39632e5ac8b_0_240:notes"/>
          <p:cNvSpPr/>
          <p:nvPr>
            <p:ph idx="2" type="sldImg"/>
          </p:nvPr>
        </p:nvSpPr>
        <p:spPr>
          <a:xfrm>
            <a:off x="1143300"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205" name="Google Shape;205;g39632e5ac8b_0_2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1700">
                <a:latin typeface="Roboto Mono"/>
                <a:ea typeface="Roboto Mono"/>
                <a:cs typeface="Roboto Mono"/>
                <a:sym typeface="Roboto Mono"/>
              </a:rPr>
              <a:t>It can be said that democracy is not a spectator sport, and to become engaged in democracy we must be informed.</a:t>
            </a:r>
            <a:endParaRPr sz="1700">
              <a:latin typeface="Roboto Mono"/>
              <a:ea typeface="Roboto Mono"/>
              <a:cs typeface="Roboto Mono"/>
              <a:sym typeface="Roboto Mono"/>
            </a:endParaRPr>
          </a:p>
          <a:p>
            <a:pPr indent="0" lvl="0" marL="0" rtl="0" algn="l">
              <a:spcBef>
                <a:spcPts val="0"/>
              </a:spcBef>
              <a:spcAft>
                <a:spcPts val="0"/>
              </a:spcAft>
              <a:buNone/>
            </a:pPr>
            <a:r>
              <a:rPr lang="en" sz="1700">
                <a:latin typeface="Roboto Mono"/>
                <a:ea typeface="Roboto Mono"/>
                <a:cs typeface="Roboto Mono"/>
                <a:sym typeface="Roboto Mono"/>
              </a:rPr>
              <a:t>Encourage people to actually attend community board meetings, being informed can help be engaged - to know what is being discussed in the meetings, to speak up as a public member, or even to vote as a public member</a:t>
            </a:r>
            <a:endParaRPr sz="1700">
              <a:latin typeface="Roboto Mono"/>
              <a:ea typeface="Roboto Mono"/>
              <a:cs typeface="Roboto Mono"/>
              <a:sym typeface="Roboto Mono"/>
            </a:endParaRPr>
          </a:p>
          <a:p>
            <a:pPr indent="0" lvl="0" marL="0" rtl="0" algn="l">
              <a:spcBef>
                <a:spcPts val="0"/>
              </a:spcBef>
              <a:spcAft>
                <a:spcPts val="0"/>
              </a:spcAft>
              <a:buNone/>
            </a:pPr>
            <a:r>
              <a:rPr lang="en" sz="1700">
                <a:latin typeface="Roboto Mono"/>
                <a:ea typeface="Roboto Mono"/>
                <a:cs typeface="Roboto Mono"/>
                <a:sym typeface="Roboto Mono"/>
              </a:rPr>
              <a:t>Technology can help with this process of being informed</a:t>
            </a:r>
            <a:endParaRPr sz="1700">
              <a:latin typeface="Roboto Mono"/>
              <a:ea typeface="Roboto Mono"/>
              <a:cs typeface="Roboto Mono"/>
              <a:sym typeface="Roboto Mono"/>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1" name="Shape 211"/>
        <p:cNvGrpSpPr/>
        <p:nvPr/>
      </p:nvGrpSpPr>
      <p:grpSpPr>
        <a:xfrm>
          <a:off x="0" y="0"/>
          <a:ext cx="0" cy="0"/>
          <a:chOff x="0" y="0"/>
          <a:chExt cx="0" cy="0"/>
        </a:xfrm>
      </p:grpSpPr>
      <p:sp>
        <p:nvSpPr>
          <p:cNvPr id="212" name="Google Shape;212;g39632e5ac8b_0_19:notes"/>
          <p:cNvSpPr/>
          <p:nvPr>
            <p:ph idx="2" type="sldImg"/>
          </p:nvPr>
        </p:nvSpPr>
        <p:spPr>
          <a:xfrm>
            <a:off x="1143300"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213" name="Google Shape;213;g39632e5ac8b_0_1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1400">
                <a:latin typeface="Roboto Mono"/>
                <a:ea typeface="Roboto Mono"/>
                <a:cs typeface="Roboto Mono"/>
                <a:sym typeface="Roboto Mono"/>
              </a:rPr>
              <a:t>Oliver - on NYC OTI</a:t>
            </a:r>
            <a:endParaRPr sz="1400">
              <a:latin typeface="Roboto Mono"/>
              <a:ea typeface="Roboto Mono"/>
              <a:cs typeface="Roboto Mono"/>
              <a:sym typeface="Roboto Mono"/>
            </a:endParaRPr>
          </a:p>
          <a:p>
            <a:pPr indent="0" lvl="0" marL="0" rtl="0" algn="l">
              <a:spcBef>
                <a:spcPts val="0"/>
              </a:spcBef>
              <a:spcAft>
                <a:spcPts val="0"/>
              </a:spcAft>
              <a:buNone/>
            </a:pPr>
            <a:r>
              <a:t/>
            </a:r>
            <a:endParaRPr sz="1400">
              <a:latin typeface="Roboto Mono"/>
              <a:ea typeface="Roboto Mono"/>
              <a:cs typeface="Roboto Mono"/>
              <a:sym typeface="Roboto Mono"/>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5" name="Shape 225"/>
        <p:cNvGrpSpPr/>
        <p:nvPr/>
      </p:nvGrpSpPr>
      <p:grpSpPr>
        <a:xfrm>
          <a:off x="0" y="0"/>
          <a:ext cx="0" cy="0"/>
          <a:chOff x="0" y="0"/>
          <a:chExt cx="0" cy="0"/>
        </a:xfrm>
      </p:grpSpPr>
      <p:sp>
        <p:nvSpPr>
          <p:cNvPr id="226" name="Google Shape;226;g39632e5ac8b_0_175:notes"/>
          <p:cNvSpPr/>
          <p:nvPr>
            <p:ph idx="2" type="sldImg"/>
          </p:nvPr>
        </p:nvSpPr>
        <p:spPr>
          <a:xfrm>
            <a:off x="1143309"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227" name="Google Shape;227;g39632e5ac8b_0_17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4" name="Shape 234"/>
        <p:cNvGrpSpPr/>
        <p:nvPr/>
      </p:nvGrpSpPr>
      <p:grpSpPr>
        <a:xfrm>
          <a:off x="0" y="0"/>
          <a:ext cx="0" cy="0"/>
          <a:chOff x="0" y="0"/>
          <a:chExt cx="0" cy="0"/>
        </a:xfrm>
      </p:grpSpPr>
      <p:sp>
        <p:nvSpPr>
          <p:cNvPr id="235" name="Google Shape;235;g3ce2ab87c40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36" name="Google Shape;236;g3ce2ab87c40_0_1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1" name="Shape 241"/>
        <p:cNvGrpSpPr/>
        <p:nvPr/>
      </p:nvGrpSpPr>
      <p:grpSpPr>
        <a:xfrm>
          <a:off x="0" y="0"/>
          <a:ext cx="0" cy="0"/>
          <a:chOff x="0" y="0"/>
          <a:chExt cx="0" cy="0"/>
        </a:xfrm>
      </p:grpSpPr>
      <p:sp>
        <p:nvSpPr>
          <p:cNvPr id="242" name="Google Shape;242;g3ce2ab87c40_0_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43" name="Google Shape;243;g3ce2ab87c40_0_18: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5" name="Shape 255"/>
        <p:cNvGrpSpPr/>
        <p:nvPr/>
      </p:nvGrpSpPr>
      <p:grpSpPr>
        <a:xfrm>
          <a:off x="0" y="0"/>
          <a:ext cx="0" cy="0"/>
          <a:chOff x="0" y="0"/>
          <a:chExt cx="0" cy="0"/>
        </a:xfrm>
      </p:grpSpPr>
      <p:sp>
        <p:nvSpPr>
          <p:cNvPr id="256" name="Google Shape;256;g3ce2ab87c40_0_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57" name="Google Shape;257;g3ce2ab87c40_0_78: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7" name="Shape 277"/>
        <p:cNvGrpSpPr/>
        <p:nvPr/>
      </p:nvGrpSpPr>
      <p:grpSpPr>
        <a:xfrm>
          <a:off x="0" y="0"/>
          <a:ext cx="0" cy="0"/>
          <a:chOff x="0" y="0"/>
          <a:chExt cx="0" cy="0"/>
        </a:xfrm>
      </p:grpSpPr>
      <p:sp>
        <p:nvSpPr>
          <p:cNvPr id="278" name="Google Shape;278;g3cf2b808fdf_0_0:notes"/>
          <p:cNvSpPr/>
          <p:nvPr>
            <p:ph idx="2" type="sldImg"/>
          </p:nvPr>
        </p:nvSpPr>
        <p:spPr>
          <a:xfrm>
            <a:off x="1143309"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279" name="Google Shape;279;g3cf2b808fdf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3" name="Shape 283"/>
        <p:cNvGrpSpPr/>
        <p:nvPr/>
      </p:nvGrpSpPr>
      <p:grpSpPr>
        <a:xfrm>
          <a:off x="0" y="0"/>
          <a:ext cx="0" cy="0"/>
          <a:chOff x="0" y="0"/>
          <a:chExt cx="0" cy="0"/>
        </a:xfrm>
      </p:grpSpPr>
      <p:sp>
        <p:nvSpPr>
          <p:cNvPr id="284" name="Google Shape;284;g3ce2ab87c40_0_3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85" name="Google Shape;285;g3ce2ab87c40_0_32: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3ce2ab87c40_0_6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marR="203200" rtl="0" algn="l">
              <a:lnSpc>
                <a:spcPct val="142857"/>
              </a:lnSpc>
              <a:spcBef>
                <a:spcPts val="0"/>
              </a:spcBef>
              <a:spcAft>
                <a:spcPts val="0"/>
              </a:spcAft>
              <a:buNone/>
            </a:pPr>
            <a:r>
              <a:rPr lang="en" sz="1050">
                <a:solidFill>
                  <a:srgbClr val="444746"/>
                </a:solidFill>
                <a:latin typeface="Roboto"/>
                <a:ea typeface="Roboto"/>
                <a:cs typeface="Roboto"/>
                <a:sym typeface="Roboto"/>
              </a:rPr>
              <a:t>tee up the tool here - but they're not accessible...</a:t>
            </a:r>
            <a:endParaRPr/>
          </a:p>
        </p:txBody>
      </p:sp>
      <p:sp>
        <p:nvSpPr>
          <p:cNvPr id="296" name="Google Shape;296;g3ce2ab87c40_0_62: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cf2b808fdf_0_12:notes"/>
          <p:cNvSpPr/>
          <p:nvPr>
            <p:ph idx="2" type="sldImg"/>
          </p:nvPr>
        </p:nvSpPr>
        <p:spPr>
          <a:xfrm>
            <a:off x="1143309"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cf2b808fdf_0_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2" name="Shape 312"/>
        <p:cNvGrpSpPr/>
        <p:nvPr/>
      </p:nvGrpSpPr>
      <p:grpSpPr>
        <a:xfrm>
          <a:off x="0" y="0"/>
          <a:ext cx="0" cy="0"/>
          <a:chOff x="0" y="0"/>
          <a:chExt cx="0" cy="0"/>
        </a:xfrm>
      </p:grpSpPr>
      <p:sp>
        <p:nvSpPr>
          <p:cNvPr id="313" name="Google Shape;313;g3ce2ab87c40_0_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14" name="Google Shape;314;g3ce2ab87c40_0_43: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ce2ab87c40_0_10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33" name="Google Shape;333;g3ce2ab87c40_0_10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6" name="Shape 346"/>
        <p:cNvGrpSpPr/>
        <p:nvPr/>
      </p:nvGrpSpPr>
      <p:grpSpPr>
        <a:xfrm>
          <a:off x="0" y="0"/>
          <a:ext cx="0" cy="0"/>
          <a:chOff x="0" y="0"/>
          <a:chExt cx="0" cy="0"/>
        </a:xfrm>
      </p:grpSpPr>
      <p:sp>
        <p:nvSpPr>
          <p:cNvPr id="347" name="Google Shape;347;g3cf2b808fdf_0_69:notes"/>
          <p:cNvSpPr/>
          <p:nvPr>
            <p:ph idx="2" type="sldImg"/>
          </p:nvPr>
        </p:nvSpPr>
        <p:spPr>
          <a:xfrm>
            <a:off x="1143309"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348" name="Google Shape;348;g3cf2b808fdf_0_6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ce2ab87c40_0_1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Now transitioning into the civic tech part of our presentation, where we will share how we leveraged technology to help make this information more accessible.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59" name="Google Shape;359;g3ce2ab87c40_0_14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4" name="Shape 364"/>
        <p:cNvGrpSpPr/>
        <p:nvPr/>
      </p:nvGrpSpPr>
      <p:grpSpPr>
        <a:xfrm>
          <a:off x="0" y="0"/>
          <a:ext cx="0" cy="0"/>
          <a:chOff x="0" y="0"/>
          <a:chExt cx="0" cy="0"/>
        </a:xfrm>
      </p:grpSpPr>
      <p:sp>
        <p:nvSpPr>
          <p:cNvPr id="365" name="Google Shape;365;g3d1f982a191_0_4:notes"/>
          <p:cNvSpPr/>
          <p:nvPr>
            <p:ph idx="2" type="sldImg"/>
          </p:nvPr>
        </p:nvSpPr>
        <p:spPr>
          <a:xfrm>
            <a:off x="1143300"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366" name="Google Shape;366;g3d1f982a191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400">
                <a:latin typeface="Roboto Mono"/>
                <a:ea typeface="Roboto Mono"/>
                <a:cs typeface="Roboto Mono"/>
                <a:sym typeface="Roboto Mono"/>
              </a:rPr>
              <a:t>As Tal has eluded to, community board meetings can be inaccessible, whether it is attending a meeting or staying informed on local policy decisions. This was always the idea behind block party, when community board meetings became </a:t>
            </a:r>
            <a:r>
              <a:rPr lang="en" sz="1400">
                <a:latin typeface="Roboto Mono"/>
                <a:ea typeface="Roboto Mono"/>
                <a:cs typeface="Roboto Mono"/>
                <a:sym typeface="Roboto Mono"/>
              </a:rPr>
              <a:t>virtually</a:t>
            </a:r>
            <a:r>
              <a:rPr lang="en" sz="1400">
                <a:latin typeface="Roboto Mono"/>
                <a:ea typeface="Roboto Mono"/>
                <a:cs typeface="Roboto Mono"/>
                <a:sym typeface="Roboto Mono"/>
              </a:rPr>
              <a:t> accessible on YouTube </a:t>
            </a:r>
            <a:r>
              <a:rPr lang="en" sz="1400">
                <a:latin typeface="Roboto Mono"/>
                <a:ea typeface="Roboto Mono"/>
                <a:cs typeface="Roboto Mono"/>
                <a:sym typeface="Roboto Mono"/>
              </a:rPr>
              <a:t>during</a:t>
            </a:r>
            <a:r>
              <a:rPr lang="en" sz="1400">
                <a:latin typeface="Roboto Mono"/>
                <a:ea typeface="Roboto Mono"/>
                <a:cs typeface="Roboto Mono"/>
                <a:sym typeface="Roboto Mono"/>
              </a:rPr>
              <a:t> the Covid pandemic, I thought it would be cool to use technology to create a summary and full transcript from the meeting conversation. </a:t>
            </a:r>
            <a:endParaRPr sz="1400">
              <a:latin typeface="Roboto Mono"/>
              <a:ea typeface="Roboto Mono"/>
              <a:cs typeface="Roboto Mono"/>
              <a:sym typeface="Roboto Mono"/>
            </a:endParaRPr>
          </a:p>
          <a:p>
            <a:pPr indent="0" lvl="0" marL="0" rtl="0" algn="l">
              <a:lnSpc>
                <a:spcPct val="115000"/>
              </a:lnSpc>
              <a:spcBef>
                <a:spcPts val="0"/>
              </a:spcBef>
              <a:spcAft>
                <a:spcPts val="0"/>
              </a:spcAft>
              <a:buNone/>
            </a:pPr>
            <a:r>
              <a:t/>
            </a:r>
            <a:endParaRPr sz="1400">
              <a:latin typeface="Roboto Mono"/>
              <a:ea typeface="Roboto Mono"/>
              <a:cs typeface="Roboto Mono"/>
              <a:sym typeface="Roboto Mono"/>
            </a:endParaRPr>
          </a:p>
          <a:p>
            <a:pPr indent="0" lvl="0" marL="0" rtl="0" algn="l">
              <a:lnSpc>
                <a:spcPct val="115000"/>
              </a:lnSpc>
              <a:spcBef>
                <a:spcPts val="0"/>
              </a:spcBef>
              <a:spcAft>
                <a:spcPts val="0"/>
              </a:spcAft>
              <a:buNone/>
            </a:pPr>
            <a:r>
              <a:rPr lang="en" sz="1400">
                <a:latin typeface="Roboto Mono"/>
                <a:ea typeface="Roboto Mono"/>
                <a:cs typeface="Roboto Mono"/>
                <a:sym typeface="Roboto Mono"/>
              </a:rPr>
              <a:t>Block party has continued to evolve over the years and continues to serve the community because most folks don’t have the time to attend the many hours of meeting conversations </a:t>
            </a:r>
            <a:endParaRPr sz="1400">
              <a:latin typeface="Roboto Mono"/>
              <a:ea typeface="Roboto Mono"/>
              <a:cs typeface="Roboto Mono"/>
              <a:sym typeface="Roboto Mono"/>
            </a:endParaRPr>
          </a:p>
          <a:p>
            <a:pPr indent="0" lvl="0" marL="0" rtl="0" algn="l">
              <a:lnSpc>
                <a:spcPct val="115000"/>
              </a:lnSpc>
              <a:spcBef>
                <a:spcPts val="0"/>
              </a:spcBef>
              <a:spcAft>
                <a:spcPts val="0"/>
              </a:spcAft>
              <a:buNone/>
            </a:pPr>
            <a:r>
              <a:rPr lang="en" sz="1400">
                <a:latin typeface="Roboto Mono"/>
                <a:ea typeface="Roboto Mono"/>
                <a:cs typeface="Roboto Mono"/>
                <a:sym typeface="Roboto Mono"/>
              </a:rPr>
              <a:t>or know what was discussed.</a:t>
            </a:r>
            <a:endParaRPr sz="1400">
              <a:latin typeface="Roboto Mono"/>
              <a:ea typeface="Roboto Mono"/>
              <a:cs typeface="Roboto Mono"/>
              <a:sym typeface="Roboto Mono"/>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1" name="Shape 371"/>
        <p:cNvGrpSpPr/>
        <p:nvPr/>
      </p:nvGrpSpPr>
      <p:grpSpPr>
        <a:xfrm>
          <a:off x="0" y="0"/>
          <a:ext cx="0" cy="0"/>
          <a:chOff x="0" y="0"/>
          <a:chExt cx="0" cy="0"/>
        </a:xfrm>
      </p:grpSpPr>
      <p:sp>
        <p:nvSpPr>
          <p:cNvPr id="372" name="Google Shape;372;g3d1f982a191_0_55:notes"/>
          <p:cNvSpPr/>
          <p:nvPr>
            <p:ph idx="2" type="sldImg"/>
          </p:nvPr>
        </p:nvSpPr>
        <p:spPr>
          <a:xfrm>
            <a:off x="1143300"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373" name="Google Shape;373;g3d1f982a191_0_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sz="1400">
                <a:solidFill>
                  <a:srgbClr val="1D1C1D"/>
                </a:solidFill>
                <a:highlight>
                  <a:schemeClr val="lt1"/>
                </a:highlight>
                <a:latin typeface="Roboto Mono"/>
                <a:ea typeface="Roboto Mono"/>
                <a:cs typeface="Roboto Mono"/>
                <a:sym typeface="Roboto Mono"/>
              </a:rPr>
              <a:t>For community board 3 the typical meeting lasts about 2 hours and occur a few times per week. </a:t>
            </a:r>
            <a:endParaRPr sz="1400">
              <a:solidFill>
                <a:srgbClr val="1D1C1D"/>
              </a:solidFill>
              <a:highlight>
                <a:schemeClr val="lt1"/>
              </a:highlight>
              <a:latin typeface="Roboto Mono"/>
              <a:ea typeface="Roboto Mono"/>
              <a:cs typeface="Roboto Mono"/>
              <a:sym typeface="Roboto Mono"/>
            </a:endParaRPr>
          </a:p>
          <a:p>
            <a:pPr indent="0" lvl="0" marL="0" rtl="0" algn="l">
              <a:lnSpc>
                <a:spcPct val="115000"/>
              </a:lnSpc>
              <a:spcBef>
                <a:spcPts val="0"/>
              </a:spcBef>
              <a:spcAft>
                <a:spcPts val="0"/>
              </a:spcAft>
              <a:buClr>
                <a:schemeClr val="dk1"/>
              </a:buClr>
              <a:buSzPts val="1100"/>
              <a:buFont typeface="Arial"/>
              <a:buNone/>
            </a:pPr>
            <a:r>
              <a:t/>
            </a:r>
            <a:endParaRPr sz="1400">
              <a:solidFill>
                <a:srgbClr val="1D1C1D"/>
              </a:solidFill>
              <a:highlight>
                <a:schemeClr val="lt1"/>
              </a:highlight>
              <a:latin typeface="Roboto Mono"/>
              <a:ea typeface="Roboto Mono"/>
              <a:cs typeface="Roboto Mono"/>
              <a:sym typeface="Roboto Mono"/>
            </a:endParaRPr>
          </a:p>
          <a:p>
            <a:pPr indent="0" lvl="0" marL="0" rtl="0" algn="l">
              <a:lnSpc>
                <a:spcPct val="115000"/>
              </a:lnSpc>
              <a:spcBef>
                <a:spcPts val="0"/>
              </a:spcBef>
              <a:spcAft>
                <a:spcPts val="0"/>
              </a:spcAft>
              <a:buClr>
                <a:schemeClr val="dk1"/>
              </a:buClr>
              <a:buSzPts val="1100"/>
              <a:buFont typeface="Arial"/>
              <a:buNone/>
            </a:pPr>
            <a:r>
              <a:rPr lang="en" sz="1400">
                <a:solidFill>
                  <a:srgbClr val="1D1C1D"/>
                </a:solidFill>
                <a:highlight>
                  <a:schemeClr val="lt1"/>
                </a:highlight>
                <a:latin typeface="Roboto Mono"/>
                <a:ea typeface="Roboto Mono"/>
                <a:cs typeface="Roboto Mono"/>
                <a:sym typeface="Roboto Mono"/>
              </a:rPr>
              <a:t>Across community boards in the block party meeting transcript archive, </a:t>
            </a:r>
            <a:endParaRPr sz="1400">
              <a:solidFill>
                <a:srgbClr val="1D1C1D"/>
              </a:solidFill>
              <a:highlight>
                <a:schemeClr val="lt1"/>
              </a:highlight>
              <a:latin typeface="Roboto Mono"/>
              <a:ea typeface="Roboto Mono"/>
              <a:cs typeface="Roboto Mono"/>
              <a:sym typeface="Roboto Mono"/>
            </a:endParaRPr>
          </a:p>
          <a:p>
            <a:pPr indent="0" lvl="0" marL="0" rtl="0" algn="l">
              <a:lnSpc>
                <a:spcPct val="115000"/>
              </a:lnSpc>
              <a:spcBef>
                <a:spcPts val="0"/>
              </a:spcBef>
              <a:spcAft>
                <a:spcPts val="0"/>
              </a:spcAft>
              <a:buClr>
                <a:schemeClr val="dk1"/>
              </a:buClr>
              <a:buSzPts val="1100"/>
              <a:buFont typeface="Arial"/>
              <a:buNone/>
            </a:pPr>
            <a:r>
              <a:t/>
            </a:r>
            <a:endParaRPr sz="1400">
              <a:solidFill>
                <a:srgbClr val="1D1C1D"/>
              </a:solidFill>
              <a:highlight>
                <a:schemeClr val="lt1"/>
              </a:highlight>
              <a:latin typeface="Roboto Mono"/>
              <a:ea typeface="Roboto Mono"/>
              <a:cs typeface="Roboto Mono"/>
              <a:sym typeface="Roboto Mono"/>
            </a:endParaRPr>
          </a:p>
          <a:p>
            <a:pPr indent="0" lvl="0" marL="0" rtl="0" algn="l">
              <a:lnSpc>
                <a:spcPct val="115000"/>
              </a:lnSpc>
              <a:spcBef>
                <a:spcPts val="0"/>
              </a:spcBef>
              <a:spcAft>
                <a:spcPts val="0"/>
              </a:spcAft>
              <a:buClr>
                <a:schemeClr val="dk1"/>
              </a:buClr>
              <a:buSzPts val="1100"/>
              <a:buFont typeface="Arial"/>
              <a:buNone/>
            </a:pPr>
            <a:r>
              <a:t/>
            </a:r>
            <a:endParaRPr sz="1400">
              <a:solidFill>
                <a:srgbClr val="1D1C1D"/>
              </a:solidFill>
              <a:highlight>
                <a:schemeClr val="lt1"/>
              </a:highlight>
              <a:latin typeface="Roboto Mono"/>
              <a:ea typeface="Roboto Mono"/>
              <a:cs typeface="Roboto Mono"/>
              <a:sym typeface="Roboto Mono"/>
            </a:endParaRPr>
          </a:p>
          <a:p>
            <a:pPr indent="0" lvl="0" marL="0" rtl="0" algn="l">
              <a:lnSpc>
                <a:spcPct val="115000"/>
              </a:lnSpc>
              <a:spcBef>
                <a:spcPts val="0"/>
              </a:spcBef>
              <a:spcAft>
                <a:spcPts val="0"/>
              </a:spcAft>
              <a:buClr>
                <a:schemeClr val="dk1"/>
              </a:buClr>
              <a:buSzPts val="1100"/>
              <a:buFont typeface="Arial"/>
              <a:buNone/>
            </a:pPr>
            <a:r>
              <a:t/>
            </a:r>
            <a:endParaRPr sz="1400">
              <a:solidFill>
                <a:srgbClr val="1D1C1D"/>
              </a:solidFill>
              <a:highlight>
                <a:schemeClr val="lt1"/>
              </a:highlight>
              <a:latin typeface="Roboto Mono"/>
              <a:ea typeface="Roboto Mono"/>
              <a:cs typeface="Roboto Mono"/>
              <a:sym typeface="Roboto Mono"/>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8" name="Shape 378"/>
        <p:cNvGrpSpPr/>
        <p:nvPr/>
      </p:nvGrpSpPr>
      <p:grpSpPr>
        <a:xfrm>
          <a:off x="0" y="0"/>
          <a:ext cx="0" cy="0"/>
          <a:chOff x="0" y="0"/>
          <a:chExt cx="0" cy="0"/>
        </a:xfrm>
      </p:grpSpPr>
      <p:sp>
        <p:nvSpPr>
          <p:cNvPr id="379" name="Google Shape;379;g3d1f982a191_0_61:notes"/>
          <p:cNvSpPr/>
          <p:nvPr>
            <p:ph idx="2" type="sldImg"/>
          </p:nvPr>
        </p:nvSpPr>
        <p:spPr>
          <a:xfrm>
            <a:off x="1143300"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380" name="Google Shape;380;g3d1f982a191_0_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1400">
                <a:latin typeface="Roboto Mono"/>
                <a:ea typeface="Roboto Mono"/>
                <a:cs typeface="Roboto Mono"/>
                <a:sym typeface="Roboto Mono"/>
              </a:rPr>
              <a:t>The longest community board meeting from the on </a:t>
            </a:r>
            <a:r>
              <a:rPr lang="en" sz="1400">
                <a:latin typeface="Roboto Mono"/>
                <a:ea typeface="Roboto Mono"/>
                <a:cs typeface="Roboto Mono"/>
                <a:sym typeface="Roboto Mono"/>
              </a:rPr>
              <a:t>record</a:t>
            </a:r>
            <a:r>
              <a:rPr lang="en" sz="1400">
                <a:latin typeface="Roboto Mono"/>
                <a:ea typeface="Roboto Mono"/>
                <a:cs typeface="Roboto Mono"/>
                <a:sym typeface="Roboto Mono"/>
              </a:rPr>
              <a:t> was 7 hours, 22 minutes, and 17 seconds. It was from </a:t>
            </a:r>
            <a:r>
              <a:rPr b="1" lang="en" sz="1500">
                <a:solidFill>
                  <a:srgbClr val="F1F1F1"/>
                </a:solidFill>
                <a:highlight>
                  <a:srgbClr val="0F0F0F"/>
                </a:highlight>
                <a:latin typeface="Roboto"/>
                <a:ea typeface="Roboto"/>
                <a:cs typeface="Roboto"/>
                <a:sym typeface="Roboto"/>
              </a:rPr>
              <a:t>Manhattan CB2 February 11, 2025 - Outdoor Dining Working Group Meeting</a:t>
            </a:r>
            <a:endParaRPr b="1" sz="1500">
              <a:solidFill>
                <a:srgbClr val="F1F1F1"/>
              </a:solidFill>
              <a:highlight>
                <a:srgbClr val="0F0F0F"/>
              </a:highlight>
              <a:latin typeface="Roboto"/>
              <a:ea typeface="Roboto"/>
              <a:cs typeface="Roboto"/>
              <a:sym typeface="Roboto"/>
            </a:endParaRPr>
          </a:p>
          <a:p>
            <a:pPr indent="0" lvl="0" marL="0" rtl="0" algn="l">
              <a:spcBef>
                <a:spcPts val="0"/>
              </a:spcBef>
              <a:spcAft>
                <a:spcPts val="0"/>
              </a:spcAft>
              <a:buNone/>
            </a:pPr>
            <a:r>
              <a:t/>
            </a:r>
            <a:endParaRPr sz="1400">
              <a:solidFill>
                <a:schemeClr val="dk1"/>
              </a:solidFill>
            </a:endParaRPr>
          </a:p>
          <a:p>
            <a:pPr indent="0" lvl="0" marL="0" rtl="0" algn="l">
              <a:spcBef>
                <a:spcPts val="0"/>
              </a:spcBef>
              <a:spcAft>
                <a:spcPts val="0"/>
              </a:spcAft>
              <a:buNone/>
            </a:pPr>
            <a:r>
              <a:rPr lang="en" sz="1400">
                <a:solidFill>
                  <a:schemeClr val="dk1"/>
                </a:solidFill>
              </a:rPr>
              <a:t>This is evidence that A LOT is discussed at these meetings, but unless you’re really plugged in - it’s hard to stay informed or engage. This is really the ethos behind Block party</a:t>
            </a:r>
            <a:endParaRPr b="1" sz="1500">
              <a:solidFill>
                <a:srgbClr val="F1F1F1"/>
              </a:solidFill>
              <a:highlight>
                <a:srgbClr val="0F0F0F"/>
              </a:highlight>
              <a:latin typeface="Roboto"/>
              <a:ea typeface="Roboto"/>
              <a:cs typeface="Roboto"/>
              <a:sym typeface="Roboto"/>
            </a:endParaRPr>
          </a:p>
          <a:p>
            <a:pPr indent="0" lvl="0" marL="0" rtl="0" algn="l">
              <a:spcBef>
                <a:spcPts val="0"/>
              </a:spcBef>
              <a:spcAft>
                <a:spcPts val="0"/>
              </a:spcAft>
              <a:buNone/>
            </a:pPr>
            <a:r>
              <a:t/>
            </a:r>
            <a:endParaRPr b="1" sz="1500">
              <a:solidFill>
                <a:srgbClr val="F1F1F1"/>
              </a:solidFill>
              <a:highlight>
                <a:srgbClr val="0F0F0F"/>
              </a:highlight>
              <a:latin typeface="Roboto"/>
              <a:ea typeface="Roboto"/>
              <a:cs typeface="Roboto"/>
              <a:sym typeface="Roboto"/>
            </a:endParaRPr>
          </a:p>
          <a:p>
            <a:pPr indent="0" lvl="0" marL="0" rtl="0" algn="l">
              <a:spcBef>
                <a:spcPts val="0"/>
              </a:spcBef>
              <a:spcAft>
                <a:spcPts val="0"/>
              </a:spcAft>
              <a:buNone/>
            </a:pPr>
            <a:r>
              <a:t/>
            </a:r>
            <a:endParaRPr b="1" sz="1500">
              <a:solidFill>
                <a:srgbClr val="F1F1F1"/>
              </a:solidFill>
              <a:highlight>
                <a:srgbClr val="0F0F0F"/>
              </a:highlight>
              <a:latin typeface="Roboto"/>
              <a:ea typeface="Roboto"/>
              <a:cs typeface="Roboto"/>
              <a:sym typeface="Roboto"/>
            </a:endParaRPr>
          </a:p>
          <a:p>
            <a:pPr indent="0" lvl="0" marL="0" rtl="0" algn="l">
              <a:spcBef>
                <a:spcPts val="0"/>
              </a:spcBef>
              <a:spcAft>
                <a:spcPts val="0"/>
              </a:spcAft>
              <a:buNone/>
            </a:pPr>
            <a:r>
              <a:t/>
            </a:r>
            <a:endParaRPr b="1" sz="1500">
              <a:solidFill>
                <a:srgbClr val="F1F1F1"/>
              </a:solidFill>
              <a:highlight>
                <a:srgbClr val="0F0F0F"/>
              </a:highlight>
              <a:latin typeface="Roboto"/>
              <a:ea typeface="Roboto"/>
              <a:cs typeface="Roboto"/>
              <a:sym typeface="Roboto"/>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g3d1f982a191_0_137:notes"/>
          <p:cNvSpPr/>
          <p:nvPr>
            <p:ph idx="2" type="sldImg"/>
          </p:nvPr>
        </p:nvSpPr>
        <p:spPr>
          <a:xfrm>
            <a:off x="1143309"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387" name="Google Shape;387;g3d1f982a191_0_13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Where over the past 6 years we have collected hundreds of meeting transcripts across districts representing each borough.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1" name="Shape 391"/>
        <p:cNvGrpSpPr/>
        <p:nvPr/>
      </p:nvGrpSpPr>
      <p:grpSpPr>
        <a:xfrm>
          <a:off x="0" y="0"/>
          <a:ext cx="0" cy="0"/>
          <a:chOff x="0" y="0"/>
          <a:chExt cx="0" cy="0"/>
        </a:xfrm>
      </p:grpSpPr>
      <p:sp>
        <p:nvSpPr>
          <p:cNvPr id="392" name="Google Shape;392;g39632e5ac8b_0_63:notes"/>
          <p:cNvSpPr/>
          <p:nvPr>
            <p:ph idx="2" type="sldImg"/>
          </p:nvPr>
        </p:nvSpPr>
        <p:spPr>
          <a:xfrm>
            <a:off x="1143300"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393" name="Google Shape;393;g39632e5ac8b_0_6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sz="1400">
                <a:solidFill>
                  <a:schemeClr val="dk1"/>
                </a:solidFill>
                <a:latin typeface="Roboto Mono"/>
                <a:ea typeface="Roboto Mono"/>
                <a:cs typeface="Roboto Mono"/>
                <a:sym typeface="Roboto Mono"/>
              </a:rPr>
              <a:t>Since the start of the pandemic CB meetings have been publishing their meetings to Youtube, digitizing the information for archive, and public access. And the volume of meetings published continues to grow. </a:t>
            </a:r>
            <a:endParaRPr sz="1400">
              <a:solidFill>
                <a:schemeClr val="dk1"/>
              </a:solidFill>
              <a:latin typeface="Roboto Mono"/>
              <a:ea typeface="Roboto Mono"/>
              <a:cs typeface="Roboto Mono"/>
              <a:sym typeface="Roboto Mono"/>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8" name="Shape 398"/>
        <p:cNvGrpSpPr/>
        <p:nvPr/>
      </p:nvGrpSpPr>
      <p:grpSpPr>
        <a:xfrm>
          <a:off x="0" y="0"/>
          <a:ext cx="0" cy="0"/>
          <a:chOff x="0" y="0"/>
          <a:chExt cx="0" cy="0"/>
        </a:xfrm>
      </p:grpSpPr>
      <p:sp>
        <p:nvSpPr>
          <p:cNvPr id="399" name="Google Shape;399;g3d1f982a191_0_195:notes"/>
          <p:cNvSpPr/>
          <p:nvPr>
            <p:ph idx="2" type="sldImg"/>
          </p:nvPr>
        </p:nvSpPr>
        <p:spPr>
          <a:xfrm>
            <a:off x="1143309"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400" name="Google Shape;400;g3d1f982a191_0_19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1400">
                <a:solidFill>
                  <a:schemeClr val="dk1"/>
                </a:solidFill>
              </a:rPr>
              <a:t>Now here is what we did for resolutions. The rest of this presentation will be about Block party’s newest feature where we developed a </a:t>
            </a:r>
            <a:r>
              <a:rPr lang="en" sz="1400">
                <a:solidFill>
                  <a:schemeClr val="dk1"/>
                </a:solidFill>
              </a:rPr>
              <a:t>searchable</a:t>
            </a:r>
            <a:r>
              <a:rPr lang="en" sz="1400">
                <a:solidFill>
                  <a:schemeClr val="dk1"/>
                </a:solidFill>
              </a:rPr>
              <a:t> archive for community board 3 resolutions. </a:t>
            </a:r>
            <a:endParaRPr sz="1400">
              <a:solidFill>
                <a:schemeClr val="dk1"/>
              </a:solidFill>
            </a:endParaRPr>
          </a:p>
          <a:p>
            <a:pPr indent="0" lvl="0" marL="0" rtl="0" algn="l">
              <a:spcBef>
                <a:spcPts val="0"/>
              </a:spcBef>
              <a:spcAft>
                <a:spcPts val="0"/>
              </a:spcAft>
              <a:buNone/>
            </a:pPr>
            <a:r>
              <a:t/>
            </a:r>
            <a:endParaRPr sz="1400">
              <a:solidFill>
                <a:schemeClr val="dk1"/>
              </a:solidFill>
            </a:endParaRPr>
          </a:p>
          <a:p>
            <a:pPr indent="0" lvl="0" marL="0" rtl="0" algn="l">
              <a:spcBef>
                <a:spcPts val="0"/>
              </a:spcBef>
              <a:spcAft>
                <a:spcPts val="0"/>
              </a:spcAft>
              <a:buNone/>
            </a:pPr>
            <a:r>
              <a:t/>
            </a:r>
            <a:endParaRPr sz="1400">
              <a:solidFill>
                <a:schemeClr val="dk1"/>
              </a:solidFill>
            </a:endParaRPr>
          </a:p>
          <a:p>
            <a:pPr indent="0" lvl="0" marL="0" rtl="0" algn="l">
              <a:spcBef>
                <a:spcPts val="0"/>
              </a:spcBef>
              <a:spcAft>
                <a:spcPts val="0"/>
              </a:spcAft>
              <a:buNone/>
            </a:pPr>
            <a:r>
              <a:rPr lang="en" sz="1400">
                <a:solidFill>
                  <a:schemeClr val="dk1"/>
                </a:solidFill>
              </a:rPr>
              <a:t>You would have had to click through 17 years of resolutions. Who is going to do that? This makes it searchable. </a:t>
            </a:r>
            <a:endParaRPr sz="1400">
              <a:solidFill>
                <a:schemeClr val="dk1"/>
              </a:solidFill>
            </a:endParaRPr>
          </a:p>
          <a:p>
            <a:pPr indent="0" lvl="0" marL="0" rtl="0" algn="l">
              <a:spcBef>
                <a:spcPts val="0"/>
              </a:spcBef>
              <a:spcAft>
                <a:spcPts val="0"/>
              </a:spcAft>
              <a:buNone/>
            </a:pPr>
            <a:r>
              <a:t/>
            </a:r>
            <a:endParaRPr sz="1400">
              <a:solidFill>
                <a:schemeClr val="dk1"/>
              </a:solidFill>
            </a:endParaRPr>
          </a:p>
          <a:p>
            <a:pPr indent="0" lvl="0" marL="0" rtl="0" algn="l">
              <a:spcBef>
                <a:spcPts val="0"/>
              </a:spcBef>
              <a:spcAft>
                <a:spcPts val="0"/>
              </a:spcAft>
              <a:buNone/>
            </a:pPr>
            <a:r>
              <a:rPr lang="en" sz="1050">
                <a:solidFill>
                  <a:srgbClr val="444746"/>
                </a:solidFill>
                <a:latin typeface="Roboto"/>
                <a:ea typeface="Roboto"/>
                <a:cs typeface="Roboto"/>
                <a:sym typeface="Roboto"/>
              </a:rPr>
              <a:t>information but would take forever to read </a:t>
            </a:r>
            <a:endParaRPr sz="1050">
              <a:solidFill>
                <a:srgbClr val="444746"/>
              </a:solidFill>
              <a:latin typeface="Roboto"/>
              <a:ea typeface="Roboto"/>
              <a:cs typeface="Roboto"/>
              <a:sym typeface="Roboto"/>
            </a:endParaRPr>
          </a:p>
          <a:p>
            <a:pPr indent="0" lvl="0" marL="0" rtl="0" algn="l">
              <a:spcBef>
                <a:spcPts val="0"/>
              </a:spcBef>
              <a:spcAft>
                <a:spcPts val="0"/>
              </a:spcAft>
              <a:buNone/>
            </a:pPr>
            <a:r>
              <a:t/>
            </a:r>
            <a:endParaRPr sz="1400">
              <a:solidFill>
                <a:schemeClr val="dk1"/>
              </a:solidFill>
            </a:endParaRPr>
          </a:p>
          <a:p>
            <a:pPr indent="0" lvl="0" marL="0" rtl="0" algn="l">
              <a:spcBef>
                <a:spcPts val="0"/>
              </a:spcBef>
              <a:spcAft>
                <a:spcPts val="0"/>
              </a:spcAft>
              <a:buNone/>
            </a:pPr>
            <a:r>
              <a:t/>
            </a:r>
            <a:endParaRPr sz="1400">
              <a:solidFill>
                <a:schemeClr val="dk1"/>
              </a:solidFill>
            </a:endParaRPr>
          </a:p>
          <a:p>
            <a:pPr indent="0" lvl="0" marL="0" rtl="0" algn="l">
              <a:spcBef>
                <a:spcPts val="0"/>
              </a:spcBef>
              <a:spcAft>
                <a:spcPts val="0"/>
              </a:spcAft>
              <a:buClr>
                <a:schemeClr val="dk1"/>
              </a:buClr>
              <a:buSzPts val="1100"/>
              <a:buFont typeface="Arial"/>
              <a:buNone/>
            </a:pPr>
            <a:r>
              <a:rPr lang="en" sz="1050">
                <a:solidFill>
                  <a:srgbClr val="444746"/>
                </a:solidFill>
                <a:latin typeface="Roboto"/>
                <a:ea typeface="Roboto"/>
                <a:cs typeface="Roboto"/>
                <a:sym typeface="Roboto"/>
              </a:rPr>
              <a:t>268 meeting PDfs you have to look through manually, within those.</a:t>
            </a:r>
            <a:endParaRPr sz="1400">
              <a:solidFill>
                <a:schemeClr val="dk1"/>
              </a:solidFill>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9" name="Shape 409"/>
        <p:cNvGrpSpPr/>
        <p:nvPr/>
      </p:nvGrpSpPr>
      <p:grpSpPr>
        <a:xfrm>
          <a:off x="0" y="0"/>
          <a:ext cx="0" cy="0"/>
          <a:chOff x="0" y="0"/>
          <a:chExt cx="0" cy="0"/>
        </a:xfrm>
      </p:grpSpPr>
      <p:sp>
        <p:nvSpPr>
          <p:cNvPr id="410" name="Google Shape;410;g3ce2ab87c40_0_1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sz="1050">
                <a:solidFill>
                  <a:srgbClr val="444746"/>
                </a:solidFill>
                <a:latin typeface="Roboto"/>
                <a:ea typeface="Roboto"/>
                <a:cs typeface="Roboto"/>
                <a:sym typeface="Roboto"/>
              </a:rPr>
              <a:t>Above 6500 resolutions that each have their own context and action. Within those are nearly 2M words, which is about 3.3 War and Peace novels. There is so much text, but no way to search across resolutions. There is no way to Ctr-F to find all resolutions.</a:t>
            </a:r>
            <a:endParaRPr sz="1700">
              <a:solidFill>
                <a:srgbClr val="304D80"/>
              </a:solidFill>
              <a:latin typeface="Lato"/>
              <a:ea typeface="Lato"/>
              <a:cs typeface="Lato"/>
              <a:sym typeface="Lato"/>
            </a:endParaRPr>
          </a:p>
          <a:p>
            <a:pPr indent="0" lvl="0" marL="0" rtl="0" algn="l">
              <a:spcBef>
                <a:spcPts val="0"/>
              </a:spcBef>
              <a:spcAft>
                <a:spcPts val="0"/>
              </a:spcAft>
              <a:buNone/>
            </a:pPr>
            <a:r>
              <a:t/>
            </a:r>
            <a:endParaRPr sz="1700">
              <a:solidFill>
                <a:srgbClr val="304D80"/>
              </a:solidFill>
              <a:latin typeface="Lato"/>
              <a:ea typeface="Lato"/>
              <a:cs typeface="Lato"/>
              <a:sym typeface="Lato"/>
            </a:endParaRPr>
          </a:p>
          <a:p>
            <a:pPr indent="0" lvl="0" marL="0" rtl="0" algn="l">
              <a:spcBef>
                <a:spcPts val="0"/>
              </a:spcBef>
              <a:spcAft>
                <a:spcPts val="0"/>
              </a:spcAft>
              <a:buNone/>
            </a:pPr>
            <a:r>
              <a:rPr lang="en" sz="1700">
                <a:solidFill>
                  <a:srgbClr val="304D80"/>
                </a:solidFill>
                <a:latin typeface="Lato"/>
                <a:ea typeface="Lato"/>
                <a:cs typeface="Lato"/>
                <a:sym typeface="Lato"/>
              </a:rPr>
              <a:t>So CB3 tends to approve the denial of resolutions accounting for</a:t>
            </a:r>
            <a:r>
              <a:rPr lang="en" sz="1700">
                <a:solidFill>
                  <a:srgbClr val="304D80"/>
                </a:solidFill>
                <a:latin typeface="Lato"/>
                <a:ea typeface="Lato"/>
                <a:cs typeface="Lato"/>
                <a:sym typeface="Lato"/>
              </a:rPr>
              <a:t> 39% of all resolutions — which seem to stem from their liquor license docket. </a:t>
            </a:r>
            <a:endParaRPr sz="1700">
              <a:solidFill>
                <a:srgbClr val="304D80"/>
              </a:solidFill>
              <a:latin typeface="Lato"/>
              <a:ea typeface="Lato"/>
              <a:cs typeface="Lato"/>
              <a:sym typeface="Lato"/>
            </a:endParaRPr>
          </a:p>
          <a:p>
            <a:pPr indent="0" lvl="0" marL="0" rtl="0" algn="l">
              <a:spcBef>
                <a:spcPts val="0"/>
              </a:spcBef>
              <a:spcAft>
                <a:spcPts val="0"/>
              </a:spcAft>
              <a:buNone/>
            </a:pPr>
            <a:r>
              <a:t/>
            </a:r>
            <a:endParaRPr sz="1700">
              <a:solidFill>
                <a:srgbClr val="304D80"/>
              </a:solidFill>
              <a:latin typeface="Lato"/>
              <a:ea typeface="Lato"/>
              <a:cs typeface="Lato"/>
              <a:sym typeface="Lato"/>
            </a:endParaRPr>
          </a:p>
          <a:p>
            <a:pPr indent="0" lvl="0" marL="0" rtl="0" algn="l">
              <a:spcBef>
                <a:spcPts val="0"/>
              </a:spcBef>
              <a:spcAft>
                <a:spcPts val="0"/>
              </a:spcAft>
              <a:buClr>
                <a:schemeClr val="dk1"/>
              </a:buClr>
              <a:buFont typeface="Arial"/>
              <a:buNone/>
            </a:pPr>
            <a:r>
              <a:rPr lang="en" sz="1700">
                <a:solidFill>
                  <a:srgbClr val="304D80"/>
                </a:solidFill>
                <a:latin typeface="Lato"/>
                <a:ea typeface="Lato"/>
                <a:cs typeface="Lato"/>
                <a:sym typeface="Lato"/>
              </a:rPr>
              <a:t>The board’s default posture is to deny or set conditions (“Deny Unless Stipulations Agreed To”) rather than give unconditional approval.</a:t>
            </a:r>
            <a:endParaRPr/>
          </a:p>
        </p:txBody>
      </p:sp>
      <p:sp>
        <p:nvSpPr>
          <p:cNvPr id="411" name="Google Shape;411;g3ce2ab87c40_0_199: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4" name="Shape 444"/>
        <p:cNvGrpSpPr/>
        <p:nvPr/>
      </p:nvGrpSpPr>
      <p:grpSpPr>
        <a:xfrm>
          <a:off x="0" y="0"/>
          <a:ext cx="0" cy="0"/>
          <a:chOff x="0" y="0"/>
          <a:chExt cx="0" cy="0"/>
        </a:xfrm>
      </p:grpSpPr>
      <p:sp>
        <p:nvSpPr>
          <p:cNvPr id="445" name="Google Shape;445;g3ce2ab87c40_0_3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Font typeface="Arial"/>
              <a:buNone/>
            </a:pPr>
            <a:r>
              <a:rPr lang="en" sz="1600">
                <a:solidFill>
                  <a:srgbClr val="304D80"/>
                </a:solidFill>
                <a:latin typeface="Lato"/>
                <a:ea typeface="Lato"/>
                <a:cs typeface="Lato"/>
                <a:sym typeface="Lato"/>
              </a:rPr>
              <a:t>·  </a:t>
            </a:r>
            <a:r>
              <a:rPr b="1" lang="en" sz="1600">
                <a:solidFill>
                  <a:srgbClr val="4285F4"/>
                </a:solidFill>
                <a:latin typeface="Lato"/>
                <a:ea typeface="Lato"/>
                <a:cs typeface="Lato"/>
                <a:sym typeface="Lato"/>
              </a:rPr>
              <a:t>What a database unlocks: </a:t>
            </a:r>
            <a:r>
              <a:rPr lang="en" sz="1600">
                <a:solidFill>
                  <a:srgbClr val="304D80"/>
                </a:solidFill>
                <a:latin typeface="Lato"/>
                <a:ea typeface="Lato"/>
                <a:cs typeface="Lato"/>
                <a:sym typeface="Lato"/>
              </a:rPr>
              <a:t>Longitudinal analysis: “how has MCB3’s posture on liquor licensing changed?”</a:t>
            </a:r>
            <a:endParaRPr sz="1600">
              <a:solidFill>
                <a:srgbClr val="304D80"/>
              </a:solidFill>
              <a:latin typeface="Lato"/>
              <a:ea typeface="Lato"/>
              <a:cs typeface="Lato"/>
              <a:sym typeface="Lato"/>
            </a:endParaRPr>
          </a:p>
          <a:p>
            <a:pPr indent="0" lvl="0" marL="0" rtl="0" algn="l">
              <a:spcBef>
                <a:spcPts val="0"/>
              </a:spcBef>
              <a:spcAft>
                <a:spcPts val="0"/>
              </a:spcAft>
              <a:buClr>
                <a:schemeClr val="dk1"/>
              </a:buClr>
              <a:buFont typeface="Arial"/>
              <a:buNone/>
            </a:pPr>
            <a:r>
              <a:t/>
            </a:r>
            <a:endParaRPr sz="1600">
              <a:solidFill>
                <a:srgbClr val="304D80"/>
              </a:solidFill>
              <a:latin typeface="Lato"/>
              <a:ea typeface="Lato"/>
              <a:cs typeface="Lato"/>
              <a:sym typeface="Lato"/>
            </a:endParaRPr>
          </a:p>
          <a:p>
            <a:pPr indent="0" lvl="0" marL="0" rtl="0" algn="l">
              <a:spcBef>
                <a:spcPts val="600"/>
              </a:spcBef>
              <a:spcAft>
                <a:spcPts val="0"/>
              </a:spcAft>
              <a:buClr>
                <a:schemeClr val="dk1"/>
              </a:buClr>
              <a:buFont typeface="Arial"/>
              <a:buNone/>
            </a:pPr>
            <a:r>
              <a:rPr lang="en" sz="1600">
                <a:solidFill>
                  <a:srgbClr val="304D80"/>
                </a:solidFill>
                <a:latin typeface="Lato"/>
                <a:ea typeface="Lato"/>
                <a:cs typeface="Lato"/>
                <a:sym typeface="Lato"/>
              </a:rPr>
              <a:t>·  Pattern detection: what gets denied vs. approved?</a:t>
            </a:r>
            <a:endParaRPr sz="1600">
              <a:solidFill>
                <a:srgbClr val="304D80"/>
              </a:solidFill>
              <a:latin typeface="Lato"/>
              <a:ea typeface="Lato"/>
              <a:cs typeface="Lato"/>
              <a:sym typeface="Lato"/>
            </a:endParaRPr>
          </a:p>
          <a:p>
            <a:pPr indent="0" lvl="0" marL="0" rtl="0" algn="l">
              <a:spcBef>
                <a:spcPts val="600"/>
              </a:spcBef>
              <a:spcAft>
                <a:spcPts val="0"/>
              </a:spcAft>
              <a:buClr>
                <a:schemeClr val="dk1"/>
              </a:buClr>
              <a:buFont typeface="Arial"/>
              <a:buNone/>
            </a:pPr>
            <a:r>
              <a:t/>
            </a:r>
            <a:endParaRPr sz="1600">
              <a:solidFill>
                <a:srgbClr val="304D80"/>
              </a:solidFill>
              <a:latin typeface="Lato"/>
              <a:ea typeface="Lato"/>
              <a:cs typeface="Lato"/>
              <a:sym typeface="Lato"/>
            </a:endParaRPr>
          </a:p>
          <a:p>
            <a:pPr indent="0" lvl="0" marL="0" rtl="0" algn="l">
              <a:spcBef>
                <a:spcPts val="600"/>
              </a:spcBef>
              <a:spcAft>
                <a:spcPts val="0"/>
              </a:spcAft>
              <a:buClr>
                <a:schemeClr val="dk1"/>
              </a:buClr>
              <a:buFont typeface="Arial"/>
              <a:buNone/>
            </a:pPr>
            <a:r>
              <a:rPr lang="en" sz="1600">
                <a:solidFill>
                  <a:srgbClr val="304D80"/>
                </a:solidFill>
                <a:latin typeface="Lato"/>
                <a:ea typeface="Lato"/>
                <a:cs typeface="Lato"/>
                <a:sym typeface="Lato"/>
              </a:rPr>
              <a:t>·  Semantic search by address, business, or policy topic</a:t>
            </a:r>
            <a:endParaRPr sz="1600">
              <a:solidFill>
                <a:srgbClr val="304D80"/>
              </a:solidFill>
              <a:latin typeface="Lato"/>
              <a:ea typeface="Lato"/>
              <a:cs typeface="Lato"/>
              <a:sym typeface="Lato"/>
            </a:endParaRPr>
          </a:p>
          <a:p>
            <a:pPr indent="0" lvl="0" marL="0" rtl="0" algn="l">
              <a:spcBef>
                <a:spcPts val="600"/>
              </a:spcBef>
              <a:spcAft>
                <a:spcPts val="0"/>
              </a:spcAft>
              <a:buClr>
                <a:schemeClr val="dk1"/>
              </a:buClr>
              <a:buFont typeface="Arial"/>
              <a:buNone/>
            </a:pPr>
            <a:r>
              <a:t/>
            </a:r>
            <a:endParaRPr sz="1600">
              <a:solidFill>
                <a:srgbClr val="304D80"/>
              </a:solidFill>
              <a:latin typeface="Lato"/>
              <a:ea typeface="Lato"/>
              <a:cs typeface="Lato"/>
              <a:sym typeface="Lato"/>
            </a:endParaRPr>
          </a:p>
          <a:p>
            <a:pPr indent="0" lvl="0" marL="0" rtl="0" algn="l">
              <a:spcBef>
                <a:spcPts val="600"/>
              </a:spcBef>
              <a:spcAft>
                <a:spcPts val="0"/>
              </a:spcAft>
              <a:buClr>
                <a:schemeClr val="dk1"/>
              </a:buClr>
              <a:buFont typeface="Arial"/>
              <a:buNone/>
            </a:pPr>
            <a:r>
              <a:rPr lang="en" sz="1600">
                <a:solidFill>
                  <a:srgbClr val="304D80"/>
                </a:solidFill>
                <a:latin typeface="Lato"/>
                <a:ea typeface="Lato"/>
                <a:cs typeface="Lato"/>
                <a:sym typeface="Lato"/>
              </a:rPr>
              <a:t>Use case possibilities:</a:t>
            </a:r>
            <a:endParaRPr sz="1600">
              <a:solidFill>
                <a:srgbClr val="304D80"/>
              </a:solidFill>
              <a:latin typeface="Lato"/>
              <a:ea typeface="Lato"/>
              <a:cs typeface="Lato"/>
              <a:sym typeface="Lato"/>
            </a:endParaRPr>
          </a:p>
          <a:p>
            <a:pPr indent="0" lvl="0" marL="0" rtl="0" algn="l">
              <a:spcBef>
                <a:spcPts val="600"/>
              </a:spcBef>
              <a:spcAft>
                <a:spcPts val="0"/>
              </a:spcAft>
              <a:buClr>
                <a:schemeClr val="dk1"/>
              </a:buClr>
              <a:buFont typeface="Arial"/>
              <a:buNone/>
            </a:pPr>
            <a:r>
              <a:rPr lang="en" sz="1600">
                <a:solidFill>
                  <a:srgbClr val="304D80"/>
                </a:solidFill>
                <a:latin typeface="Lato"/>
                <a:ea typeface="Lato"/>
                <a:cs typeface="Lato"/>
                <a:sym typeface="Lato"/>
              </a:rPr>
              <a:t>Extract locations that are discussed to search by business name, address, agency, permit type</a:t>
            </a:r>
            <a:endParaRPr/>
          </a:p>
        </p:txBody>
      </p:sp>
      <p:sp>
        <p:nvSpPr>
          <p:cNvPr id="446" name="Google Shape;446;g3ce2ab87c40_0_346: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g396972c77f0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Font typeface="Arial"/>
              <a:buNone/>
            </a:pPr>
            <a:r>
              <a:rPr lang="en" sz="1600">
                <a:solidFill>
                  <a:srgbClr val="304D80"/>
                </a:solidFill>
                <a:latin typeface="Lato"/>
                <a:ea typeface="Lato"/>
                <a:cs typeface="Lato"/>
                <a:sym typeface="Lato"/>
              </a:rPr>
              <a:t>·  </a:t>
            </a:r>
            <a:r>
              <a:rPr b="1" lang="en" sz="1600">
                <a:solidFill>
                  <a:srgbClr val="4285F4"/>
                </a:solidFill>
                <a:latin typeface="Lato"/>
                <a:ea typeface="Lato"/>
                <a:cs typeface="Lato"/>
                <a:sym typeface="Lato"/>
              </a:rPr>
              <a:t>What a database unlocks: </a:t>
            </a:r>
            <a:r>
              <a:rPr lang="en" sz="1600">
                <a:solidFill>
                  <a:srgbClr val="304D80"/>
                </a:solidFill>
                <a:latin typeface="Lato"/>
                <a:ea typeface="Lato"/>
                <a:cs typeface="Lato"/>
                <a:sym typeface="Lato"/>
              </a:rPr>
              <a:t>Longitudinal analysis: “how has MCB3’s posture on liquor licensing changed?”</a:t>
            </a:r>
            <a:endParaRPr sz="1600">
              <a:solidFill>
                <a:srgbClr val="304D80"/>
              </a:solidFill>
              <a:latin typeface="Lato"/>
              <a:ea typeface="Lato"/>
              <a:cs typeface="Lato"/>
              <a:sym typeface="Lato"/>
            </a:endParaRPr>
          </a:p>
          <a:p>
            <a:pPr indent="0" lvl="0" marL="0" rtl="0" algn="l">
              <a:spcBef>
                <a:spcPts val="0"/>
              </a:spcBef>
              <a:spcAft>
                <a:spcPts val="0"/>
              </a:spcAft>
              <a:buClr>
                <a:schemeClr val="dk1"/>
              </a:buClr>
              <a:buFont typeface="Arial"/>
              <a:buNone/>
            </a:pPr>
            <a:r>
              <a:t/>
            </a:r>
            <a:endParaRPr sz="1600">
              <a:solidFill>
                <a:srgbClr val="304D80"/>
              </a:solidFill>
              <a:latin typeface="Lato"/>
              <a:ea typeface="Lato"/>
              <a:cs typeface="Lato"/>
              <a:sym typeface="Lato"/>
            </a:endParaRPr>
          </a:p>
          <a:p>
            <a:pPr indent="0" lvl="0" marL="0" rtl="0" algn="l">
              <a:spcBef>
                <a:spcPts val="600"/>
              </a:spcBef>
              <a:spcAft>
                <a:spcPts val="0"/>
              </a:spcAft>
              <a:buClr>
                <a:schemeClr val="dk1"/>
              </a:buClr>
              <a:buFont typeface="Arial"/>
              <a:buNone/>
            </a:pPr>
            <a:r>
              <a:rPr lang="en" sz="1600">
                <a:solidFill>
                  <a:srgbClr val="304D80"/>
                </a:solidFill>
                <a:latin typeface="Lato"/>
                <a:ea typeface="Lato"/>
                <a:cs typeface="Lato"/>
                <a:sym typeface="Lato"/>
              </a:rPr>
              <a:t>·  Pattern detection: what gets denied vs. approved?</a:t>
            </a:r>
            <a:endParaRPr sz="1600">
              <a:solidFill>
                <a:srgbClr val="304D80"/>
              </a:solidFill>
              <a:latin typeface="Lato"/>
              <a:ea typeface="Lato"/>
              <a:cs typeface="Lato"/>
              <a:sym typeface="Lato"/>
            </a:endParaRPr>
          </a:p>
          <a:p>
            <a:pPr indent="0" lvl="0" marL="0" rtl="0" algn="l">
              <a:spcBef>
                <a:spcPts val="600"/>
              </a:spcBef>
              <a:spcAft>
                <a:spcPts val="0"/>
              </a:spcAft>
              <a:buClr>
                <a:schemeClr val="dk1"/>
              </a:buClr>
              <a:buFont typeface="Arial"/>
              <a:buNone/>
            </a:pPr>
            <a:r>
              <a:t/>
            </a:r>
            <a:endParaRPr sz="1600">
              <a:solidFill>
                <a:srgbClr val="304D80"/>
              </a:solidFill>
              <a:latin typeface="Lato"/>
              <a:ea typeface="Lato"/>
              <a:cs typeface="Lato"/>
              <a:sym typeface="Lato"/>
            </a:endParaRPr>
          </a:p>
          <a:p>
            <a:pPr indent="0" lvl="0" marL="0" rtl="0" algn="l">
              <a:spcBef>
                <a:spcPts val="600"/>
              </a:spcBef>
              <a:spcAft>
                <a:spcPts val="0"/>
              </a:spcAft>
              <a:buClr>
                <a:schemeClr val="dk1"/>
              </a:buClr>
              <a:buFont typeface="Arial"/>
              <a:buNone/>
            </a:pPr>
            <a:r>
              <a:rPr lang="en" sz="1600">
                <a:solidFill>
                  <a:srgbClr val="304D80"/>
                </a:solidFill>
                <a:latin typeface="Lato"/>
                <a:ea typeface="Lato"/>
                <a:cs typeface="Lato"/>
                <a:sym typeface="Lato"/>
              </a:rPr>
              <a:t>·  Semantic search by address, business, or policy topic</a:t>
            </a:r>
            <a:endParaRPr sz="1600">
              <a:solidFill>
                <a:srgbClr val="304D80"/>
              </a:solidFill>
              <a:latin typeface="Lato"/>
              <a:ea typeface="Lato"/>
              <a:cs typeface="Lato"/>
              <a:sym typeface="Lato"/>
            </a:endParaRPr>
          </a:p>
          <a:p>
            <a:pPr indent="0" lvl="0" marL="0" rtl="0" algn="l">
              <a:spcBef>
                <a:spcPts val="600"/>
              </a:spcBef>
              <a:spcAft>
                <a:spcPts val="0"/>
              </a:spcAft>
              <a:buClr>
                <a:schemeClr val="dk1"/>
              </a:buClr>
              <a:buFont typeface="Arial"/>
              <a:buNone/>
            </a:pPr>
            <a:r>
              <a:t/>
            </a:r>
            <a:endParaRPr sz="1600">
              <a:solidFill>
                <a:srgbClr val="304D80"/>
              </a:solidFill>
              <a:latin typeface="Lato"/>
              <a:ea typeface="Lato"/>
              <a:cs typeface="Lato"/>
              <a:sym typeface="Lato"/>
            </a:endParaRPr>
          </a:p>
          <a:p>
            <a:pPr indent="0" lvl="0" marL="0" rtl="0" algn="l">
              <a:spcBef>
                <a:spcPts val="600"/>
              </a:spcBef>
              <a:spcAft>
                <a:spcPts val="0"/>
              </a:spcAft>
              <a:buClr>
                <a:schemeClr val="dk1"/>
              </a:buClr>
              <a:buFont typeface="Arial"/>
              <a:buNone/>
            </a:pPr>
            <a:r>
              <a:rPr lang="en" sz="1600">
                <a:solidFill>
                  <a:srgbClr val="304D80"/>
                </a:solidFill>
                <a:latin typeface="Lato"/>
                <a:ea typeface="Lato"/>
                <a:cs typeface="Lato"/>
                <a:sym typeface="Lato"/>
              </a:rPr>
              <a:t>Use case possibilities:</a:t>
            </a:r>
            <a:endParaRPr sz="1600">
              <a:solidFill>
                <a:srgbClr val="304D80"/>
              </a:solidFill>
              <a:latin typeface="Lato"/>
              <a:ea typeface="Lato"/>
              <a:cs typeface="Lato"/>
              <a:sym typeface="Lato"/>
            </a:endParaRPr>
          </a:p>
          <a:p>
            <a:pPr indent="0" lvl="0" marL="0" rtl="0" algn="l">
              <a:spcBef>
                <a:spcPts val="600"/>
              </a:spcBef>
              <a:spcAft>
                <a:spcPts val="0"/>
              </a:spcAft>
              <a:buClr>
                <a:schemeClr val="dk1"/>
              </a:buClr>
              <a:buFont typeface="Arial"/>
              <a:buNone/>
            </a:pPr>
            <a:r>
              <a:rPr lang="en" sz="1600">
                <a:solidFill>
                  <a:srgbClr val="304D80"/>
                </a:solidFill>
                <a:latin typeface="Lato"/>
                <a:ea typeface="Lato"/>
                <a:cs typeface="Lato"/>
                <a:sym typeface="Lato"/>
              </a:rPr>
              <a:t>Extract locations that are discussed to search by business name, address, agency, permit type</a:t>
            </a:r>
            <a:endParaRPr sz="1600">
              <a:solidFill>
                <a:srgbClr val="304D80"/>
              </a:solidFill>
              <a:latin typeface="Lato"/>
              <a:ea typeface="Lato"/>
              <a:cs typeface="Lato"/>
              <a:sym typeface="Lato"/>
            </a:endParaRPr>
          </a:p>
          <a:p>
            <a:pPr indent="0" lvl="0" marL="0" rtl="0" algn="l">
              <a:spcBef>
                <a:spcPts val="600"/>
              </a:spcBef>
              <a:spcAft>
                <a:spcPts val="0"/>
              </a:spcAft>
              <a:buClr>
                <a:schemeClr val="dk1"/>
              </a:buClr>
              <a:buFont typeface="Arial"/>
              <a:buNone/>
            </a:pPr>
            <a:r>
              <a:t/>
            </a:r>
            <a:endParaRPr sz="1600">
              <a:solidFill>
                <a:srgbClr val="304D80"/>
              </a:solidFill>
              <a:latin typeface="Lato"/>
              <a:ea typeface="Lato"/>
              <a:cs typeface="Lato"/>
              <a:sym typeface="Lato"/>
            </a:endParaRPr>
          </a:p>
          <a:p>
            <a:pPr indent="0" lvl="0" marL="0" rtl="0" algn="l">
              <a:spcBef>
                <a:spcPts val="600"/>
              </a:spcBef>
              <a:spcAft>
                <a:spcPts val="0"/>
              </a:spcAft>
              <a:buClr>
                <a:schemeClr val="dk1"/>
              </a:buClr>
              <a:buFont typeface="Arial"/>
              <a:buNone/>
            </a:pPr>
            <a:r>
              <a:rPr lang="en" sz="1600">
                <a:solidFill>
                  <a:srgbClr val="304D80"/>
                </a:solidFill>
                <a:latin typeface="Lato"/>
                <a:ea typeface="Lato"/>
                <a:cs typeface="Lato"/>
                <a:sym typeface="Lato"/>
              </a:rPr>
              <a:t>Now we transition into Block Party’s newest feature and what we built:</a:t>
            </a:r>
            <a:endParaRPr sz="1600">
              <a:solidFill>
                <a:srgbClr val="304D80"/>
              </a:solidFill>
              <a:latin typeface="Lato"/>
              <a:ea typeface="Lato"/>
              <a:cs typeface="Lato"/>
              <a:sym typeface="Lato"/>
            </a:endParaRPr>
          </a:p>
        </p:txBody>
      </p:sp>
      <p:sp>
        <p:nvSpPr>
          <p:cNvPr id="465" name="Google Shape;465;g396972c77f0_0_26: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5" name="Shape 485"/>
        <p:cNvGrpSpPr/>
        <p:nvPr/>
      </p:nvGrpSpPr>
      <p:grpSpPr>
        <a:xfrm>
          <a:off x="0" y="0"/>
          <a:ext cx="0" cy="0"/>
          <a:chOff x="0" y="0"/>
          <a:chExt cx="0" cy="0"/>
        </a:xfrm>
      </p:grpSpPr>
      <p:sp>
        <p:nvSpPr>
          <p:cNvPr id="486" name="Google Shape;486;g3d01267bd33_0_0:notes"/>
          <p:cNvSpPr/>
          <p:nvPr>
            <p:ph idx="2" type="sldImg"/>
          </p:nvPr>
        </p:nvSpPr>
        <p:spPr>
          <a:xfrm>
            <a:off x="1143309"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487" name="Google Shape;487;g3d01267bd33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First we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3" name="Shape 493"/>
        <p:cNvGrpSpPr/>
        <p:nvPr/>
      </p:nvGrpSpPr>
      <p:grpSpPr>
        <a:xfrm>
          <a:off x="0" y="0"/>
          <a:ext cx="0" cy="0"/>
          <a:chOff x="0" y="0"/>
          <a:chExt cx="0" cy="0"/>
        </a:xfrm>
      </p:grpSpPr>
      <p:sp>
        <p:nvSpPr>
          <p:cNvPr id="494" name="Google Shape;494;g3ce2ab87c40_0_1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5" name="Google Shape;495;g3ce2ab87c40_0_148: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3" name="Shape 513"/>
        <p:cNvGrpSpPr/>
        <p:nvPr/>
      </p:nvGrpSpPr>
      <p:grpSpPr>
        <a:xfrm>
          <a:off x="0" y="0"/>
          <a:ext cx="0" cy="0"/>
          <a:chOff x="0" y="0"/>
          <a:chExt cx="0" cy="0"/>
        </a:xfrm>
      </p:grpSpPr>
      <p:sp>
        <p:nvSpPr>
          <p:cNvPr id="514" name="Google Shape;514;g3ce2ab87c40_0_16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Pause to ask if folks are familiar with vector embeddings</a:t>
            </a:r>
            <a:endParaRPr/>
          </a:p>
        </p:txBody>
      </p:sp>
      <p:sp>
        <p:nvSpPr>
          <p:cNvPr id="515" name="Google Shape;515;g3ce2ab87c40_0_168: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9" name="Shape 539"/>
        <p:cNvGrpSpPr/>
        <p:nvPr/>
      </p:nvGrpSpPr>
      <p:grpSpPr>
        <a:xfrm>
          <a:off x="0" y="0"/>
          <a:ext cx="0" cy="0"/>
          <a:chOff x="0" y="0"/>
          <a:chExt cx="0" cy="0"/>
        </a:xfrm>
      </p:grpSpPr>
      <p:sp>
        <p:nvSpPr>
          <p:cNvPr id="540" name="Google Shape;540;g3d1f982a191_0_128:notes"/>
          <p:cNvSpPr/>
          <p:nvPr>
            <p:ph idx="2" type="sldImg"/>
          </p:nvPr>
        </p:nvSpPr>
        <p:spPr>
          <a:xfrm>
            <a:off x="1143309"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541" name="Google Shape;541;g3d1f982a191_0_1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7" name="Shape 547"/>
        <p:cNvGrpSpPr/>
        <p:nvPr/>
      </p:nvGrpSpPr>
      <p:grpSpPr>
        <a:xfrm>
          <a:off x="0" y="0"/>
          <a:ext cx="0" cy="0"/>
          <a:chOff x="0" y="0"/>
          <a:chExt cx="0" cy="0"/>
        </a:xfrm>
      </p:grpSpPr>
      <p:sp>
        <p:nvSpPr>
          <p:cNvPr id="548" name="Google Shape;548;g39632e5ac8b_0_38:notes"/>
          <p:cNvSpPr/>
          <p:nvPr>
            <p:ph idx="2" type="sldImg"/>
          </p:nvPr>
        </p:nvSpPr>
        <p:spPr>
          <a:xfrm>
            <a:off x="1143309"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549" name="Google Shape;549;g39632e5ac8b_0_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Who wants to read this?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4" name="Shape 554"/>
        <p:cNvGrpSpPr/>
        <p:nvPr/>
      </p:nvGrpSpPr>
      <p:grpSpPr>
        <a:xfrm>
          <a:off x="0" y="0"/>
          <a:ext cx="0" cy="0"/>
          <a:chOff x="0" y="0"/>
          <a:chExt cx="0" cy="0"/>
        </a:xfrm>
      </p:grpSpPr>
      <p:sp>
        <p:nvSpPr>
          <p:cNvPr id="555" name="Google Shape;555;g3d1f982a191_0_184:notes"/>
          <p:cNvSpPr/>
          <p:nvPr>
            <p:ph idx="2" type="sldImg"/>
          </p:nvPr>
        </p:nvSpPr>
        <p:spPr>
          <a:xfrm>
            <a:off x="1143309"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556" name="Google Shape;556;g3d1f982a191_0_18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We created a summary from the full resolution text in order to make the information more accessible. Here is what the full resolution looked like</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7" name="Shape 567"/>
        <p:cNvGrpSpPr/>
        <p:nvPr/>
      </p:nvGrpSpPr>
      <p:grpSpPr>
        <a:xfrm>
          <a:off x="0" y="0"/>
          <a:ext cx="0" cy="0"/>
          <a:chOff x="0" y="0"/>
          <a:chExt cx="0" cy="0"/>
        </a:xfrm>
      </p:grpSpPr>
      <p:sp>
        <p:nvSpPr>
          <p:cNvPr id="568" name="Google Shape;568;g3d1f982a191_0_206:notes"/>
          <p:cNvSpPr/>
          <p:nvPr>
            <p:ph idx="2" type="sldImg"/>
          </p:nvPr>
        </p:nvSpPr>
        <p:spPr>
          <a:xfrm>
            <a:off x="1143309"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569" name="Google Shape;569;g3d1f982a191_0_20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7" name="Shape 577"/>
        <p:cNvGrpSpPr/>
        <p:nvPr/>
      </p:nvGrpSpPr>
      <p:grpSpPr>
        <a:xfrm>
          <a:off x="0" y="0"/>
          <a:ext cx="0" cy="0"/>
          <a:chOff x="0" y="0"/>
          <a:chExt cx="0" cy="0"/>
        </a:xfrm>
      </p:grpSpPr>
      <p:sp>
        <p:nvSpPr>
          <p:cNvPr id="578" name="Google Shape;578;g39632e5ac8b_0_45:notes"/>
          <p:cNvSpPr/>
          <p:nvPr>
            <p:ph idx="2" type="sldImg"/>
          </p:nvPr>
        </p:nvSpPr>
        <p:spPr>
          <a:xfrm>
            <a:off x="1143309"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579" name="Google Shape;579;g39632e5ac8b_0_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2" name="Shape 592"/>
        <p:cNvGrpSpPr/>
        <p:nvPr/>
      </p:nvGrpSpPr>
      <p:grpSpPr>
        <a:xfrm>
          <a:off x="0" y="0"/>
          <a:ext cx="0" cy="0"/>
          <a:chOff x="0" y="0"/>
          <a:chExt cx="0" cy="0"/>
        </a:xfrm>
      </p:grpSpPr>
      <p:sp>
        <p:nvSpPr>
          <p:cNvPr id="593" name="Google Shape;593;g396972c77f0_0_48:notes"/>
          <p:cNvSpPr/>
          <p:nvPr>
            <p:ph idx="2" type="sldImg"/>
          </p:nvPr>
        </p:nvSpPr>
        <p:spPr>
          <a:xfrm>
            <a:off x="1143309"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594" name="Google Shape;594;g396972c77f0_0_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0" name="Shape 610"/>
        <p:cNvGrpSpPr/>
        <p:nvPr/>
      </p:nvGrpSpPr>
      <p:grpSpPr>
        <a:xfrm>
          <a:off x="0" y="0"/>
          <a:ext cx="0" cy="0"/>
          <a:chOff x="0" y="0"/>
          <a:chExt cx="0" cy="0"/>
        </a:xfrm>
      </p:grpSpPr>
      <p:sp>
        <p:nvSpPr>
          <p:cNvPr id="611" name="Google Shape;611;g39632e5ac8b_0_113:notes"/>
          <p:cNvSpPr/>
          <p:nvPr>
            <p:ph idx="2" type="sldImg"/>
          </p:nvPr>
        </p:nvSpPr>
        <p:spPr>
          <a:xfrm>
            <a:off x="1143300"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612" name="Google Shape;612;g39632e5ac8b_0_1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sz="1400">
                <a:latin typeface="Roboto Mono"/>
                <a:ea typeface="Roboto Mono"/>
                <a:cs typeface="Roboto Mono"/>
                <a:sym typeface="Roboto Mono"/>
              </a:rPr>
              <a:t>We would love to connect - come join the party and sign-up to stay updated on conversations happening in your community board, or search through our archive mode for stories and insight.</a:t>
            </a:r>
            <a:endParaRPr sz="1400">
              <a:latin typeface="Roboto Mono"/>
              <a:ea typeface="Roboto Mono"/>
              <a:cs typeface="Roboto Mono"/>
              <a:sym typeface="Roboto Mono"/>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2" name="Shape 622"/>
        <p:cNvGrpSpPr/>
        <p:nvPr/>
      </p:nvGrpSpPr>
      <p:grpSpPr>
        <a:xfrm>
          <a:off x="0" y="0"/>
          <a:ext cx="0" cy="0"/>
          <a:chOff x="0" y="0"/>
          <a:chExt cx="0" cy="0"/>
        </a:xfrm>
      </p:grpSpPr>
      <p:sp>
        <p:nvSpPr>
          <p:cNvPr id="623" name="Google Shape;623;g3f810af3937_0_2:notes"/>
          <p:cNvSpPr/>
          <p:nvPr>
            <p:ph idx="2" type="sldImg"/>
          </p:nvPr>
        </p:nvSpPr>
        <p:spPr>
          <a:xfrm>
            <a:off x="1143309"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624" name="Google Shape;624;g3f810af3937_0_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298450" lvl="0" marL="457200" rtl="0" algn="l">
              <a:lnSpc>
                <a:spcPct val="100000"/>
              </a:lnSpc>
              <a:spcBef>
                <a:spcPts val="0"/>
              </a:spcBef>
              <a:spcAft>
                <a:spcPts val="0"/>
              </a:spcAft>
              <a:buSzPts val="1100"/>
              <a:buChar char="●"/>
            </a:pPr>
            <a:r>
              <a:rPr lang="en" sz="1100"/>
              <a:t>Quick recap of the March state: everything you just saw ran on one board, MCB3, with hand-run scripts and a parser that knew exactly one document format. The closing slide of the original talk asked how we would ever generalize it. This new section is a progress report on exactly that question.</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9" name="Shape 629"/>
        <p:cNvGrpSpPr/>
        <p:nvPr/>
      </p:nvGrpSpPr>
      <p:grpSpPr>
        <a:xfrm>
          <a:off x="0" y="0"/>
          <a:ext cx="0" cy="0"/>
          <a:chOff x="0" y="0"/>
          <a:chExt cx="0" cy="0"/>
        </a:xfrm>
      </p:grpSpPr>
      <p:sp>
        <p:nvSpPr>
          <p:cNvPr id="630" name="Google Shape;630;g3f810af3937_0_9:notes"/>
          <p:cNvSpPr/>
          <p:nvPr>
            <p:ph idx="2" type="sldImg"/>
          </p:nvPr>
        </p:nvSpPr>
        <p:spPr>
          <a:xfrm>
            <a:off x="1143309"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631" name="Google Shape;631;g3f810af3937_0_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298450" lvl="0" marL="457200" rtl="0" algn="l">
              <a:lnSpc>
                <a:spcPct val="100000"/>
              </a:lnSpc>
              <a:spcBef>
                <a:spcPts val="0"/>
              </a:spcBef>
              <a:spcAft>
                <a:spcPts val="0"/>
              </a:spcAft>
              <a:buSzPts val="1100"/>
              <a:buChar char="●"/>
            </a:pPr>
            <a:r>
              <a:rPr lang="en" sz="1100"/>
              <a:t>The big decision: stop patching scripts and build the pipeline the scaffolding always implied. One domain object with a validated lifecycle, board behavior expressed as YAML config, and a CLI so every operation is repeatable. 131 tests mean a parser change on one board cannot silently break another.</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8" name="Shape 638"/>
        <p:cNvGrpSpPr/>
        <p:nvPr/>
      </p:nvGrpSpPr>
      <p:grpSpPr>
        <a:xfrm>
          <a:off x="0" y="0"/>
          <a:ext cx="0" cy="0"/>
          <a:chOff x="0" y="0"/>
          <a:chExt cx="0" cy="0"/>
        </a:xfrm>
      </p:grpSpPr>
      <p:sp>
        <p:nvSpPr>
          <p:cNvPr id="639" name="Google Shape;639;g3f810af3937_0_18:notes"/>
          <p:cNvSpPr/>
          <p:nvPr>
            <p:ph idx="2" type="sldImg"/>
          </p:nvPr>
        </p:nvSpPr>
        <p:spPr>
          <a:xfrm>
            <a:off x="1143309"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640" name="Google Shape;640;g3f810af3937_0_1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298450" lvl="0" marL="457200" rtl="0" algn="l">
              <a:lnSpc>
                <a:spcPct val="100000"/>
              </a:lnSpc>
              <a:spcBef>
                <a:spcPts val="0"/>
              </a:spcBef>
              <a:spcAft>
                <a:spcPts val="0"/>
              </a:spcAft>
              <a:buSzPts val="1100"/>
              <a:buChar char="●"/>
            </a:pPr>
            <a:r>
              <a:rPr lang="en" sz="1100"/>
              <a:t>The core insight of the scale-up: boards differ most in where their documents live, not what the documents say. So discovery became a pluggable adapter. Five adapters now cover every hosting pattern we have met across Manhattan: city-hosted PDFs, WordPress sites, a Google Drive folder, the Internet Archive, and Airtable.</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5" name="Shape 645"/>
        <p:cNvGrpSpPr/>
        <p:nvPr/>
      </p:nvGrpSpPr>
      <p:grpSpPr>
        <a:xfrm>
          <a:off x="0" y="0"/>
          <a:ext cx="0" cy="0"/>
          <a:chOff x="0" y="0"/>
          <a:chExt cx="0" cy="0"/>
        </a:xfrm>
      </p:grpSpPr>
      <p:sp>
        <p:nvSpPr>
          <p:cNvPr id="646" name="Google Shape;646;g3f810af3937_0_25:notes"/>
          <p:cNvSpPr/>
          <p:nvPr>
            <p:ph idx="2" type="sldImg"/>
          </p:nvPr>
        </p:nvSpPr>
        <p:spPr>
          <a:xfrm>
            <a:off x="1143309"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647" name="Google Shape;647;g3f810af3937_0_2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298450" lvl="0" marL="457200" rtl="0" algn="l">
              <a:lnSpc>
                <a:spcPct val="100000"/>
              </a:lnSpc>
              <a:spcBef>
                <a:spcPts val="0"/>
              </a:spcBef>
              <a:spcAft>
                <a:spcPts val="0"/>
              </a:spcAft>
              <a:buSzPts val="1100"/>
              <a:buChar char="●"/>
            </a:pPr>
            <a:r>
              <a:rPr lang="en" sz="1100"/>
              <a:t>Crowd-pleaser slide: the weird finds. A Drive folder ID excavated from a React bundle, the Internet Archive as a side door past Cloudflare, and 1997-era board letters. Also the honest part: scanned PDFs and Airtable token scopes are still open blockers for four boards.</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4" name="Shape 654"/>
        <p:cNvGrpSpPr/>
        <p:nvPr/>
      </p:nvGrpSpPr>
      <p:grpSpPr>
        <a:xfrm>
          <a:off x="0" y="0"/>
          <a:ext cx="0" cy="0"/>
          <a:chOff x="0" y="0"/>
          <a:chExt cx="0" cy="0"/>
        </a:xfrm>
      </p:grpSpPr>
      <p:sp>
        <p:nvSpPr>
          <p:cNvPr id="655" name="Google Shape;655;g3f810af3937_0_33:notes"/>
          <p:cNvSpPr/>
          <p:nvPr>
            <p:ph idx="2" type="sldImg"/>
          </p:nvPr>
        </p:nvSpPr>
        <p:spPr>
          <a:xfrm>
            <a:off x="1143309"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656" name="Google Shape;656;g3f810af3937_0_3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298450" lvl="0" marL="457200" rtl="0" algn="l">
              <a:lnSpc>
                <a:spcPct val="100000"/>
              </a:lnSpc>
              <a:spcBef>
                <a:spcPts val="0"/>
              </a:spcBef>
              <a:spcAft>
                <a:spcPts val="0"/>
              </a:spcAft>
              <a:buSzPts val="1100"/>
              <a:buChar char="●"/>
            </a:pPr>
            <a:r>
              <a:rPr lang="en" sz="1100"/>
              <a:t>The March pipeline was pure regex, which fails silently when a board changes its format. The rewrite made extraction hybrid: regex handles the standard cases for free, quality heuristics catch the failures, and Claude extracts the hard documents. The 5% dual-parse sample is the insurance policy: drift shows up as a comparison diff before it becomes bad data.</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3" name="Shape 663"/>
        <p:cNvGrpSpPr/>
        <p:nvPr/>
      </p:nvGrpSpPr>
      <p:grpSpPr>
        <a:xfrm>
          <a:off x="0" y="0"/>
          <a:ext cx="0" cy="0"/>
          <a:chOff x="0" y="0"/>
          <a:chExt cx="0" cy="0"/>
        </a:xfrm>
      </p:grpSpPr>
      <p:sp>
        <p:nvSpPr>
          <p:cNvPr id="664" name="Google Shape;664;g3f810af3937_0_41:notes"/>
          <p:cNvSpPr/>
          <p:nvPr>
            <p:ph idx="2" type="sldImg"/>
          </p:nvPr>
        </p:nvSpPr>
        <p:spPr>
          <a:xfrm>
            <a:off x="1143309"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665" name="Google Shape;665;g3f810af3937_0_4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298450" lvl="0" marL="457200" rtl="0" algn="l">
              <a:lnSpc>
                <a:spcPct val="100000"/>
              </a:lnSpc>
              <a:spcBef>
                <a:spcPts val="0"/>
              </a:spcBef>
              <a:spcAft>
                <a:spcPts val="0"/>
              </a:spcAft>
              <a:buSzPts val="1100"/>
              <a:buChar char="●"/>
            </a:pPr>
            <a:r>
              <a:rPr lang="en" sz="1100"/>
              <a:t>This is where most of the real hours went. MCB3 trained us on one dialect of the resolution format; the other boards each speak their own. The loop that worked: pull a sample, fix the parser, re-dump the board, record the change in a scorecard. The metrics here are from that ledger: letterhead contamination down from 83% of rows to 1%, empty-body rows from 76% to 8%.</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1" name="Shape 671"/>
        <p:cNvGrpSpPr/>
        <p:nvPr/>
      </p:nvGrpSpPr>
      <p:grpSpPr>
        <a:xfrm>
          <a:off x="0" y="0"/>
          <a:ext cx="0" cy="0"/>
          <a:chOff x="0" y="0"/>
          <a:chExt cx="0" cy="0"/>
        </a:xfrm>
      </p:grpSpPr>
      <p:sp>
        <p:nvSpPr>
          <p:cNvPr id="672" name="Google Shape;672;g3f810af3937_0_48:notes"/>
          <p:cNvSpPr/>
          <p:nvPr>
            <p:ph idx="2" type="sldImg"/>
          </p:nvPr>
        </p:nvSpPr>
        <p:spPr>
          <a:xfrm>
            <a:off x="1143309"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673" name="Google Shape;673;g3f810af3937_0_4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298450" lvl="0" marL="457200" rtl="0" algn="l">
              <a:lnSpc>
                <a:spcPct val="100000"/>
              </a:lnSpc>
              <a:spcBef>
                <a:spcPts val="0"/>
              </a:spcBef>
              <a:spcAft>
                <a:spcPts val="0"/>
              </a:spcAft>
              <a:buSzPts val="1100"/>
              <a:buChar char="●"/>
            </a:pPr>
            <a:r>
              <a:rPr lang="en" sz="1100"/>
              <a:t>The record itself got richer. Where March gave us a title, clauses, and a vote, each resolution now keeps its verbatim source text with provenance, a structured three-field summary written by Claude Haiku in exactly the shape the Block Party site displays, full vote breakdowns, and 3,072-dimension embeddings for semantic search.</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2" name="Shape 682"/>
        <p:cNvGrpSpPr/>
        <p:nvPr/>
      </p:nvGrpSpPr>
      <p:grpSpPr>
        <a:xfrm>
          <a:off x="0" y="0"/>
          <a:ext cx="0" cy="0"/>
          <a:chOff x="0" y="0"/>
          <a:chExt cx="0" cy="0"/>
        </a:xfrm>
      </p:grpSpPr>
      <p:sp>
        <p:nvSpPr>
          <p:cNvPr id="683" name="Google Shape;683;g3f810af3937_0_58:notes"/>
          <p:cNvSpPr/>
          <p:nvPr>
            <p:ph idx="2" type="sldImg"/>
          </p:nvPr>
        </p:nvSpPr>
        <p:spPr>
          <a:xfrm>
            <a:off x="1143309"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684" name="Google Shape;684;g3f810af3937_0_5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298450" lvl="0" marL="457200" rtl="0" algn="l">
              <a:lnSpc>
                <a:spcPct val="100000"/>
              </a:lnSpc>
              <a:spcBef>
                <a:spcPts val="0"/>
              </a:spcBef>
              <a:spcAft>
                <a:spcPts val="0"/>
              </a:spcAft>
              <a:buSzPts val="1100"/>
              <a:buChar char="●"/>
            </a:pPr>
            <a:r>
              <a:rPr lang="en" sz="1100"/>
              <a:t>None of this is glamorous, and all of it is the difference between a demo and a system. Supabase with pgvector is the single source of truth, schema changes are migrations, UUIDs survive re-runs so nothing downstream breaks, and a weekly GitHub Actions cron does the whole chain unattended. The bugs the cron surfaced are all regression tests now.</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0" name="Shape 690"/>
        <p:cNvGrpSpPr/>
        <p:nvPr/>
      </p:nvGrpSpPr>
      <p:grpSpPr>
        <a:xfrm>
          <a:off x="0" y="0"/>
          <a:ext cx="0" cy="0"/>
          <a:chOff x="0" y="0"/>
          <a:chExt cx="0" cy="0"/>
        </a:xfrm>
      </p:grpSpPr>
      <p:sp>
        <p:nvSpPr>
          <p:cNvPr id="691" name="Google Shape;691;g3f810af3937_0_65:notes"/>
          <p:cNvSpPr/>
          <p:nvPr>
            <p:ph idx="2" type="sldImg"/>
          </p:nvPr>
        </p:nvSpPr>
        <p:spPr>
          <a:xfrm>
            <a:off x="1143309"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692" name="Google Shape;692;g3f810af3937_0_6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298450" lvl="0" marL="457200" rtl="0" algn="l">
              <a:lnSpc>
                <a:spcPct val="100000"/>
              </a:lnSpc>
              <a:spcBef>
                <a:spcPts val="0"/>
              </a:spcBef>
              <a:spcAft>
                <a:spcPts val="0"/>
              </a:spcAft>
              <a:buSzPts val="1100"/>
              <a:buChar char="●"/>
            </a:pPr>
            <a:r>
              <a:rPr lang="en" sz="1100"/>
              <a:t>The headline numbers as of July 11: seven boards, 20,287 resolutions, 1,794 meetings, 66,523 searchable text chunks. MCB4’s letter archive turned out to reach back to 1997, the deepest history we have. The corpus tripled in about three months, and every number on this slide comes from the per-board scorecard, not from memory.</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1" name="Shape 701"/>
        <p:cNvGrpSpPr/>
        <p:nvPr/>
      </p:nvGrpSpPr>
      <p:grpSpPr>
        <a:xfrm>
          <a:off x="0" y="0"/>
          <a:ext cx="0" cy="0"/>
          <a:chOff x="0" y="0"/>
          <a:chExt cx="0" cy="0"/>
        </a:xfrm>
      </p:grpSpPr>
      <p:sp>
        <p:nvSpPr>
          <p:cNvPr id="702" name="Google Shape;702;g3f810af3937_0_75:notes"/>
          <p:cNvSpPr/>
          <p:nvPr>
            <p:ph idx="2" type="sldImg"/>
          </p:nvPr>
        </p:nvSpPr>
        <p:spPr>
          <a:xfrm>
            <a:off x="1143309"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703" name="Google Shape;703;g3f810af3937_0_7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298450" lvl="0" marL="457200" rtl="0" algn="l">
              <a:lnSpc>
                <a:spcPct val="100000"/>
              </a:lnSpc>
              <a:spcBef>
                <a:spcPts val="0"/>
              </a:spcBef>
              <a:spcAft>
                <a:spcPts val="0"/>
              </a:spcAft>
              <a:buSzPts val="1100"/>
              <a:buChar char="●"/>
            </a:pPr>
            <a:r>
              <a:rPr lang="en" sz="1100"/>
              <a:t>The full honest picture. Seven boards extracted and browsable. Three gated on Airtable access, two of those because we literally cannot find their bases. One needs OCR before it gets a fair parse. One is partial behind Cloudflare. The project rule is on the slide: no backfilled numbers, a blank beats a guess.</a:t>
            </a: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1" name="Shape 711"/>
        <p:cNvGrpSpPr/>
        <p:nvPr/>
      </p:nvGrpSpPr>
      <p:grpSpPr>
        <a:xfrm>
          <a:off x="0" y="0"/>
          <a:ext cx="0" cy="0"/>
          <a:chOff x="0" y="0"/>
          <a:chExt cx="0" cy="0"/>
        </a:xfrm>
      </p:grpSpPr>
      <p:sp>
        <p:nvSpPr>
          <p:cNvPr id="712" name="Google Shape;712;g3f810af3937_0_84:notes"/>
          <p:cNvSpPr/>
          <p:nvPr>
            <p:ph idx="2" type="sldImg"/>
          </p:nvPr>
        </p:nvSpPr>
        <p:spPr>
          <a:xfrm>
            <a:off x="1143309"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713" name="Google Shape;713;g3f810af3937_0_8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298450" lvl="0" marL="457200" rtl="0" algn="l">
              <a:lnSpc>
                <a:spcPct val="100000"/>
              </a:lnSpc>
              <a:spcBef>
                <a:spcPts val="0"/>
              </a:spcBef>
              <a:spcAft>
                <a:spcPts val="0"/>
              </a:spcAft>
              <a:buSzPts val="1100"/>
              <a:buChar char="●"/>
            </a:pPr>
            <a:r>
              <a:rPr lang="en" sz="1100"/>
              <a:t>If you take one meta-lesson from this section: civic data work is archaeology plus software engineering. The web under these documents is actively decaying, the formats mislead, and the counts deceive. What worked was treating quality as a loop and writing every methodology decision into a ledger that outlives any one contributor’s memory.</a:t>
            </a: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7" name="Shape 717"/>
        <p:cNvGrpSpPr/>
        <p:nvPr/>
      </p:nvGrpSpPr>
      <p:grpSpPr>
        <a:xfrm>
          <a:off x="0" y="0"/>
          <a:ext cx="0" cy="0"/>
          <a:chOff x="0" y="0"/>
          <a:chExt cx="0" cy="0"/>
        </a:xfrm>
      </p:grpSpPr>
      <p:sp>
        <p:nvSpPr>
          <p:cNvPr id="718" name="Google Shape;718;g3f810af3937_0_89:notes"/>
          <p:cNvSpPr/>
          <p:nvPr>
            <p:ph idx="2" type="sldImg"/>
          </p:nvPr>
        </p:nvSpPr>
        <p:spPr>
          <a:xfrm>
            <a:off x="1143309"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719" name="Google Shape;719;g3f810af3937_0_8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298450" lvl="0" marL="457200" rtl="0" algn="l">
              <a:lnSpc>
                <a:spcPct val="100000"/>
              </a:lnSpc>
              <a:spcBef>
                <a:spcPts val="0"/>
              </a:spcBef>
              <a:spcAft>
                <a:spcPts val="0"/>
              </a:spcAft>
              <a:buSzPts val="1100"/>
              <a:buChar char="●"/>
            </a:pPr>
            <a:r>
              <a:rPr lang="en" sz="1100"/>
              <a:t>The near-term list is concrete: push the CSV-stage boards into the production database with full embeddings and summaries, clear the four blocked boards, and ship cross-board semantic search on the live site. The adapter architecture was always aimed at 59 boards; Manhattan was the proving ground.</a:t>
            </a: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4" name="Shape 724"/>
        <p:cNvGrpSpPr/>
        <p:nvPr/>
      </p:nvGrpSpPr>
      <p:grpSpPr>
        <a:xfrm>
          <a:off x="0" y="0"/>
          <a:ext cx="0" cy="0"/>
          <a:chOff x="0" y="0"/>
          <a:chExt cx="0" cy="0"/>
        </a:xfrm>
      </p:grpSpPr>
      <p:sp>
        <p:nvSpPr>
          <p:cNvPr id="725" name="Google Shape;725;g3ce2ab87c40_0_36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sz="1400">
                <a:solidFill>
                  <a:schemeClr val="dk1"/>
                </a:solidFill>
              </a:rPr>
              <a:t>Please look through it and give us ideas, and </a:t>
            </a:r>
            <a:endParaRPr sz="1400">
              <a:solidFill>
                <a:schemeClr val="dk1"/>
              </a:solidFill>
            </a:endParaRPr>
          </a:p>
          <a:p>
            <a:pPr indent="0" lvl="0" marL="0" rtl="0" algn="ctr">
              <a:spcBef>
                <a:spcPts val="0"/>
              </a:spcBef>
              <a:spcAft>
                <a:spcPts val="0"/>
              </a:spcAft>
              <a:buClr>
                <a:schemeClr val="dk1"/>
              </a:buClr>
              <a:buSzPts val="1100"/>
              <a:buFont typeface="Arial"/>
              <a:buNone/>
            </a:pPr>
            <a:r>
              <a:rPr lang="en" sz="1400">
                <a:solidFill>
                  <a:schemeClr val="dk1"/>
                </a:solidFill>
              </a:rPr>
              <a:t>Sign up for email - subscribe</a:t>
            </a:r>
            <a:endParaRPr sz="1400">
              <a:solidFill>
                <a:schemeClr val="dk1"/>
              </a:solidFill>
            </a:endParaRPr>
          </a:p>
          <a:p>
            <a:pPr indent="0" lvl="0" marL="0" rtl="0" algn="ctr">
              <a:spcBef>
                <a:spcPts val="0"/>
              </a:spcBef>
              <a:spcAft>
                <a:spcPts val="0"/>
              </a:spcAft>
              <a:buClr>
                <a:schemeClr val="dk1"/>
              </a:buClr>
              <a:buSzPts val="1100"/>
              <a:buFont typeface="Arial"/>
              <a:buNone/>
            </a:pPr>
            <a:r>
              <a:rPr lang="en" sz="1400">
                <a:solidFill>
                  <a:schemeClr val="dk1"/>
                </a:solidFill>
              </a:rPr>
              <a:t>Read Tal’s substack! He writes about newsletters about Community Boards</a:t>
            </a:r>
            <a:endParaRPr sz="1400">
              <a:solidFill>
                <a:schemeClr val="dk1"/>
              </a:solidFill>
            </a:endParaRPr>
          </a:p>
          <a:p>
            <a:pPr indent="0" lvl="0" marL="0" rtl="0" algn="ctr">
              <a:spcBef>
                <a:spcPts val="0"/>
              </a:spcBef>
              <a:spcAft>
                <a:spcPts val="0"/>
              </a:spcAft>
              <a:buClr>
                <a:schemeClr val="dk1"/>
              </a:buClr>
              <a:buSzPts val="1100"/>
              <a:buFont typeface="Arial"/>
              <a:buNone/>
            </a:pPr>
            <a:r>
              <a:t/>
            </a:r>
            <a:endParaRPr sz="1400">
              <a:solidFill>
                <a:schemeClr val="dk1"/>
              </a:solidFill>
            </a:endParaRPr>
          </a:p>
          <a:p>
            <a:pPr indent="0" lvl="0" marL="0" rtl="0" algn="ctr">
              <a:spcBef>
                <a:spcPts val="0"/>
              </a:spcBef>
              <a:spcAft>
                <a:spcPts val="0"/>
              </a:spcAft>
              <a:buClr>
                <a:schemeClr val="dk1"/>
              </a:buClr>
              <a:buSzPts val="1100"/>
              <a:buFont typeface="Arial"/>
              <a:buNone/>
            </a:pPr>
            <a:r>
              <a:rPr lang="en" sz="1400">
                <a:solidFill>
                  <a:schemeClr val="dk1"/>
                </a:solidFill>
              </a:rPr>
              <a:t>Go to a committee meeting!</a:t>
            </a:r>
            <a:endParaRPr sz="1200">
              <a:solidFill>
                <a:schemeClr val="dk1"/>
              </a:solidFill>
              <a:latin typeface="Lato"/>
              <a:ea typeface="Lato"/>
              <a:cs typeface="Lato"/>
              <a:sym typeface="Lato"/>
            </a:endParaRPr>
          </a:p>
          <a:p>
            <a:pPr indent="0" lvl="0" marL="0" rtl="0" algn="l">
              <a:spcBef>
                <a:spcPts val="0"/>
              </a:spcBef>
              <a:spcAft>
                <a:spcPts val="0"/>
              </a:spcAft>
              <a:buNone/>
            </a:pPr>
            <a:r>
              <a:t/>
            </a:r>
            <a:endParaRPr>
              <a:solidFill>
                <a:schemeClr val="dk1"/>
              </a:solidFill>
            </a:endParaRPr>
          </a:p>
        </p:txBody>
      </p:sp>
      <p:sp>
        <p:nvSpPr>
          <p:cNvPr id="726" name="Google Shape;726;g3ce2ab87c40_0_36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rgbClr val="120844"/>
        </a:solidFill>
      </p:bgPr>
    </p:bg>
    <p:spTree>
      <p:nvGrpSpPr>
        <p:cNvPr id="9" name="Shape 9"/>
        <p:cNvGrpSpPr/>
        <p:nvPr/>
      </p:nvGrpSpPr>
      <p:grpSpPr>
        <a:xfrm>
          <a:off x="0" y="0"/>
          <a:ext cx="0" cy="0"/>
          <a:chOff x="0" y="0"/>
          <a:chExt cx="0" cy="0"/>
        </a:xfrm>
      </p:grpSpPr>
      <p:sp>
        <p:nvSpPr>
          <p:cNvPr id="10" name="Google Shape;10;p2"/>
          <p:cNvSpPr txBox="1"/>
          <p:nvPr>
            <p:ph idx="12" type="sldNum"/>
          </p:nvPr>
        </p:nvSpPr>
        <p:spPr>
          <a:xfrm>
            <a:off x="8472458" y="6217622"/>
            <a:ext cx="548700" cy="5247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grpSp>
        <p:nvGrpSpPr>
          <p:cNvPr id="11" name="Google Shape;11;p2"/>
          <p:cNvGrpSpPr/>
          <p:nvPr/>
        </p:nvGrpSpPr>
        <p:grpSpPr>
          <a:xfrm>
            <a:off x="-864112" y="-477312"/>
            <a:ext cx="10872219" cy="7812618"/>
            <a:chOff x="-935000" y="-18124"/>
            <a:chExt cx="10872219" cy="7812618"/>
          </a:xfrm>
        </p:grpSpPr>
        <p:grpSp>
          <p:nvGrpSpPr>
            <p:cNvPr id="12" name="Google Shape;12;p2"/>
            <p:cNvGrpSpPr/>
            <p:nvPr/>
          </p:nvGrpSpPr>
          <p:grpSpPr>
            <a:xfrm>
              <a:off x="-391894" y="5596825"/>
              <a:ext cx="9785975" cy="1261179"/>
              <a:chOff x="456788" y="3305401"/>
              <a:chExt cx="8230425" cy="1060705"/>
            </a:xfrm>
          </p:grpSpPr>
          <p:pic>
            <p:nvPicPr>
              <p:cNvPr id="13" name="Google Shape;13;p2"/>
              <p:cNvPicPr preferRelativeResize="0"/>
              <p:nvPr/>
            </p:nvPicPr>
            <p:blipFill>
              <a:blip r:embed="rId2">
                <a:alphaModFix/>
              </a:blip>
              <a:stretch>
                <a:fillRect/>
              </a:stretch>
            </p:blipFill>
            <p:spPr>
              <a:xfrm>
                <a:off x="3200363" y="3305401"/>
                <a:ext cx="916063" cy="1060705"/>
              </a:xfrm>
              <a:prstGeom prst="rect">
                <a:avLst/>
              </a:prstGeom>
              <a:noFill/>
              <a:ln>
                <a:noFill/>
              </a:ln>
            </p:spPr>
          </p:pic>
          <p:pic>
            <p:nvPicPr>
              <p:cNvPr id="14" name="Google Shape;14;p2"/>
              <p:cNvPicPr preferRelativeResize="0"/>
              <p:nvPr/>
            </p:nvPicPr>
            <p:blipFill>
              <a:blip r:embed="rId2">
                <a:alphaModFix/>
              </a:blip>
              <a:stretch>
                <a:fillRect/>
              </a:stretch>
            </p:blipFill>
            <p:spPr>
              <a:xfrm>
                <a:off x="4113963" y="3305401"/>
                <a:ext cx="916063" cy="1060705"/>
              </a:xfrm>
              <a:prstGeom prst="rect">
                <a:avLst/>
              </a:prstGeom>
              <a:noFill/>
              <a:ln>
                <a:noFill/>
              </a:ln>
            </p:spPr>
          </p:pic>
          <p:pic>
            <p:nvPicPr>
              <p:cNvPr id="15" name="Google Shape;15;p2"/>
              <p:cNvPicPr preferRelativeResize="0"/>
              <p:nvPr/>
            </p:nvPicPr>
            <p:blipFill>
              <a:blip r:embed="rId2">
                <a:alphaModFix/>
              </a:blip>
              <a:stretch>
                <a:fillRect/>
              </a:stretch>
            </p:blipFill>
            <p:spPr>
              <a:xfrm>
                <a:off x="5027563" y="3305401"/>
                <a:ext cx="916063" cy="1060705"/>
              </a:xfrm>
              <a:prstGeom prst="rect">
                <a:avLst/>
              </a:prstGeom>
              <a:noFill/>
              <a:ln>
                <a:noFill/>
              </a:ln>
            </p:spPr>
          </p:pic>
          <p:pic>
            <p:nvPicPr>
              <p:cNvPr id="16" name="Google Shape;16;p2"/>
              <p:cNvPicPr preferRelativeResize="0"/>
              <p:nvPr/>
            </p:nvPicPr>
            <p:blipFill>
              <a:blip r:embed="rId2">
                <a:alphaModFix/>
              </a:blip>
              <a:stretch>
                <a:fillRect/>
              </a:stretch>
            </p:blipFill>
            <p:spPr>
              <a:xfrm>
                <a:off x="5941175" y="3305401"/>
                <a:ext cx="916063" cy="1060705"/>
              </a:xfrm>
              <a:prstGeom prst="rect">
                <a:avLst/>
              </a:prstGeom>
              <a:noFill/>
              <a:ln>
                <a:noFill/>
              </a:ln>
            </p:spPr>
          </p:pic>
          <p:pic>
            <p:nvPicPr>
              <p:cNvPr id="17" name="Google Shape;17;p2"/>
              <p:cNvPicPr preferRelativeResize="0"/>
              <p:nvPr/>
            </p:nvPicPr>
            <p:blipFill>
              <a:blip r:embed="rId2">
                <a:alphaModFix/>
              </a:blip>
              <a:stretch>
                <a:fillRect/>
              </a:stretch>
            </p:blipFill>
            <p:spPr>
              <a:xfrm>
                <a:off x="456788" y="3305401"/>
                <a:ext cx="916063" cy="1060705"/>
              </a:xfrm>
              <a:prstGeom prst="rect">
                <a:avLst/>
              </a:prstGeom>
              <a:noFill/>
              <a:ln>
                <a:noFill/>
              </a:ln>
            </p:spPr>
          </p:pic>
          <p:pic>
            <p:nvPicPr>
              <p:cNvPr id="18" name="Google Shape;18;p2"/>
              <p:cNvPicPr preferRelativeResize="0"/>
              <p:nvPr/>
            </p:nvPicPr>
            <p:blipFill>
              <a:blip r:embed="rId2">
                <a:alphaModFix/>
              </a:blip>
              <a:stretch>
                <a:fillRect/>
              </a:stretch>
            </p:blipFill>
            <p:spPr>
              <a:xfrm>
                <a:off x="1370388" y="3305401"/>
                <a:ext cx="916063" cy="1060705"/>
              </a:xfrm>
              <a:prstGeom prst="rect">
                <a:avLst/>
              </a:prstGeom>
              <a:noFill/>
              <a:ln>
                <a:noFill/>
              </a:ln>
            </p:spPr>
          </p:pic>
          <p:pic>
            <p:nvPicPr>
              <p:cNvPr id="19" name="Google Shape;19;p2"/>
              <p:cNvPicPr preferRelativeResize="0"/>
              <p:nvPr/>
            </p:nvPicPr>
            <p:blipFill>
              <a:blip r:embed="rId2">
                <a:alphaModFix/>
              </a:blip>
              <a:stretch>
                <a:fillRect/>
              </a:stretch>
            </p:blipFill>
            <p:spPr>
              <a:xfrm>
                <a:off x="2284000" y="3305401"/>
                <a:ext cx="916063" cy="1060705"/>
              </a:xfrm>
              <a:prstGeom prst="rect">
                <a:avLst/>
              </a:prstGeom>
              <a:noFill/>
              <a:ln>
                <a:noFill/>
              </a:ln>
            </p:spPr>
          </p:pic>
          <p:pic>
            <p:nvPicPr>
              <p:cNvPr id="20" name="Google Shape;20;p2"/>
              <p:cNvPicPr preferRelativeResize="0"/>
              <p:nvPr/>
            </p:nvPicPr>
            <p:blipFill>
              <a:blip r:embed="rId2">
                <a:alphaModFix/>
              </a:blip>
              <a:stretch>
                <a:fillRect/>
              </a:stretch>
            </p:blipFill>
            <p:spPr>
              <a:xfrm>
                <a:off x="6857538" y="3305401"/>
                <a:ext cx="916063" cy="1060705"/>
              </a:xfrm>
              <a:prstGeom prst="rect">
                <a:avLst/>
              </a:prstGeom>
              <a:noFill/>
              <a:ln>
                <a:noFill/>
              </a:ln>
            </p:spPr>
          </p:pic>
          <p:pic>
            <p:nvPicPr>
              <p:cNvPr id="21" name="Google Shape;21;p2"/>
              <p:cNvPicPr preferRelativeResize="0"/>
              <p:nvPr/>
            </p:nvPicPr>
            <p:blipFill>
              <a:blip r:embed="rId2">
                <a:alphaModFix/>
              </a:blip>
              <a:stretch>
                <a:fillRect/>
              </a:stretch>
            </p:blipFill>
            <p:spPr>
              <a:xfrm>
                <a:off x="7771150" y="3305401"/>
                <a:ext cx="916063" cy="1060705"/>
              </a:xfrm>
              <a:prstGeom prst="rect">
                <a:avLst/>
              </a:prstGeom>
              <a:noFill/>
              <a:ln>
                <a:noFill/>
              </a:ln>
            </p:spPr>
          </p:pic>
        </p:grpSp>
        <p:grpSp>
          <p:nvGrpSpPr>
            <p:cNvPr id="22" name="Google Shape;22;p2"/>
            <p:cNvGrpSpPr/>
            <p:nvPr/>
          </p:nvGrpSpPr>
          <p:grpSpPr>
            <a:xfrm>
              <a:off x="-391894" y="3725164"/>
              <a:ext cx="9785975" cy="1261179"/>
              <a:chOff x="456788" y="3305401"/>
              <a:chExt cx="8230425" cy="1060705"/>
            </a:xfrm>
          </p:grpSpPr>
          <p:pic>
            <p:nvPicPr>
              <p:cNvPr id="23" name="Google Shape;23;p2"/>
              <p:cNvPicPr preferRelativeResize="0"/>
              <p:nvPr/>
            </p:nvPicPr>
            <p:blipFill>
              <a:blip r:embed="rId2">
                <a:alphaModFix/>
              </a:blip>
              <a:stretch>
                <a:fillRect/>
              </a:stretch>
            </p:blipFill>
            <p:spPr>
              <a:xfrm>
                <a:off x="3200363" y="3305401"/>
                <a:ext cx="916063" cy="1060705"/>
              </a:xfrm>
              <a:prstGeom prst="rect">
                <a:avLst/>
              </a:prstGeom>
              <a:noFill/>
              <a:ln>
                <a:noFill/>
              </a:ln>
            </p:spPr>
          </p:pic>
          <p:pic>
            <p:nvPicPr>
              <p:cNvPr id="24" name="Google Shape;24;p2"/>
              <p:cNvPicPr preferRelativeResize="0"/>
              <p:nvPr/>
            </p:nvPicPr>
            <p:blipFill>
              <a:blip r:embed="rId2">
                <a:alphaModFix/>
              </a:blip>
              <a:stretch>
                <a:fillRect/>
              </a:stretch>
            </p:blipFill>
            <p:spPr>
              <a:xfrm>
                <a:off x="4113963" y="3305401"/>
                <a:ext cx="916063" cy="1060705"/>
              </a:xfrm>
              <a:prstGeom prst="rect">
                <a:avLst/>
              </a:prstGeom>
              <a:noFill/>
              <a:ln>
                <a:noFill/>
              </a:ln>
            </p:spPr>
          </p:pic>
          <p:pic>
            <p:nvPicPr>
              <p:cNvPr id="25" name="Google Shape;25;p2"/>
              <p:cNvPicPr preferRelativeResize="0"/>
              <p:nvPr/>
            </p:nvPicPr>
            <p:blipFill>
              <a:blip r:embed="rId2">
                <a:alphaModFix/>
              </a:blip>
              <a:stretch>
                <a:fillRect/>
              </a:stretch>
            </p:blipFill>
            <p:spPr>
              <a:xfrm>
                <a:off x="5027563" y="3305401"/>
                <a:ext cx="916063" cy="1060705"/>
              </a:xfrm>
              <a:prstGeom prst="rect">
                <a:avLst/>
              </a:prstGeom>
              <a:noFill/>
              <a:ln>
                <a:noFill/>
              </a:ln>
            </p:spPr>
          </p:pic>
          <p:pic>
            <p:nvPicPr>
              <p:cNvPr id="26" name="Google Shape;26;p2"/>
              <p:cNvPicPr preferRelativeResize="0"/>
              <p:nvPr/>
            </p:nvPicPr>
            <p:blipFill>
              <a:blip r:embed="rId2">
                <a:alphaModFix/>
              </a:blip>
              <a:stretch>
                <a:fillRect/>
              </a:stretch>
            </p:blipFill>
            <p:spPr>
              <a:xfrm>
                <a:off x="5941175" y="3305401"/>
                <a:ext cx="916063" cy="1060705"/>
              </a:xfrm>
              <a:prstGeom prst="rect">
                <a:avLst/>
              </a:prstGeom>
              <a:noFill/>
              <a:ln>
                <a:noFill/>
              </a:ln>
            </p:spPr>
          </p:pic>
          <p:pic>
            <p:nvPicPr>
              <p:cNvPr id="27" name="Google Shape;27;p2"/>
              <p:cNvPicPr preferRelativeResize="0"/>
              <p:nvPr/>
            </p:nvPicPr>
            <p:blipFill>
              <a:blip r:embed="rId2">
                <a:alphaModFix/>
              </a:blip>
              <a:stretch>
                <a:fillRect/>
              </a:stretch>
            </p:blipFill>
            <p:spPr>
              <a:xfrm>
                <a:off x="456788" y="3305401"/>
                <a:ext cx="916063" cy="1060705"/>
              </a:xfrm>
              <a:prstGeom prst="rect">
                <a:avLst/>
              </a:prstGeom>
              <a:noFill/>
              <a:ln>
                <a:noFill/>
              </a:ln>
            </p:spPr>
          </p:pic>
          <p:pic>
            <p:nvPicPr>
              <p:cNvPr id="28" name="Google Shape;28;p2"/>
              <p:cNvPicPr preferRelativeResize="0"/>
              <p:nvPr/>
            </p:nvPicPr>
            <p:blipFill>
              <a:blip r:embed="rId2">
                <a:alphaModFix/>
              </a:blip>
              <a:stretch>
                <a:fillRect/>
              </a:stretch>
            </p:blipFill>
            <p:spPr>
              <a:xfrm>
                <a:off x="1370388" y="3305401"/>
                <a:ext cx="916063" cy="1060705"/>
              </a:xfrm>
              <a:prstGeom prst="rect">
                <a:avLst/>
              </a:prstGeom>
              <a:noFill/>
              <a:ln>
                <a:noFill/>
              </a:ln>
            </p:spPr>
          </p:pic>
          <p:pic>
            <p:nvPicPr>
              <p:cNvPr id="29" name="Google Shape;29;p2"/>
              <p:cNvPicPr preferRelativeResize="0"/>
              <p:nvPr/>
            </p:nvPicPr>
            <p:blipFill>
              <a:blip r:embed="rId2">
                <a:alphaModFix/>
              </a:blip>
              <a:stretch>
                <a:fillRect/>
              </a:stretch>
            </p:blipFill>
            <p:spPr>
              <a:xfrm>
                <a:off x="2284000" y="3305401"/>
                <a:ext cx="916063" cy="1060705"/>
              </a:xfrm>
              <a:prstGeom prst="rect">
                <a:avLst/>
              </a:prstGeom>
              <a:noFill/>
              <a:ln>
                <a:noFill/>
              </a:ln>
            </p:spPr>
          </p:pic>
          <p:pic>
            <p:nvPicPr>
              <p:cNvPr id="30" name="Google Shape;30;p2"/>
              <p:cNvPicPr preferRelativeResize="0"/>
              <p:nvPr/>
            </p:nvPicPr>
            <p:blipFill>
              <a:blip r:embed="rId2">
                <a:alphaModFix/>
              </a:blip>
              <a:stretch>
                <a:fillRect/>
              </a:stretch>
            </p:blipFill>
            <p:spPr>
              <a:xfrm>
                <a:off x="6857538" y="3305401"/>
                <a:ext cx="916063" cy="1060705"/>
              </a:xfrm>
              <a:prstGeom prst="rect">
                <a:avLst/>
              </a:prstGeom>
              <a:noFill/>
              <a:ln>
                <a:noFill/>
              </a:ln>
            </p:spPr>
          </p:pic>
          <p:pic>
            <p:nvPicPr>
              <p:cNvPr id="31" name="Google Shape;31;p2"/>
              <p:cNvPicPr preferRelativeResize="0"/>
              <p:nvPr/>
            </p:nvPicPr>
            <p:blipFill>
              <a:blip r:embed="rId2">
                <a:alphaModFix/>
              </a:blip>
              <a:stretch>
                <a:fillRect/>
              </a:stretch>
            </p:blipFill>
            <p:spPr>
              <a:xfrm>
                <a:off x="7771150" y="3305401"/>
                <a:ext cx="916063" cy="1060705"/>
              </a:xfrm>
              <a:prstGeom prst="rect">
                <a:avLst/>
              </a:prstGeom>
              <a:noFill/>
              <a:ln>
                <a:noFill/>
              </a:ln>
            </p:spPr>
          </p:pic>
        </p:grpSp>
        <p:grpSp>
          <p:nvGrpSpPr>
            <p:cNvPr id="32" name="Google Shape;32;p2"/>
            <p:cNvGrpSpPr/>
            <p:nvPr/>
          </p:nvGrpSpPr>
          <p:grpSpPr>
            <a:xfrm>
              <a:off x="-935000" y="4660349"/>
              <a:ext cx="10872219" cy="1262469"/>
              <a:chOff x="0" y="4081709"/>
              <a:chExt cx="9144002" cy="1061791"/>
            </a:xfrm>
          </p:grpSpPr>
          <p:pic>
            <p:nvPicPr>
              <p:cNvPr id="33" name="Google Shape;33;p2"/>
              <p:cNvPicPr preferRelativeResize="0"/>
              <p:nvPr/>
            </p:nvPicPr>
            <p:blipFill>
              <a:blip r:embed="rId3">
                <a:alphaModFix/>
              </a:blip>
              <a:stretch>
                <a:fillRect/>
              </a:stretch>
            </p:blipFill>
            <p:spPr>
              <a:xfrm>
                <a:off x="0" y="4081709"/>
                <a:ext cx="921566" cy="1061791"/>
              </a:xfrm>
              <a:prstGeom prst="rect">
                <a:avLst/>
              </a:prstGeom>
              <a:noFill/>
              <a:ln>
                <a:noFill/>
              </a:ln>
            </p:spPr>
          </p:pic>
          <p:pic>
            <p:nvPicPr>
              <p:cNvPr id="34" name="Google Shape;34;p2"/>
              <p:cNvPicPr preferRelativeResize="0"/>
              <p:nvPr/>
            </p:nvPicPr>
            <p:blipFill>
              <a:blip r:embed="rId3">
                <a:alphaModFix/>
              </a:blip>
              <a:stretch>
                <a:fillRect/>
              </a:stretch>
            </p:blipFill>
            <p:spPr>
              <a:xfrm>
                <a:off x="1827212" y="4081709"/>
                <a:ext cx="921566" cy="1061791"/>
              </a:xfrm>
              <a:prstGeom prst="rect">
                <a:avLst/>
              </a:prstGeom>
              <a:noFill/>
              <a:ln>
                <a:noFill/>
              </a:ln>
            </p:spPr>
          </p:pic>
          <p:pic>
            <p:nvPicPr>
              <p:cNvPr id="35" name="Google Shape;35;p2"/>
              <p:cNvPicPr preferRelativeResize="0"/>
              <p:nvPr/>
            </p:nvPicPr>
            <p:blipFill>
              <a:blip r:embed="rId3">
                <a:alphaModFix/>
              </a:blip>
              <a:stretch>
                <a:fillRect/>
              </a:stretch>
            </p:blipFill>
            <p:spPr>
              <a:xfrm>
                <a:off x="3654424" y="4081709"/>
                <a:ext cx="921566" cy="1061791"/>
              </a:xfrm>
              <a:prstGeom prst="rect">
                <a:avLst/>
              </a:prstGeom>
              <a:noFill/>
              <a:ln>
                <a:noFill/>
              </a:ln>
            </p:spPr>
          </p:pic>
          <p:pic>
            <p:nvPicPr>
              <p:cNvPr id="36" name="Google Shape;36;p2"/>
              <p:cNvPicPr preferRelativeResize="0"/>
              <p:nvPr/>
            </p:nvPicPr>
            <p:blipFill>
              <a:blip r:embed="rId3">
                <a:alphaModFix/>
              </a:blip>
              <a:stretch>
                <a:fillRect/>
              </a:stretch>
            </p:blipFill>
            <p:spPr>
              <a:xfrm>
                <a:off x="5481635" y="4081709"/>
                <a:ext cx="921566" cy="1061791"/>
              </a:xfrm>
              <a:prstGeom prst="rect">
                <a:avLst/>
              </a:prstGeom>
              <a:noFill/>
              <a:ln>
                <a:noFill/>
              </a:ln>
            </p:spPr>
          </p:pic>
          <p:pic>
            <p:nvPicPr>
              <p:cNvPr id="37" name="Google Shape;37;p2"/>
              <p:cNvPicPr preferRelativeResize="0"/>
              <p:nvPr/>
            </p:nvPicPr>
            <p:blipFill>
              <a:blip r:embed="rId3">
                <a:alphaModFix/>
              </a:blip>
              <a:stretch>
                <a:fillRect/>
              </a:stretch>
            </p:blipFill>
            <p:spPr>
              <a:xfrm>
                <a:off x="913606" y="4081709"/>
                <a:ext cx="921566" cy="1061791"/>
              </a:xfrm>
              <a:prstGeom prst="rect">
                <a:avLst/>
              </a:prstGeom>
              <a:noFill/>
              <a:ln>
                <a:noFill/>
              </a:ln>
            </p:spPr>
          </p:pic>
          <p:pic>
            <p:nvPicPr>
              <p:cNvPr id="38" name="Google Shape;38;p2"/>
              <p:cNvPicPr preferRelativeResize="0"/>
              <p:nvPr/>
            </p:nvPicPr>
            <p:blipFill>
              <a:blip r:embed="rId3">
                <a:alphaModFix/>
              </a:blip>
              <a:stretch>
                <a:fillRect/>
              </a:stretch>
            </p:blipFill>
            <p:spPr>
              <a:xfrm>
                <a:off x="2740818" y="4081709"/>
                <a:ext cx="921566" cy="1061791"/>
              </a:xfrm>
              <a:prstGeom prst="rect">
                <a:avLst/>
              </a:prstGeom>
              <a:noFill/>
              <a:ln>
                <a:noFill/>
              </a:ln>
            </p:spPr>
          </p:pic>
          <p:pic>
            <p:nvPicPr>
              <p:cNvPr id="39" name="Google Shape;39;p2"/>
              <p:cNvPicPr preferRelativeResize="0"/>
              <p:nvPr/>
            </p:nvPicPr>
            <p:blipFill>
              <a:blip r:embed="rId3">
                <a:alphaModFix/>
              </a:blip>
              <a:stretch>
                <a:fillRect/>
              </a:stretch>
            </p:blipFill>
            <p:spPr>
              <a:xfrm>
                <a:off x="4568030" y="4081709"/>
                <a:ext cx="921566" cy="1061791"/>
              </a:xfrm>
              <a:prstGeom prst="rect">
                <a:avLst/>
              </a:prstGeom>
              <a:noFill/>
              <a:ln>
                <a:noFill/>
              </a:ln>
            </p:spPr>
          </p:pic>
          <p:pic>
            <p:nvPicPr>
              <p:cNvPr id="40" name="Google Shape;40;p2"/>
              <p:cNvPicPr preferRelativeResize="0"/>
              <p:nvPr/>
            </p:nvPicPr>
            <p:blipFill>
              <a:blip r:embed="rId3">
                <a:alphaModFix/>
              </a:blip>
              <a:stretch>
                <a:fillRect/>
              </a:stretch>
            </p:blipFill>
            <p:spPr>
              <a:xfrm>
                <a:off x="6395241" y="4081709"/>
                <a:ext cx="921566" cy="1061791"/>
              </a:xfrm>
              <a:prstGeom prst="rect">
                <a:avLst/>
              </a:prstGeom>
              <a:noFill/>
              <a:ln>
                <a:noFill/>
              </a:ln>
            </p:spPr>
          </p:pic>
          <p:pic>
            <p:nvPicPr>
              <p:cNvPr id="41" name="Google Shape;41;p2"/>
              <p:cNvPicPr preferRelativeResize="0"/>
              <p:nvPr/>
            </p:nvPicPr>
            <p:blipFill>
              <a:blip r:embed="rId3">
                <a:alphaModFix/>
              </a:blip>
              <a:stretch>
                <a:fillRect/>
              </a:stretch>
            </p:blipFill>
            <p:spPr>
              <a:xfrm>
                <a:off x="7308830" y="4081709"/>
                <a:ext cx="921566" cy="1061791"/>
              </a:xfrm>
              <a:prstGeom prst="rect">
                <a:avLst/>
              </a:prstGeom>
              <a:noFill/>
              <a:ln>
                <a:noFill/>
              </a:ln>
            </p:spPr>
          </p:pic>
          <p:pic>
            <p:nvPicPr>
              <p:cNvPr id="42" name="Google Shape;42;p2"/>
              <p:cNvPicPr preferRelativeResize="0"/>
              <p:nvPr/>
            </p:nvPicPr>
            <p:blipFill>
              <a:blip r:embed="rId3">
                <a:alphaModFix/>
              </a:blip>
              <a:stretch>
                <a:fillRect/>
              </a:stretch>
            </p:blipFill>
            <p:spPr>
              <a:xfrm>
                <a:off x="8222436" y="4081709"/>
                <a:ext cx="921566" cy="1061791"/>
              </a:xfrm>
              <a:prstGeom prst="rect">
                <a:avLst/>
              </a:prstGeom>
              <a:noFill/>
              <a:ln>
                <a:noFill/>
              </a:ln>
            </p:spPr>
          </p:pic>
        </p:grpSp>
        <p:grpSp>
          <p:nvGrpSpPr>
            <p:cNvPr id="43" name="Google Shape;43;p2"/>
            <p:cNvGrpSpPr/>
            <p:nvPr/>
          </p:nvGrpSpPr>
          <p:grpSpPr>
            <a:xfrm>
              <a:off x="-935000" y="2788689"/>
              <a:ext cx="10872219" cy="1262469"/>
              <a:chOff x="0" y="4081709"/>
              <a:chExt cx="9144002" cy="1061791"/>
            </a:xfrm>
          </p:grpSpPr>
          <p:pic>
            <p:nvPicPr>
              <p:cNvPr id="44" name="Google Shape;44;p2"/>
              <p:cNvPicPr preferRelativeResize="0"/>
              <p:nvPr/>
            </p:nvPicPr>
            <p:blipFill>
              <a:blip r:embed="rId3">
                <a:alphaModFix/>
              </a:blip>
              <a:stretch>
                <a:fillRect/>
              </a:stretch>
            </p:blipFill>
            <p:spPr>
              <a:xfrm>
                <a:off x="0" y="4081709"/>
                <a:ext cx="921566" cy="1061791"/>
              </a:xfrm>
              <a:prstGeom prst="rect">
                <a:avLst/>
              </a:prstGeom>
              <a:noFill/>
              <a:ln>
                <a:noFill/>
              </a:ln>
            </p:spPr>
          </p:pic>
          <p:pic>
            <p:nvPicPr>
              <p:cNvPr id="45" name="Google Shape;45;p2"/>
              <p:cNvPicPr preferRelativeResize="0"/>
              <p:nvPr/>
            </p:nvPicPr>
            <p:blipFill>
              <a:blip r:embed="rId3">
                <a:alphaModFix/>
              </a:blip>
              <a:stretch>
                <a:fillRect/>
              </a:stretch>
            </p:blipFill>
            <p:spPr>
              <a:xfrm>
                <a:off x="1827212" y="4081709"/>
                <a:ext cx="921566" cy="1061791"/>
              </a:xfrm>
              <a:prstGeom prst="rect">
                <a:avLst/>
              </a:prstGeom>
              <a:noFill/>
              <a:ln>
                <a:noFill/>
              </a:ln>
            </p:spPr>
          </p:pic>
          <p:pic>
            <p:nvPicPr>
              <p:cNvPr id="46" name="Google Shape;46;p2"/>
              <p:cNvPicPr preferRelativeResize="0"/>
              <p:nvPr/>
            </p:nvPicPr>
            <p:blipFill>
              <a:blip r:embed="rId3">
                <a:alphaModFix/>
              </a:blip>
              <a:stretch>
                <a:fillRect/>
              </a:stretch>
            </p:blipFill>
            <p:spPr>
              <a:xfrm>
                <a:off x="3654424" y="4081709"/>
                <a:ext cx="921566" cy="1061791"/>
              </a:xfrm>
              <a:prstGeom prst="rect">
                <a:avLst/>
              </a:prstGeom>
              <a:noFill/>
              <a:ln>
                <a:noFill/>
              </a:ln>
            </p:spPr>
          </p:pic>
          <p:pic>
            <p:nvPicPr>
              <p:cNvPr id="47" name="Google Shape;47;p2"/>
              <p:cNvPicPr preferRelativeResize="0"/>
              <p:nvPr/>
            </p:nvPicPr>
            <p:blipFill>
              <a:blip r:embed="rId3">
                <a:alphaModFix/>
              </a:blip>
              <a:stretch>
                <a:fillRect/>
              </a:stretch>
            </p:blipFill>
            <p:spPr>
              <a:xfrm>
                <a:off x="5481635" y="4081709"/>
                <a:ext cx="921566" cy="1061791"/>
              </a:xfrm>
              <a:prstGeom prst="rect">
                <a:avLst/>
              </a:prstGeom>
              <a:noFill/>
              <a:ln>
                <a:noFill/>
              </a:ln>
            </p:spPr>
          </p:pic>
          <p:pic>
            <p:nvPicPr>
              <p:cNvPr id="48" name="Google Shape;48;p2"/>
              <p:cNvPicPr preferRelativeResize="0"/>
              <p:nvPr/>
            </p:nvPicPr>
            <p:blipFill>
              <a:blip r:embed="rId3">
                <a:alphaModFix/>
              </a:blip>
              <a:stretch>
                <a:fillRect/>
              </a:stretch>
            </p:blipFill>
            <p:spPr>
              <a:xfrm>
                <a:off x="913606" y="4081709"/>
                <a:ext cx="921566" cy="1061791"/>
              </a:xfrm>
              <a:prstGeom prst="rect">
                <a:avLst/>
              </a:prstGeom>
              <a:noFill/>
              <a:ln>
                <a:noFill/>
              </a:ln>
            </p:spPr>
          </p:pic>
          <p:pic>
            <p:nvPicPr>
              <p:cNvPr id="49" name="Google Shape;49;p2"/>
              <p:cNvPicPr preferRelativeResize="0"/>
              <p:nvPr/>
            </p:nvPicPr>
            <p:blipFill>
              <a:blip r:embed="rId3">
                <a:alphaModFix/>
              </a:blip>
              <a:stretch>
                <a:fillRect/>
              </a:stretch>
            </p:blipFill>
            <p:spPr>
              <a:xfrm>
                <a:off x="2740818" y="4081709"/>
                <a:ext cx="921566" cy="1061791"/>
              </a:xfrm>
              <a:prstGeom prst="rect">
                <a:avLst/>
              </a:prstGeom>
              <a:noFill/>
              <a:ln>
                <a:noFill/>
              </a:ln>
            </p:spPr>
          </p:pic>
          <p:pic>
            <p:nvPicPr>
              <p:cNvPr id="50" name="Google Shape;50;p2"/>
              <p:cNvPicPr preferRelativeResize="0"/>
              <p:nvPr/>
            </p:nvPicPr>
            <p:blipFill>
              <a:blip r:embed="rId3">
                <a:alphaModFix/>
              </a:blip>
              <a:stretch>
                <a:fillRect/>
              </a:stretch>
            </p:blipFill>
            <p:spPr>
              <a:xfrm>
                <a:off x="4568030" y="4081709"/>
                <a:ext cx="921566" cy="1061791"/>
              </a:xfrm>
              <a:prstGeom prst="rect">
                <a:avLst/>
              </a:prstGeom>
              <a:noFill/>
              <a:ln>
                <a:noFill/>
              </a:ln>
            </p:spPr>
          </p:pic>
          <p:pic>
            <p:nvPicPr>
              <p:cNvPr id="51" name="Google Shape;51;p2"/>
              <p:cNvPicPr preferRelativeResize="0"/>
              <p:nvPr/>
            </p:nvPicPr>
            <p:blipFill>
              <a:blip r:embed="rId3">
                <a:alphaModFix/>
              </a:blip>
              <a:stretch>
                <a:fillRect/>
              </a:stretch>
            </p:blipFill>
            <p:spPr>
              <a:xfrm>
                <a:off x="6395241" y="4081709"/>
                <a:ext cx="921566" cy="1061791"/>
              </a:xfrm>
              <a:prstGeom prst="rect">
                <a:avLst/>
              </a:prstGeom>
              <a:noFill/>
              <a:ln>
                <a:noFill/>
              </a:ln>
            </p:spPr>
          </p:pic>
          <p:pic>
            <p:nvPicPr>
              <p:cNvPr id="52" name="Google Shape;52;p2"/>
              <p:cNvPicPr preferRelativeResize="0"/>
              <p:nvPr/>
            </p:nvPicPr>
            <p:blipFill>
              <a:blip r:embed="rId3">
                <a:alphaModFix/>
              </a:blip>
              <a:stretch>
                <a:fillRect/>
              </a:stretch>
            </p:blipFill>
            <p:spPr>
              <a:xfrm>
                <a:off x="7308830" y="4081709"/>
                <a:ext cx="921566" cy="1061791"/>
              </a:xfrm>
              <a:prstGeom prst="rect">
                <a:avLst/>
              </a:prstGeom>
              <a:noFill/>
              <a:ln>
                <a:noFill/>
              </a:ln>
            </p:spPr>
          </p:pic>
          <p:pic>
            <p:nvPicPr>
              <p:cNvPr id="53" name="Google Shape;53;p2"/>
              <p:cNvPicPr preferRelativeResize="0"/>
              <p:nvPr/>
            </p:nvPicPr>
            <p:blipFill>
              <a:blip r:embed="rId3">
                <a:alphaModFix/>
              </a:blip>
              <a:stretch>
                <a:fillRect/>
              </a:stretch>
            </p:blipFill>
            <p:spPr>
              <a:xfrm>
                <a:off x="8222436" y="4081709"/>
                <a:ext cx="921566" cy="1061791"/>
              </a:xfrm>
              <a:prstGeom prst="rect">
                <a:avLst/>
              </a:prstGeom>
              <a:noFill/>
              <a:ln>
                <a:noFill/>
              </a:ln>
            </p:spPr>
          </p:pic>
        </p:grpSp>
        <p:grpSp>
          <p:nvGrpSpPr>
            <p:cNvPr id="54" name="Google Shape;54;p2"/>
            <p:cNvGrpSpPr/>
            <p:nvPr/>
          </p:nvGrpSpPr>
          <p:grpSpPr>
            <a:xfrm>
              <a:off x="-391894" y="1853526"/>
              <a:ext cx="9785975" cy="1261179"/>
              <a:chOff x="456788" y="3305401"/>
              <a:chExt cx="8230425" cy="1060705"/>
            </a:xfrm>
          </p:grpSpPr>
          <p:pic>
            <p:nvPicPr>
              <p:cNvPr id="55" name="Google Shape;55;p2"/>
              <p:cNvPicPr preferRelativeResize="0"/>
              <p:nvPr/>
            </p:nvPicPr>
            <p:blipFill>
              <a:blip r:embed="rId2">
                <a:alphaModFix/>
              </a:blip>
              <a:stretch>
                <a:fillRect/>
              </a:stretch>
            </p:blipFill>
            <p:spPr>
              <a:xfrm>
                <a:off x="3200363" y="3305401"/>
                <a:ext cx="916063" cy="1060705"/>
              </a:xfrm>
              <a:prstGeom prst="rect">
                <a:avLst/>
              </a:prstGeom>
              <a:noFill/>
              <a:ln>
                <a:noFill/>
              </a:ln>
            </p:spPr>
          </p:pic>
          <p:pic>
            <p:nvPicPr>
              <p:cNvPr id="56" name="Google Shape;56;p2"/>
              <p:cNvPicPr preferRelativeResize="0"/>
              <p:nvPr/>
            </p:nvPicPr>
            <p:blipFill>
              <a:blip r:embed="rId2">
                <a:alphaModFix/>
              </a:blip>
              <a:stretch>
                <a:fillRect/>
              </a:stretch>
            </p:blipFill>
            <p:spPr>
              <a:xfrm>
                <a:off x="4113963" y="3305401"/>
                <a:ext cx="916063" cy="1060705"/>
              </a:xfrm>
              <a:prstGeom prst="rect">
                <a:avLst/>
              </a:prstGeom>
              <a:noFill/>
              <a:ln>
                <a:noFill/>
              </a:ln>
            </p:spPr>
          </p:pic>
          <p:pic>
            <p:nvPicPr>
              <p:cNvPr id="57" name="Google Shape;57;p2"/>
              <p:cNvPicPr preferRelativeResize="0"/>
              <p:nvPr/>
            </p:nvPicPr>
            <p:blipFill>
              <a:blip r:embed="rId2">
                <a:alphaModFix/>
              </a:blip>
              <a:stretch>
                <a:fillRect/>
              </a:stretch>
            </p:blipFill>
            <p:spPr>
              <a:xfrm>
                <a:off x="5027563" y="3305401"/>
                <a:ext cx="916063" cy="1060705"/>
              </a:xfrm>
              <a:prstGeom prst="rect">
                <a:avLst/>
              </a:prstGeom>
              <a:noFill/>
              <a:ln>
                <a:noFill/>
              </a:ln>
            </p:spPr>
          </p:pic>
          <p:pic>
            <p:nvPicPr>
              <p:cNvPr id="58" name="Google Shape;58;p2"/>
              <p:cNvPicPr preferRelativeResize="0"/>
              <p:nvPr/>
            </p:nvPicPr>
            <p:blipFill>
              <a:blip r:embed="rId2">
                <a:alphaModFix/>
              </a:blip>
              <a:stretch>
                <a:fillRect/>
              </a:stretch>
            </p:blipFill>
            <p:spPr>
              <a:xfrm>
                <a:off x="5941175" y="3305401"/>
                <a:ext cx="916063" cy="1060705"/>
              </a:xfrm>
              <a:prstGeom prst="rect">
                <a:avLst/>
              </a:prstGeom>
              <a:noFill/>
              <a:ln>
                <a:noFill/>
              </a:ln>
            </p:spPr>
          </p:pic>
          <p:pic>
            <p:nvPicPr>
              <p:cNvPr id="59" name="Google Shape;59;p2"/>
              <p:cNvPicPr preferRelativeResize="0"/>
              <p:nvPr/>
            </p:nvPicPr>
            <p:blipFill>
              <a:blip r:embed="rId2">
                <a:alphaModFix/>
              </a:blip>
              <a:stretch>
                <a:fillRect/>
              </a:stretch>
            </p:blipFill>
            <p:spPr>
              <a:xfrm>
                <a:off x="456788" y="3305401"/>
                <a:ext cx="916063" cy="1060705"/>
              </a:xfrm>
              <a:prstGeom prst="rect">
                <a:avLst/>
              </a:prstGeom>
              <a:noFill/>
              <a:ln>
                <a:noFill/>
              </a:ln>
            </p:spPr>
          </p:pic>
          <p:pic>
            <p:nvPicPr>
              <p:cNvPr id="60" name="Google Shape;60;p2"/>
              <p:cNvPicPr preferRelativeResize="0"/>
              <p:nvPr/>
            </p:nvPicPr>
            <p:blipFill>
              <a:blip r:embed="rId2">
                <a:alphaModFix/>
              </a:blip>
              <a:stretch>
                <a:fillRect/>
              </a:stretch>
            </p:blipFill>
            <p:spPr>
              <a:xfrm>
                <a:off x="1370388" y="3305401"/>
                <a:ext cx="916063" cy="1060705"/>
              </a:xfrm>
              <a:prstGeom prst="rect">
                <a:avLst/>
              </a:prstGeom>
              <a:noFill/>
              <a:ln>
                <a:noFill/>
              </a:ln>
            </p:spPr>
          </p:pic>
          <p:pic>
            <p:nvPicPr>
              <p:cNvPr id="61" name="Google Shape;61;p2"/>
              <p:cNvPicPr preferRelativeResize="0"/>
              <p:nvPr/>
            </p:nvPicPr>
            <p:blipFill>
              <a:blip r:embed="rId2">
                <a:alphaModFix/>
              </a:blip>
              <a:stretch>
                <a:fillRect/>
              </a:stretch>
            </p:blipFill>
            <p:spPr>
              <a:xfrm>
                <a:off x="2284000" y="3305401"/>
                <a:ext cx="916063" cy="1060705"/>
              </a:xfrm>
              <a:prstGeom prst="rect">
                <a:avLst/>
              </a:prstGeom>
              <a:noFill/>
              <a:ln>
                <a:noFill/>
              </a:ln>
            </p:spPr>
          </p:pic>
          <p:pic>
            <p:nvPicPr>
              <p:cNvPr id="62" name="Google Shape;62;p2"/>
              <p:cNvPicPr preferRelativeResize="0"/>
              <p:nvPr/>
            </p:nvPicPr>
            <p:blipFill>
              <a:blip r:embed="rId2">
                <a:alphaModFix/>
              </a:blip>
              <a:stretch>
                <a:fillRect/>
              </a:stretch>
            </p:blipFill>
            <p:spPr>
              <a:xfrm>
                <a:off x="6857538" y="3305401"/>
                <a:ext cx="916063" cy="1060705"/>
              </a:xfrm>
              <a:prstGeom prst="rect">
                <a:avLst/>
              </a:prstGeom>
              <a:noFill/>
              <a:ln>
                <a:noFill/>
              </a:ln>
            </p:spPr>
          </p:pic>
          <p:pic>
            <p:nvPicPr>
              <p:cNvPr id="63" name="Google Shape;63;p2"/>
              <p:cNvPicPr preferRelativeResize="0"/>
              <p:nvPr/>
            </p:nvPicPr>
            <p:blipFill>
              <a:blip r:embed="rId2">
                <a:alphaModFix/>
              </a:blip>
              <a:stretch>
                <a:fillRect/>
              </a:stretch>
            </p:blipFill>
            <p:spPr>
              <a:xfrm>
                <a:off x="7771150" y="3305401"/>
                <a:ext cx="916063" cy="1060705"/>
              </a:xfrm>
              <a:prstGeom prst="rect">
                <a:avLst/>
              </a:prstGeom>
              <a:noFill/>
              <a:ln>
                <a:noFill/>
              </a:ln>
            </p:spPr>
          </p:pic>
        </p:grpSp>
        <p:grpSp>
          <p:nvGrpSpPr>
            <p:cNvPr id="64" name="Google Shape;64;p2"/>
            <p:cNvGrpSpPr/>
            <p:nvPr/>
          </p:nvGrpSpPr>
          <p:grpSpPr>
            <a:xfrm>
              <a:off x="-935000" y="917025"/>
              <a:ext cx="10872219" cy="1262469"/>
              <a:chOff x="0" y="4081709"/>
              <a:chExt cx="9144002" cy="1061791"/>
            </a:xfrm>
          </p:grpSpPr>
          <p:pic>
            <p:nvPicPr>
              <p:cNvPr id="65" name="Google Shape;65;p2"/>
              <p:cNvPicPr preferRelativeResize="0"/>
              <p:nvPr/>
            </p:nvPicPr>
            <p:blipFill>
              <a:blip r:embed="rId3">
                <a:alphaModFix/>
              </a:blip>
              <a:stretch>
                <a:fillRect/>
              </a:stretch>
            </p:blipFill>
            <p:spPr>
              <a:xfrm>
                <a:off x="0" y="4081709"/>
                <a:ext cx="921566" cy="1061791"/>
              </a:xfrm>
              <a:prstGeom prst="rect">
                <a:avLst/>
              </a:prstGeom>
              <a:noFill/>
              <a:ln>
                <a:noFill/>
              </a:ln>
            </p:spPr>
          </p:pic>
          <p:pic>
            <p:nvPicPr>
              <p:cNvPr id="66" name="Google Shape;66;p2"/>
              <p:cNvPicPr preferRelativeResize="0"/>
              <p:nvPr/>
            </p:nvPicPr>
            <p:blipFill>
              <a:blip r:embed="rId3">
                <a:alphaModFix/>
              </a:blip>
              <a:stretch>
                <a:fillRect/>
              </a:stretch>
            </p:blipFill>
            <p:spPr>
              <a:xfrm>
                <a:off x="1827212" y="4081709"/>
                <a:ext cx="921566" cy="1061791"/>
              </a:xfrm>
              <a:prstGeom prst="rect">
                <a:avLst/>
              </a:prstGeom>
              <a:noFill/>
              <a:ln>
                <a:noFill/>
              </a:ln>
            </p:spPr>
          </p:pic>
          <p:pic>
            <p:nvPicPr>
              <p:cNvPr id="67" name="Google Shape;67;p2"/>
              <p:cNvPicPr preferRelativeResize="0"/>
              <p:nvPr/>
            </p:nvPicPr>
            <p:blipFill>
              <a:blip r:embed="rId3">
                <a:alphaModFix/>
              </a:blip>
              <a:stretch>
                <a:fillRect/>
              </a:stretch>
            </p:blipFill>
            <p:spPr>
              <a:xfrm>
                <a:off x="3654424" y="4081709"/>
                <a:ext cx="921566" cy="1061791"/>
              </a:xfrm>
              <a:prstGeom prst="rect">
                <a:avLst/>
              </a:prstGeom>
              <a:noFill/>
              <a:ln>
                <a:noFill/>
              </a:ln>
            </p:spPr>
          </p:pic>
          <p:pic>
            <p:nvPicPr>
              <p:cNvPr id="68" name="Google Shape;68;p2"/>
              <p:cNvPicPr preferRelativeResize="0"/>
              <p:nvPr/>
            </p:nvPicPr>
            <p:blipFill>
              <a:blip r:embed="rId3">
                <a:alphaModFix/>
              </a:blip>
              <a:stretch>
                <a:fillRect/>
              </a:stretch>
            </p:blipFill>
            <p:spPr>
              <a:xfrm>
                <a:off x="5481635" y="4081709"/>
                <a:ext cx="921566" cy="1061791"/>
              </a:xfrm>
              <a:prstGeom prst="rect">
                <a:avLst/>
              </a:prstGeom>
              <a:noFill/>
              <a:ln>
                <a:noFill/>
              </a:ln>
            </p:spPr>
          </p:pic>
          <p:pic>
            <p:nvPicPr>
              <p:cNvPr id="69" name="Google Shape;69;p2"/>
              <p:cNvPicPr preferRelativeResize="0"/>
              <p:nvPr/>
            </p:nvPicPr>
            <p:blipFill>
              <a:blip r:embed="rId3">
                <a:alphaModFix/>
              </a:blip>
              <a:stretch>
                <a:fillRect/>
              </a:stretch>
            </p:blipFill>
            <p:spPr>
              <a:xfrm>
                <a:off x="913606" y="4081709"/>
                <a:ext cx="921566" cy="1061791"/>
              </a:xfrm>
              <a:prstGeom prst="rect">
                <a:avLst/>
              </a:prstGeom>
              <a:noFill/>
              <a:ln>
                <a:noFill/>
              </a:ln>
            </p:spPr>
          </p:pic>
          <p:pic>
            <p:nvPicPr>
              <p:cNvPr id="70" name="Google Shape;70;p2"/>
              <p:cNvPicPr preferRelativeResize="0"/>
              <p:nvPr/>
            </p:nvPicPr>
            <p:blipFill>
              <a:blip r:embed="rId3">
                <a:alphaModFix/>
              </a:blip>
              <a:stretch>
                <a:fillRect/>
              </a:stretch>
            </p:blipFill>
            <p:spPr>
              <a:xfrm>
                <a:off x="2740818" y="4081709"/>
                <a:ext cx="921566" cy="1061791"/>
              </a:xfrm>
              <a:prstGeom prst="rect">
                <a:avLst/>
              </a:prstGeom>
              <a:noFill/>
              <a:ln>
                <a:noFill/>
              </a:ln>
            </p:spPr>
          </p:pic>
          <p:pic>
            <p:nvPicPr>
              <p:cNvPr id="71" name="Google Shape;71;p2"/>
              <p:cNvPicPr preferRelativeResize="0"/>
              <p:nvPr/>
            </p:nvPicPr>
            <p:blipFill>
              <a:blip r:embed="rId3">
                <a:alphaModFix/>
              </a:blip>
              <a:stretch>
                <a:fillRect/>
              </a:stretch>
            </p:blipFill>
            <p:spPr>
              <a:xfrm>
                <a:off x="4568030" y="4081709"/>
                <a:ext cx="921566" cy="1061791"/>
              </a:xfrm>
              <a:prstGeom prst="rect">
                <a:avLst/>
              </a:prstGeom>
              <a:noFill/>
              <a:ln>
                <a:noFill/>
              </a:ln>
            </p:spPr>
          </p:pic>
          <p:pic>
            <p:nvPicPr>
              <p:cNvPr id="72" name="Google Shape;72;p2"/>
              <p:cNvPicPr preferRelativeResize="0"/>
              <p:nvPr/>
            </p:nvPicPr>
            <p:blipFill>
              <a:blip r:embed="rId3">
                <a:alphaModFix/>
              </a:blip>
              <a:stretch>
                <a:fillRect/>
              </a:stretch>
            </p:blipFill>
            <p:spPr>
              <a:xfrm>
                <a:off x="6395241" y="4081709"/>
                <a:ext cx="921566" cy="1061791"/>
              </a:xfrm>
              <a:prstGeom prst="rect">
                <a:avLst/>
              </a:prstGeom>
              <a:noFill/>
              <a:ln>
                <a:noFill/>
              </a:ln>
            </p:spPr>
          </p:pic>
          <p:pic>
            <p:nvPicPr>
              <p:cNvPr id="73" name="Google Shape;73;p2"/>
              <p:cNvPicPr preferRelativeResize="0"/>
              <p:nvPr/>
            </p:nvPicPr>
            <p:blipFill>
              <a:blip r:embed="rId3">
                <a:alphaModFix/>
              </a:blip>
              <a:stretch>
                <a:fillRect/>
              </a:stretch>
            </p:blipFill>
            <p:spPr>
              <a:xfrm>
                <a:off x="7308830" y="4081709"/>
                <a:ext cx="921566" cy="1061791"/>
              </a:xfrm>
              <a:prstGeom prst="rect">
                <a:avLst/>
              </a:prstGeom>
              <a:noFill/>
              <a:ln>
                <a:noFill/>
              </a:ln>
            </p:spPr>
          </p:pic>
          <p:pic>
            <p:nvPicPr>
              <p:cNvPr id="74" name="Google Shape;74;p2"/>
              <p:cNvPicPr preferRelativeResize="0"/>
              <p:nvPr/>
            </p:nvPicPr>
            <p:blipFill>
              <a:blip r:embed="rId3">
                <a:alphaModFix/>
              </a:blip>
              <a:stretch>
                <a:fillRect/>
              </a:stretch>
            </p:blipFill>
            <p:spPr>
              <a:xfrm>
                <a:off x="8222436" y="4081709"/>
                <a:ext cx="921566" cy="1061791"/>
              </a:xfrm>
              <a:prstGeom prst="rect">
                <a:avLst/>
              </a:prstGeom>
              <a:noFill/>
              <a:ln>
                <a:noFill/>
              </a:ln>
            </p:spPr>
          </p:pic>
        </p:grpSp>
        <p:grpSp>
          <p:nvGrpSpPr>
            <p:cNvPr id="75" name="Google Shape;75;p2"/>
            <p:cNvGrpSpPr/>
            <p:nvPr/>
          </p:nvGrpSpPr>
          <p:grpSpPr>
            <a:xfrm>
              <a:off x="-391894" y="-18124"/>
              <a:ext cx="9785975" cy="1261179"/>
              <a:chOff x="456788" y="3305401"/>
              <a:chExt cx="8230425" cy="1060705"/>
            </a:xfrm>
          </p:grpSpPr>
          <p:pic>
            <p:nvPicPr>
              <p:cNvPr id="76" name="Google Shape;76;p2"/>
              <p:cNvPicPr preferRelativeResize="0"/>
              <p:nvPr/>
            </p:nvPicPr>
            <p:blipFill>
              <a:blip r:embed="rId2">
                <a:alphaModFix/>
              </a:blip>
              <a:stretch>
                <a:fillRect/>
              </a:stretch>
            </p:blipFill>
            <p:spPr>
              <a:xfrm>
                <a:off x="3200363" y="3305401"/>
                <a:ext cx="916063" cy="1060705"/>
              </a:xfrm>
              <a:prstGeom prst="rect">
                <a:avLst/>
              </a:prstGeom>
              <a:noFill/>
              <a:ln>
                <a:noFill/>
              </a:ln>
            </p:spPr>
          </p:pic>
          <p:pic>
            <p:nvPicPr>
              <p:cNvPr id="77" name="Google Shape;77;p2"/>
              <p:cNvPicPr preferRelativeResize="0"/>
              <p:nvPr/>
            </p:nvPicPr>
            <p:blipFill>
              <a:blip r:embed="rId2">
                <a:alphaModFix/>
              </a:blip>
              <a:stretch>
                <a:fillRect/>
              </a:stretch>
            </p:blipFill>
            <p:spPr>
              <a:xfrm>
                <a:off x="4113963" y="3305401"/>
                <a:ext cx="916063" cy="1060705"/>
              </a:xfrm>
              <a:prstGeom prst="rect">
                <a:avLst/>
              </a:prstGeom>
              <a:noFill/>
              <a:ln>
                <a:noFill/>
              </a:ln>
            </p:spPr>
          </p:pic>
          <p:pic>
            <p:nvPicPr>
              <p:cNvPr id="78" name="Google Shape;78;p2"/>
              <p:cNvPicPr preferRelativeResize="0"/>
              <p:nvPr/>
            </p:nvPicPr>
            <p:blipFill>
              <a:blip r:embed="rId2">
                <a:alphaModFix/>
              </a:blip>
              <a:stretch>
                <a:fillRect/>
              </a:stretch>
            </p:blipFill>
            <p:spPr>
              <a:xfrm>
                <a:off x="5027563" y="3305401"/>
                <a:ext cx="916063" cy="1060705"/>
              </a:xfrm>
              <a:prstGeom prst="rect">
                <a:avLst/>
              </a:prstGeom>
              <a:noFill/>
              <a:ln>
                <a:noFill/>
              </a:ln>
            </p:spPr>
          </p:pic>
          <p:pic>
            <p:nvPicPr>
              <p:cNvPr id="79" name="Google Shape;79;p2"/>
              <p:cNvPicPr preferRelativeResize="0"/>
              <p:nvPr/>
            </p:nvPicPr>
            <p:blipFill>
              <a:blip r:embed="rId2">
                <a:alphaModFix/>
              </a:blip>
              <a:stretch>
                <a:fillRect/>
              </a:stretch>
            </p:blipFill>
            <p:spPr>
              <a:xfrm>
                <a:off x="5941175" y="3305401"/>
                <a:ext cx="916063" cy="1060705"/>
              </a:xfrm>
              <a:prstGeom prst="rect">
                <a:avLst/>
              </a:prstGeom>
              <a:noFill/>
              <a:ln>
                <a:noFill/>
              </a:ln>
            </p:spPr>
          </p:pic>
          <p:pic>
            <p:nvPicPr>
              <p:cNvPr id="80" name="Google Shape;80;p2"/>
              <p:cNvPicPr preferRelativeResize="0"/>
              <p:nvPr/>
            </p:nvPicPr>
            <p:blipFill>
              <a:blip r:embed="rId2">
                <a:alphaModFix/>
              </a:blip>
              <a:stretch>
                <a:fillRect/>
              </a:stretch>
            </p:blipFill>
            <p:spPr>
              <a:xfrm>
                <a:off x="456788" y="3305401"/>
                <a:ext cx="916063" cy="1060705"/>
              </a:xfrm>
              <a:prstGeom prst="rect">
                <a:avLst/>
              </a:prstGeom>
              <a:noFill/>
              <a:ln>
                <a:noFill/>
              </a:ln>
            </p:spPr>
          </p:pic>
          <p:pic>
            <p:nvPicPr>
              <p:cNvPr id="81" name="Google Shape;81;p2"/>
              <p:cNvPicPr preferRelativeResize="0"/>
              <p:nvPr/>
            </p:nvPicPr>
            <p:blipFill>
              <a:blip r:embed="rId2">
                <a:alphaModFix/>
              </a:blip>
              <a:stretch>
                <a:fillRect/>
              </a:stretch>
            </p:blipFill>
            <p:spPr>
              <a:xfrm>
                <a:off x="1370388" y="3305401"/>
                <a:ext cx="916063" cy="1060705"/>
              </a:xfrm>
              <a:prstGeom prst="rect">
                <a:avLst/>
              </a:prstGeom>
              <a:noFill/>
              <a:ln>
                <a:noFill/>
              </a:ln>
            </p:spPr>
          </p:pic>
          <p:pic>
            <p:nvPicPr>
              <p:cNvPr id="82" name="Google Shape;82;p2"/>
              <p:cNvPicPr preferRelativeResize="0"/>
              <p:nvPr/>
            </p:nvPicPr>
            <p:blipFill>
              <a:blip r:embed="rId2">
                <a:alphaModFix/>
              </a:blip>
              <a:stretch>
                <a:fillRect/>
              </a:stretch>
            </p:blipFill>
            <p:spPr>
              <a:xfrm>
                <a:off x="2284000" y="3305401"/>
                <a:ext cx="916063" cy="1060705"/>
              </a:xfrm>
              <a:prstGeom prst="rect">
                <a:avLst/>
              </a:prstGeom>
              <a:noFill/>
              <a:ln>
                <a:noFill/>
              </a:ln>
            </p:spPr>
          </p:pic>
          <p:pic>
            <p:nvPicPr>
              <p:cNvPr id="83" name="Google Shape;83;p2"/>
              <p:cNvPicPr preferRelativeResize="0"/>
              <p:nvPr/>
            </p:nvPicPr>
            <p:blipFill>
              <a:blip r:embed="rId2">
                <a:alphaModFix/>
              </a:blip>
              <a:stretch>
                <a:fillRect/>
              </a:stretch>
            </p:blipFill>
            <p:spPr>
              <a:xfrm>
                <a:off x="6857538" y="3305401"/>
                <a:ext cx="916063" cy="1060705"/>
              </a:xfrm>
              <a:prstGeom prst="rect">
                <a:avLst/>
              </a:prstGeom>
              <a:noFill/>
              <a:ln>
                <a:noFill/>
              </a:ln>
            </p:spPr>
          </p:pic>
          <p:pic>
            <p:nvPicPr>
              <p:cNvPr id="84" name="Google Shape;84;p2"/>
              <p:cNvPicPr preferRelativeResize="0"/>
              <p:nvPr/>
            </p:nvPicPr>
            <p:blipFill>
              <a:blip r:embed="rId2">
                <a:alphaModFix/>
              </a:blip>
              <a:stretch>
                <a:fillRect/>
              </a:stretch>
            </p:blipFill>
            <p:spPr>
              <a:xfrm>
                <a:off x="7771150" y="3305401"/>
                <a:ext cx="916063" cy="1060705"/>
              </a:xfrm>
              <a:prstGeom prst="rect">
                <a:avLst/>
              </a:prstGeom>
              <a:noFill/>
              <a:ln>
                <a:noFill/>
              </a:ln>
            </p:spPr>
          </p:pic>
        </p:grpSp>
        <p:grpSp>
          <p:nvGrpSpPr>
            <p:cNvPr id="85" name="Google Shape;85;p2"/>
            <p:cNvGrpSpPr/>
            <p:nvPr/>
          </p:nvGrpSpPr>
          <p:grpSpPr>
            <a:xfrm>
              <a:off x="-935000" y="6532024"/>
              <a:ext cx="10872219" cy="1262469"/>
              <a:chOff x="0" y="4081709"/>
              <a:chExt cx="9144002" cy="1061791"/>
            </a:xfrm>
          </p:grpSpPr>
          <p:pic>
            <p:nvPicPr>
              <p:cNvPr id="86" name="Google Shape;86;p2"/>
              <p:cNvPicPr preferRelativeResize="0"/>
              <p:nvPr/>
            </p:nvPicPr>
            <p:blipFill>
              <a:blip r:embed="rId3">
                <a:alphaModFix/>
              </a:blip>
              <a:stretch>
                <a:fillRect/>
              </a:stretch>
            </p:blipFill>
            <p:spPr>
              <a:xfrm>
                <a:off x="0" y="4081709"/>
                <a:ext cx="921566" cy="1061791"/>
              </a:xfrm>
              <a:prstGeom prst="rect">
                <a:avLst/>
              </a:prstGeom>
              <a:noFill/>
              <a:ln>
                <a:noFill/>
              </a:ln>
            </p:spPr>
          </p:pic>
          <p:pic>
            <p:nvPicPr>
              <p:cNvPr id="87" name="Google Shape;87;p2"/>
              <p:cNvPicPr preferRelativeResize="0"/>
              <p:nvPr/>
            </p:nvPicPr>
            <p:blipFill>
              <a:blip r:embed="rId3">
                <a:alphaModFix/>
              </a:blip>
              <a:stretch>
                <a:fillRect/>
              </a:stretch>
            </p:blipFill>
            <p:spPr>
              <a:xfrm>
                <a:off x="1827212" y="4081709"/>
                <a:ext cx="921566" cy="1061791"/>
              </a:xfrm>
              <a:prstGeom prst="rect">
                <a:avLst/>
              </a:prstGeom>
              <a:noFill/>
              <a:ln>
                <a:noFill/>
              </a:ln>
            </p:spPr>
          </p:pic>
          <p:pic>
            <p:nvPicPr>
              <p:cNvPr id="88" name="Google Shape;88;p2"/>
              <p:cNvPicPr preferRelativeResize="0"/>
              <p:nvPr/>
            </p:nvPicPr>
            <p:blipFill>
              <a:blip r:embed="rId3">
                <a:alphaModFix/>
              </a:blip>
              <a:stretch>
                <a:fillRect/>
              </a:stretch>
            </p:blipFill>
            <p:spPr>
              <a:xfrm>
                <a:off x="3654424" y="4081709"/>
                <a:ext cx="921566" cy="1061791"/>
              </a:xfrm>
              <a:prstGeom prst="rect">
                <a:avLst/>
              </a:prstGeom>
              <a:noFill/>
              <a:ln>
                <a:noFill/>
              </a:ln>
            </p:spPr>
          </p:pic>
          <p:pic>
            <p:nvPicPr>
              <p:cNvPr id="89" name="Google Shape;89;p2"/>
              <p:cNvPicPr preferRelativeResize="0"/>
              <p:nvPr/>
            </p:nvPicPr>
            <p:blipFill>
              <a:blip r:embed="rId3">
                <a:alphaModFix/>
              </a:blip>
              <a:stretch>
                <a:fillRect/>
              </a:stretch>
            </p:blipFill>
            <p:spPr>
              <a:xfrm>
                <a:off x="5481635" y="4081709"/>
                <a:ext cx="921566" cy="1061791"/>
              </a:xfrm>
              <a:prstGeom prst="rect">
                <a:avLst/>
              </a:prstGeom>
              <a:noFill/>
              <a:ln>
                <a:noFill/>
              </a:ln>
            </p:spPr>
          </p:pic>
          <p:pic>
            <p:nvPicPr>
              <p:cNvPr id="90" name="Google Shape;90;p2"/>
              <p:cNvPicPr preferRelativeResize="0"/>
              <p:nvPr/>
            </p:nvPicPr>
            <p:blipFill>
              <a:blip r:embed="rId3">
                <a:alphaModFix/>
              </a:blip>
              <a:stretch>
                <a:fillRect/>
              </a:stretch>
            </p:blipFill>
            <p:spPr>
              <a:xfrm>
                <a:off x="913606" y="4081709"/>
                <a:ext cx="921566" cy="1061791"/>
              </a:xfrm>
              <a:prstGeom prst="rect">
                <a:avLst/>
              </a:prstGeom>
              <a:noFill/>
              <a:ln>
                <a:noFill/>
              </a:ln>
            </p:spPr>
          </p:pic>
          <p:pic>
            <p:nvPicPr>
              <p:cNvPr id="91" name="Google Shape;91;p2"/>
              <p:cNvPicPr preferRelativeResize="0"/>
              <p:nvPr/>
            </p:nvPicPr>
            <p:blipFill>
              <a:blip r:embed="rId3">
                <a:alphaModFix/>
              </a:blip>
              <a:stretch>
                <a:fillRect/>
              </a:stretch>
            </p:blipFill>
            <p:spPr>
              <a:xfrm>
                <a:off x="2740818" y="4081709"/>
                <a:ext cx="921566" cy="1061791"/>
              </a:xfrm>
              <a:prstGeom prst="rect">
                <a:avLst/>
              </a:prstGeom>
              <a:noFill/>
              <a:ln>
                <a:noFill/>
              </a:ln>
            </p:spPr>
          </p:pic>
          <p:pic>
            <p:nvPicPr>
              <p:cNvPr id="92" name="Google Shape;92;p2"/>
              <p:cNvPicPr preferRelativeResize="0"/>
              <p:nvPr/>
            </p:nvPicPr>
            <p:blipFill>
              <a:blip r:embed="rId3">
                <a:alphaModFix/>
              </a:blip>
              <a:stretch>
                <a:fillRect/>
              </a:stretch>
            </p:blipFill>
            <p:spPr>
              <a:xfrm>
                <a:off x="4568030" y="4081709"/>
                <a:ext cx="921566" cy="1061791"/>
              </a:xfrm>
              <a:prstGeom prst="rect">
                <a:avLst/>
              </a:prstGeom>
              <a:noFill/>
              <a:ln>
                <a:noFill/>
              </a:ln>
            </p:spPr>
          </p:pic>
          <p:pic>
            <p:nvPicPr>
              <p:cNvPr id="93" name="Google Shape;93;p2"/>
              <p:cNvPicPr preferRelativeResize="0"/>
              <p:nvPr/>
            </p:nvPicPr>
            <p:blipFill>
              <a:blip r:embed="rId3">
                <a:alphaModFix/>
              </a:blip>
              <a:stretch>
                <a:fillRect/>
              </a:stretch>
            </p:blipFill>
            <p:spPr>
              <a:xfrm>
                <a:off x="6395241" y="4081709"/>
                <a:ext cx="921566" cy="1061791"/>
              </a:xfrm>
              <a:prstGeom prst="rect">
                <a:avLst/>
              </a:prstGeom>
              <a:noFill/>
              <a:ln>
                <a:noFill/>
              </a:ln>
            </p:spPr>
          </p:pic>
          <p:pic>
            <p:nvPicPr>
              <p:cNvPr id="94" name="Google Shape;94;p2"/>
              <p:cNvPicPr preferRelativeResize="0"/>
              <p:nvPr/>
            </p:nvPicPr>
            <p:blipFill>
              <a:blip r:embed="rId3">
                <a:alphaModFix/>
              </a:blip>
              <a:stretch>
                <a:fillRect/>
              </a:stretch>
            </p:blipFill>
            <p:spPr>
              <a:xfrm>
                <a:off x="7308830" y="4081709"/>
                <a:ext cx="921566" cy="1061791"/>
              </a:xfrm>
              <a:prstGeom prst="rect">
                <a:avLst/>
              </a:prstGeom>
              <a:noFill/>
              <a:ln>
                <a:noFill/>
              </a:ln>
            </p:spPr>
          </p:pic>
          <p:pic>
            <p:nvPicPr>
              <p:cNvPr id="95" name="Google Shape;95;p2"/>
              <p:cNvPicPr preferRelativeResize="0"/>
              <p:nvPr/>
            </p:nvPicPr>
            <p:blipFill>
              <a:blip r:embed="rId3">
                <a:alphaModFix/>
              </a:blip>
              <a:stretch>
                <a:fillRect/>
              </a:stretch>
            </p:blipFill>
            <p:spPr>
              <a:xfrm>
                <a:off x="8222436" y="4081709"/>
                <a:ext cx="921566" cy="1061791"/>
              </a:xfrm>
              <a:prstGeom prst="rect">
                <a:avLst/>
              </a:prstGeom>
              <a:noFill/>
              <a:ln>
                <a:noFill/>
              </a:ln>
            </p:spPr>
          </p:pic>
        </p:grpSp>
      </p:gr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96" name="Shape 96"/>
        <p:cNvGrpSpPr/>
        <p:nvPr/>
      </p:nvGrpSpPr>
      <p:grpSpPr>
        <a:xfrm>
          <a:off x="0" y="0"/>
          <a:ext cx="0" cy="0"/>
          <a:chOff x="0" y="0"/>
          <a:chExt cx="0" cy="0"/>
        </a:xfrm>
      </p:grpSpPr>
      <p:sp>
        <p:nvSpPr>
          <p:cNvPr id="97" name="Google Shape;97;p3"/>
          <p:cNvSpPr txBox="1"/>
          <p:nvPr>
            <p:ph type="title"/>
          </p:nvPr>
        </p:nvSpPr>
        <p:spPr>
          <a:xfrm>
            <a:off x="311700" y="2867800"/>
            <a:ext cx="8520600" cy="11223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98" name="Google Shape;98;p3"/>
          <p:cNvSpPr txBox="1"/>
          <p:nvPr>
            <p:ph idx="12" type="sldNum"/>
          </p:nvPr>
        </p:nvSpPr>
        <p:spPr>
          <a:xfrm>
            <a:off x="8472458" y="6217622"/>
            <a:ext cx="548700" cy="5247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99" name="Shape 99"/>
        <p:cNvGrpSpPr/>
        <p:nvPr/>
      </p:nvGrpSpPr>
      <p:grpSpPr>
        <a:xfrm>
          <a:off x="0" y="0"/>
          <a:ext cx="0" cy="0"/>
          <a:chOff x="0" y="0"/>
          <a:chExt cx="0" cy="0"/>
        </a:xfrm>
      </p:grpSpPr>
      <p:sp>
        <p:nvSpPr>
          <p:cNvPr id="100" name="Google Shape;100;p4"/>
          <p:cNvSpPr txBox="1"/>
          <p:nvPr>
            <p:ph type="title"/>
          </p:nvPr>
        </p:nvSpPr>
        <p:spPr>
          <a:xfrm>
            <a:off x="311700" y="593367"/>
            <a:ext cx="8520600" cy="7635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01" name="Google Shape;101;p4"/>
          <p:cNvSpPr txBox="1"/>
          <p:nvPr>
            <p:ph idx="1" type="body"/>
          </p:nvPr>
        </p:nvSpPr>
        <p:spPr>
          <a:xfrm>
            <a:off x="311700" y="1536633"/>
            <a:ext cx="8520600" cy="45552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02" name="Google Shape;102;p4"/>
          <p:cNvSpPr txBox="1"/>
          <p:nvPr>
            <p:ph idx="12" type="sldNum"/>
          </p:nvPr>
        </p:nvSpPr>
        <p:spPr>
          <a:xfrm>
            <a:off x="8472458" y="6217622"/>
            <a:ext cx="548700" cy="5247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03" name="Shape 103"/>
        <p:cNvGrpSpPr/>
        <p:nvPr/>
      </p:nvGrpSpPr>
      <p:grpSpPr>
        <a:xfrm>
          <a:off x="0" y="0"/>
          <a:ext cx="0" cy="0"/>
          <a:chOff x="0" y="0"/>
          <a:chExt cx="0" cy="0"/>
        </a:xfrm>
      </p:grpSpPr>
      <p:sp>
        <p:nvSpPr>
          <p:cNvPr id="104" name="Google Shape;104;p5"/>
          <p:cNvSpPr txBox="1"/>
          <p:nvPr>
            <p:ph type="title"/>
          </p:nvPr>
        </p:nvSpPr>
        <p:spPr>
          <a:xfrm>
            <a:off x="311700" y="593367"/>
            <a:ext cx="8520600" cy="7635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05" name="Google Shape;105;p5"/>
          <p:cNvSpPr txBox="1"/>
          <p:nvPr>
            <p:ph idx="1" type="body"/>
          </p:nvPr>
        </p:nvSpPr>
        <p:spPr>
          <a:xfrm>
            <a:off x="311700" y="1536633"/>
            <a:ext cx="3999900" cy="45552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106" name="Google Shape;106;p5"/>
          <p:cNvSpPr txBox="1"/>
          <p:nvPr>
            <p:ph idx="2" type="body"/>
          </p:nvPr>
        </p:nvSpPr>
        <p:spPr>
          <a:xfrm>
            <a:off x="4832400" y="1536633"/>
            <a:ext cx="3999900" cy="45552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107" name="Google Shape;107;p5"/>
          <p:cNvSpPr txBox="1"/>
          <p:nvPr>
            <p:ph idx="12" type="sldNum"/>
          </p:nvPr>
        </p:nvSpPr>
        <p:spPr>
          <a:xfrm>
            <a:off x="8472458" y="6217622"/>
            <a:ext cx="548700" cy="5247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08" name="Shape 108"/>
        <p:cNvGrpSpPr/>
        <p:nvPr/>
      </p:nvGrpSpPr>
      <p:grpSpPr>
        <a:xfrm>
          <a:off x="0" y="0"/>
          <a:ext cx="0" cy="0"/>
          <a:chOff x="0" y="0"/>
          <a:chExt cx="0" cy="0"/>
        </a:xfrm>
      </p:grpSpPr>
      <p:sp>
        <p:nvSpPr>
          <p:cNvPr id="109" name="Google Shape;109;p6"/>
          <p:cNvSpPr txBox="1"/>
          <p:nvPr>
            <p:ph type="title"/>
          </p:nvPr>
        </p:nvSpPr>
        <p:spPr>
          <a:xfrm>
            <a:off x="311700" y="593367"/>
            <a:ext cx="8520600" cy="7635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10" name="Google Shape;110;p6"/>
          <p:cNvSpPr txBox="1"/>
          <p:nvPr>
            <p:ph idx="12" type="sldNum"/>
          </p:nvPr>
        </p:nvSpPr>
        <p:spPr>
          <a:xfrm>
            <a:off x="8472458" y="6217622"/>
            <a:ext cx="548700" cy="5247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111" name="Shape 111"/>
        <p:cNvGrpSpPr/>
        <p:nvPr/>
      </p:nvGrpSpPr>
      <p:grpSpPr>
        <a:xfrm>
          <a:off x="0" y="0"/>
          <a:ext cx="0" cy="0"/>
          <a:chOff x="0" y="0"/>
          <a:chExt cx="0" cy="0"/>
        </a:xfrm>
      </p:grpSpPr>
      <p:sp>
        <p:nvSpPr>
          <p:cNvPr id="112" name="Google Shape;112;p7"/>
          <p:cNvSpPr txBox="1"/>
          <p:nvPr>
            <p:ph type="title"/>
          </p:nvPr>
        </p:nvSpPr>
        <p:spPr>
          <a:xfrm>
            <a:off x="311700" y="740800"/>
            <a:ext cx="2808000" cy="1007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113" name="Google Shape;113;p7"/>
          <p:cNvSpPr txBox="1"/>
          <p:nvPr>
            <p:ph idx="1" type="body"/>
          </p:nvPr>
        </p:nvSpPr>
        <p:spPr>
          <a:xfrm>
            <a:off x="311700" y="1852800"/>
            <a:ext cx="2808000" cy="42393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114" name="Google Shape;114;p7"/>
          <p:cNvSpPr txBox="1"/>
          <p:nvPr>
            <p:ph idx="12" type="sldNum"/>
          </p:nvPr>
        </p:nvSpPr>
        <p:spPr>
          <a:xfrm>
            <a:off x="8472458" y="6217622"/>
            <a:ext cx="548700" cy="5247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115" name="Shape 115"/>
        <p:cNvGrpSpPr/>
        <p:nvPr/>
      </p:nvGrpSpPr>
      <p:grpSpPr>
        <a:xfrm>
          <a:off x="0" y="0"/>
          <a:ext cx="0" cy="0"/>
          <a:chOff x="0" y="0"/>
          <a:chExt cx="0" cy="0"/>
        </a:xfrm>
      </p:grpSpPr>
      <p:sp>
        <p:nvSpPr>
          <p:cNvPr id="116" name="Google Shape;116;p8"/>
          <p:cNvSpPr txBox="1"/>
          <p:nvPr>
            <p:ph type="title"/>
          </p:nvPr>
        </p:nvSpPr>
        <p:spPr>
          <a:xfrm>
            <a:off x="490250" y="600200"/>
            <a:ext cx="6367800" cy="54543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117" name="Google Shape;117;p8"/>
          <p:cNvSpPr txBox="1"/>
          <p:nvPr>
            <p:ph idx="12" type="sldNum"/>
          </p:nvPr>
        </p:nvSpPr>
        <p:spPr>
          <a:xfrm>
            <a:off x="8472458" y="6217622"/>
            <a:ext cx="548700" cy="5247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18" name="Shape 118"/>
        <p:cNvGrpSpPr/>
        <p:nvPr/>
      </p:nvGrpSpPr>
      <p:grpSpPr>
        <a:xfrm>
          <a:off x="0" y="0"/>
          <a:ext cx="0" cy="0"/>
          <a:chOff x="0" y="0"/>
          <a:chExt cx="0" cy="0"/>
        </a:xfrm>
      </p:grpSpPr>
      <p:sp>
        <p:nvSpPr>
          <p:cNvPr id="119" name="Google Shape;119;p9"/>
          <p:cNvSpPr/>
          <p:nvPr/>
        </p:nvSpPr>
        <p:spPr>
          <a:xfrm>
            <a:off x="4572000" y="-167"/>
            <a:ext cx="4572000" cy="68580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 name="Google Shape;120;p9"/>
          <p:cNvSpPr txBox="1"/>
          <p:nvPr>
            <p:ph type="title"/>
          </p:nvPr>
        </p:nvSpPr>
        <p:spPr>
          <a:xfrm>
            <a:off x="265500" y="1644233"/>
            <a:ext cx="4045200" cy="19764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121" name="Google Shape;121;p9"/>
          <p:cNvSpPr txBox="1"/>
          <p:nvPr>
            <p:ph idx="1" type="subTitle"/>
          </p:nvPr>
        </p:nvSpPr>
        <p:spPr>
          <a:xfrm>
            <a:off x="265500" y="3737433"/>
            <a:ext cx="4045200" cy="16467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122" name="Google Shape;122;p9"/>
          <p:cNvSpPr txBox="1"/>
          <p:nvPr>
            <p:ph idx="2" type="body"/>
          </p:nvPr>
        </p:nvSpPr>
        <p:spPr>
          <a:xfrm>
            <a:off x="4939500" y="965433"/>
            <a:ext cx="3837000" cy="49269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23" name="Google Shape;123;p9"/>
          <p:cNvSpPr txBox="1"/>
          <p:nvPr>
            <p:ph idx="12" type="sldNum"/>
          </p:nvPr>
        </p:nvSpPr>
        <p:spPr>
          <a:xfrm>
            <a:off x="8472458" y="6217622"/>
            <a:ext cx="548700" cy="5247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24" name="Shape 124"/>
        <p:cNvGrpSpPr/>
        <p:nvPr/>
      </p:nvGrpSpPr>
      <p:grpSpPr>
        <a:xfrm>
          <a:off x="0" y="0"/>
          <a:ext cx="0" cy="0"/>
          <a:chOff x="0" y="0"/>
          <a:chExt cx="0" cy="0"/>
        </a:xfrm>
      </p:grpSpPr>
      <p:sp>
        <p:nvSpPr>
          <p:cNvPr id="125" name="Google Shape;125;p10"/>
          <p:cNvSpPr txBox="1"/>
          <p:nvPr>
            <p:ph idx="1" type="body"/>
          </p:nvPr>
        </p:nvSpPr>
        <p:spPr>
          <a:xfrm>
            <a:off x="311700" y="5640767"/>
            <a:ext cx="5998800" cy="8067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126" name="Google Shape;126;p10"/>
          <p:cNvSpPr txBox="1"/>
          <p:nvPr>
            <p:ph idx="12" type="sldNum"/>
          </p:nvPr>
        </p:nvSpPr>
        <p:spPr>
          <a:xfrm>
            <a:off x="8472458" y="6217622"/>
            <a:ext cx="548700" cy="5247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127" name="Shape 127"/>
        <p:cNvGrpSpPr/>
        <p:nvPr/>
      </p:nvGrpSpPr>
      <p:grpSpPr>
        <a:xfrm>
          <a:off x="0" y="0"/>
          <a:ext cx="0" cy="0"/>
          <a:chOff x="0" y="0"/>
          <a:chExt cx="0" cy="0"/>
        </a:xfrm>
      </p:grpSpPr>
      <p:sp>
        <p:nvSpPr>
          <p:cNvPr id="128" name="Google Shape;128;p11"/>
          <p:cNvSpPr txBox="1"/>
          <p:nvPr>
            <p:ph hasCustomPrompt="1" type="title"/>
          </p:nvPr>
        </p:nvSpPr>
        <p:spPr>
          <a:xfrm>
            <a:off x="311700" y="1474833"/>
            <a:ext cx="8520600" cy="26181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129" name="Google Shape;129;p11"/>
          <p:cNvSpPr txBox="1"/>
          <p:nvPr>
            <p:ph idx="1" type="body"/>
          </p:nvPr>
        </p:nvSpPr>
        <p:spPr>
          <a:xfrm>
            <a:off x="311700" y="4202967"/>
            <a:ext cx="8520600" cy="17343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130" name="Google Shape;130;p11"/>
          <p:cNvSpPr txBox="1"/>
          <p:nvPr>
            <p:ph idx="12" type="sldNum"/>
          </p:nvPr>
        </p:nvSpPr>
        <p:spPr>
          <a:xfrm>
            <a:off x="8472458" y="6217622"/>
            <a:ext cx="548700" cy="5247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31" name="Shape 131"/>
        <p:cNvGrpSpPr/>
        <p:nvPr/>
      </p:nvGrpSpPr>
      <p:grpSpPr>
        <a:xfrm>
          <a:off x="0" y="0"/>
          <a:ext cx="0" cy="0"/>
          <a:chOff x="0" y="0"/>
          <a:chExt cx="0" cy="0"/>
        </a:xfrm>
      </p:grpSpPr>
      <p:sp>
        <p:nvSpPr>
          <p:cNvPr id="132" name="Google Shape;132;p12"/>
          <p:cNvSpPr txBox="1"/>
          <p:nvPr>
            <p:ph idx="12" type="sldNum"/>
          </p:nvPr>
        </p:nvSpPr>
        <p:spPr>
          <a:xfrm>
            <a:off x="8472458" y="6217622"/>
            <a:ext cx="548700" cy="5247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37" name="Shape 137"/>
        <p:cNvGrpSpPr/>
        <p:nvPr/>
      </p:nvGrpSpPr>
      <p:grpSpPr>
        <a:xfrm>
          <a:off x="0" y="0"/>
          <a:ext cx="0" cy="0"/>
          <a:chOff x="0" y="0"/>
          <a:chExt cx="0" cy="0"/>
        </a:xfrm>
      </p:grpSpPr>
      <p:sp>
        <p:nvSpPr>
          <p:cNvPr id="138" name="Google Shape;138;p14"/>
          <p:cNvSpPr txBox="1"/>
          <p:nvPr>
            <p:ph type="ctrTitle"/>
          </p:nvPr>
        </p:nvSpPr>
        <p:spPr>
          <a:xfrm>
            <a:off x="311708" y="992767"/>
            <a:ext cx="8520600" cy="2736900"/>
          </a:xfrm>
          <a:prstGeom prst="rect">
            <a:avLst/>
          </a:prstGeom>
        </p:spPr>
        <p:txBody>
          <a:bodyPr anchorCtr="0" anchor="b" bIns="91425" lIns="91425" spcFirstLastPara="1" rIns="91425" wrap="square" tIns="91425">
            <a:no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39" name="Google Shape;139;p14"/>
          <p:cNvSpPr txBox="1"/>
          <p:nvPr>
            <p:ph idx="1" type="subTitle"/>
          </p:nvPr>
        </p:nvSpPr>
        <p:spPr>
          <a:xfrm>
            <a:off x="311700" y="3778833"/>
            <a:ext cx="8520600" cy="10569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40" name="Google Shape;140;p14"/>
          <p:cNvSpPr txBox="1"/>
          <p:nvPr>
            <p:ph idx="12" type="sldNum"/>
          </p:nvPr>
        </p:nvSpPr>
        <p:spPr>
          <a:xfrm>
            <a:off x="8472458" y="6217622"/>
            <a:ext cx="548700" cy="5247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41" name="Shape 141"/>
        <p:cNvGrpSpPr/>
        <p:nvPr/>
      </p:nvGrpSpPr>
      <p:grpSpPr>
        <a:xfrm>
          <a:off x="0" y="0"/>
          <a:ext cx="0" cy="0"/>
          <a:chOff x="0" y="0"/>
          <a:chExt cx="0" cy="0"/>
        </a:xfrm>
      </p:grpSpPr>
      <p:sp>
        <p:nvSpPr>
          <p:cNvPr id="142" name="Google Shape;142;p15"/>
          <p:cNvSpPr txBox="1"/>
          <p:nvPr>
            <p:ph type="title"/>
          </p:nvPr>
        </p:nvSpPr>
        <p:spPr>
          <a:xfrm>
            <a:off x="311700" y="2867800"/>
            <a:ext cx="8520600" cy="11223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3600"/>
              <a:buNone/>
              <a:defRPr sz="3600"/>
            </a:lvl1pPr>
            <a:lvl2pPr lvl="1" rtl="0" algn="ctr">
              <a:spcBef>
                <a:spcPts val="0"/>
              </a:spcBef>
              <a:spcAft>
                <a:spcPts val="0"/>
              </a:spcAft>
              <a:buSzPts val="3600"/>
              <a:buNone/>
              <a:defRPr sz="3600"/>
            </a:lvl2pPr>
            <a:lvl3pPr lvl="2" rtl="0" algn="ctr">
              <a:spcBef>
                <a:spcPts val="0"/>
              </a:spcBef>
              <a:spcAft>
                <a:spcPts val="0"/>
              </a:spcAft>
              <a:buSzPts val="3600"/>
              <a:buNone/>
              <a:defRPr sz="3600"/>
            </a:lvl3pPr>
            <a:lvl4pPr lvl="3" rtl="0" algn="ctr">
              <a:spcBef>
                <a:spcPts val="0"/>
              </a:spcBef>
              <a:spcAft>
                <a:spcPts val="0"/>
              </a:spcAft>
              <a:buSzPts val="3600"/>
              <a:buNone/>
              <a:defRPr sz="3600"/>
            </a:lvl4pPr>
            <a:lvl5pPr lvl="4" rtl="0" algn="ctr">
              <a:spcBef>
                <a:spcPts val="0"/>
              </a:spcBef>
              <a:spcAft>
                <a:spcPts val="0"/>
              </a:spcAft>
              <a:buSzPts val="3600"/>
              <a:buNone/>
              <a:defRPr sz="3600"/>
            </a:lvl5pPr>
            <a:lvl6pPr lvl="5" rtl="0" algn="ctr">
              <a:spcBef>
                <a:spcPts val="0"/>
              </a:spcBef>
              <a:spcAft>
                <a:spcPts val="0"/>
              </a:spcAft>
              <a:buSzPts val="3600"/>
              <a:buNone/>
              <a:defRPr sz="3600"/>
            </a:lvl6pPr>
            <a:lvl7pPr lvl="6" rtl="0" algn="ctr">
              <a:spcBef>
                <a:spcPts val="0"/>
              </a:spcBef>
              <a:spcAft>
                <a:spcPts val="0"/>
              </a:spcAft>
              <a:buSzPts val="3600"/>
              <a:buNone/>
              <a:defRPr sz="3600"/>
            </a:lvl7pPr>
            <a:lvl8pPr lvl="7" rtl="0" algn="ctr">
              <a:spcBef>
                <a:spcPts val="0"/>
              </a:spcBef>
              <a:spcAft>
                <a:spcPts val="0"/>
              </a:spcAft>
              <a:buSzPts val="3600"/>
              <a:buNone/>
              <a:defRPr sz="3600"/>
            </a:lvl8pPr>
            <a:lvl9pPr lvl="8" rtl="0" algn="ctr">
              <a:spcBef>
                <a:spcPts val="0"/>
              </a:spcBef>
              <a:spcAft>
                <a:spcPts val="0"/>
              </a:spcAft>
              <a:buSzPts val="3600"/>
              <a:buNone/>
              <a:defRPr sz="3600"/>
            </a:lvl9pPr>
          </a:lstStyle>
          <a:p/>
        </p:txBody>
      </p:sp>
      <p:sp>
        <p:nvSpPr>
          <p:cNvPr id="143" name="Google Shape;143;p15"/>
          <p:cNvSpPr txBox="1"/>
          <p:nvPr>
            <p:ph idx="12" type="sldNum"/>
          </p:nvPr>
        </p:nvSpPr>
        <p:spPr>
          <a:xfrm>
            <a:off x="8472458" y="6217622"/>
            <a:ext cx="548700" cy="5247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44" name="Shape 144"/>
        <p:cNvGrpSpPr/>
        <p:nvPr/>
      </p:nvGrpSpPr>
      <p:grpSpPr>
        <a:xfrm>
          <a:off x="0" y="0"/>
          <a:ext cx="0" cy="0"/>
          <a:chOff x="0" y="0"/>
          <a:chExt cx="0" cy="0"/>
        </a:xfrm>
      </p:grpSpPr>
      <p:sp>
        <p:nvSpPr>
          <p:cNvPr id="145" name="Google Shape;145;p16"/>
          <p:cNvSpPr txBox="1"/>
          <p:nvPr>
            <p:ph type="title"/>
          </p:nvPr>
        </p:nvSpPr>
        <p:spPr>
          <a:xfrm>
            <a:off x="311700" y="593367"/>
            <a:ext cx="8520600" cy="763500"/>
          </a:xfrm>
          <a:prstGeom prst="rect">
            <a:avLst/>
          </a:prstGeom>
        </p:spPr>
        <p:txBody>
          <a:bodyPr anchorCtr="0" anchor="t" bIns="91425" lIns="91425" spcFirstLastPara="1" rIns="91425" wrap="square" tIns="91425">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146" name="Google Shape;146;p16"/>
          <p:cNvSpPr txBox="1"/>
          <p:nvPr>
            <p:ph idx="1" type="body"/>
          </p:nvPr>
        </p:nvSpPr>
        <p:spPr>
          <a:xfrm>
            <a:off x="311700" y="1536633"/>
            <a:ext cx="8520600" cy="4555200"/>
          </a:xfrm>
          <a:prstGeom prst="rect">
            <a:avLst/>
          </a:prstGeom>
        </p:spPr>
        <p:txBody>
          <a:bodyPr anchorCtr="0" anchor="t" bIns="91425" lIns="91425" spcFirstLastPara="1" rIns="91425" wrap="square" tIns="91425">
            <a:noAutofit/>
          </a:bodyPr>
          <a:lstStyle>
            <a:lvl1pPr indent="-342900" lvl="0" marL="457200" rtl="0">
              <a:spcBef>
                <a:spcPts val="0"/>
              </a:spcBef>
              <a:spcAft>
                <a:spcPts val="0"/>
              </a:spcAft>
              <a:buSzPts val="1800"/>
              <a:buChar char="●"/>
              <a:defRPr/>
            </a:lvl1pPr>
            <a:lvl2pPr indent="-317500" lvl="1" marL="914400" rtl="0">
              <a:spcBef>
                <a:spcPts val="1600"/>
              </a:spcBef>
              <a:spcAft>
                <a:spcPts val="0"/>
              </a:spcAft>
              <a:buSzPts val="1400"/>
              <a:buChar char="○"/>
              <a:defRPr/>
            </a:lvl2pPr>
            <a:lvl3pPr indent="-317500" lvl="2" marL="1371600" rtl="0">
              <a:spcBef>
                <a:spcPts val="1600"/>
              </a:spcBef>
              <a:spcAft>
                <a:spcPts val="0"/>
              </a:spcAft>
              <a:buSzPts val="1400"/>
              <a:buChar char="■"/>
              <a:defRPr/>
            </a:lvl3pPr>
            <a:lvl4pPr indent="-317500" lvl="3" marL="1828800" rtl="0">
              <a:spcBef>
                <a:spcPts val="1600"/>
              </a:spcBef>
              <a:spcAft>
                <a:spcPts val="0"/>
              </a:spcAft>
              <a:buSzPts val="1400"/>
              <a:buChar char="●"/>
              <a:defRPr/>
            </a:lvl4pPr>
            <a:lvl5pPr indent="-317500" lvl="4" marL="2286000" rtl="0">
              <a:spcBef>
                <a:spcPts val="1600"/>
              </a:spcBef>
              <a:spcAft>
                <a:spcPts val="0"/>
              </a:spcAft>
              <a:buSzPts val="1400"/>
              <a:buChar char="○"/>
              <a:defRPr/>
            </a:lvl5pPr>
            <a:lvl6pPr indent="-317500" lvl="5" marL="2743200" rtl="0">
              <a:spcBef>
                <a:spcPts val="1600"/>
              </a:spcBef>
              <a:spcAft>
                <a:spcPts val="0"/>
              </a:spcAft>
              <a:buSzPts val="1400"/>
              <a:buChar char="■"/>
              <a:defRPr/>
            </a:lvl6pPr>
            <a:lvl7pPr indent="-317500" lvl="6" marL="3200400" rtl="0">
              <a:spcBef>
                <a:spcPts val="1600"/>
              </a:spcBef>
              <a:spcAft>
                <a:spcPts val="0"/>
              </a:spcAft>
              <a:buSzPts val="1400"/>
              <a:buChar char="●"/>
              <a:defRPr/>
            </a:lvl7pPr>
            <a:lvl8pPr indent="-317500" lvl="7" marL="3657600" rtl="0">
              <a:spcBef>
                <a:spcPts val="1600"/>
              </a:spcBef>
              <a:spcAft>
                <a:spcPts val="0"/>
              </a:spcAft>
              <a:buSzPts val="1400"/>
              <a:buChar char="○"/>
              <a:defRPr/>
            </a:lvl8pPr>
            <a:lvl9pPr indent="-317500" lvl="8" marL="4114800" rtl="0">
              <a:spcBef>
                <a:spcPts val="1600"/>
              </a:spcBef>
              <a:spcAft>
                <a:spcPts val="1600"/>
              </a:spcAft>
              <a:buSzPts val="1400"/>
              <a:buChar char="■"/>
              <a:defRPr/>
            </a:lvl9pPr>
          </a:lstStyle>
          <a:p/>
        </p:txBody>
      </p:sp>
      <p:sp>
        <p:nvSpPr>
          <p:cNvPr id="147" name="Google Shape;147;p16"/>
          <p:cNvSpPr txBox="1"/>
          <p:nvPr>
            <p:ph idx="12" type="sldNum"/>
          </p:nvPr>
        </p:nvSpPr>
        <p:spPr>
          <a:xfrm>
            <a:off x="8472458" y="6217622"/>
            <a:ext cx="548700" cy="5247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48" name="Shape 148"/>
        <p:cNvGrpSpPr/>
        <p:nvPr/>
      </p:nvGrpSpPr>
      <p:grpSpPr>
        <a:xfrm>
          <a:off x="0" y="0"/>
          <a:ext cx="0" cy="0"/>
          <a:chOff x="0" y="0"/>
          <a:chExt cx="0" cy="0"/>
        </a:xfrm>
      </p:grpSpPr>
      <p:sp>
        <p:nvSpPr>
          <p:cNvPr id="149" name="Google Shape;149;p17"/>
          <p:cNvSpPr txBox="1"/>
          <p:nvPr>
            <p:ph type="title"/>
          </p:nvPr>
        </p:nvSpPr>
        <p:spPr>
          <a:xfrm>
            <a:off x="311700" y="593367"/>
            <a:ext cx="8520600" cy="763500"/>
          </a:xfrm>
          <a:prstGeom prst="rect">
            <a:avLst/>
          </a:prstGeom>
        </p:spPr>
        <p:txBody>
          <a:bodyPr anchorCtr="0" anchor="t" bIns="91425" lIns="91425" spcFirstLastPara="1" rIns="91425" wrap="square" tIns="91425">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150" name="Google Shape;150;p17"/>
          <p:cNvSpPr txBox="1"/>
          <p:nvPr>
            <p:ph idx="1" type="body"/>
          </p:nvPr>
        </p:nvSpPr>
        <p:spPr>
          <a:xfrm>
            <a:off x="311700" y="1536633"/>
            <a:ext cx="3999900" cy="4555200"/>
          </a:xfrm>
          <a:prstGeom prst="rect">
            <a:avLst/>
          </a:prstGeom>
        </p:spPr>
        <p:txBody>
          <a:bodyPr anchorCtr="0" anchor="t" bIns="91425" lIns="91425" spcFirstLastPara="1" rIns="91425" wrap="square" tIns="91425">
            <a:noAutofit/>
          </a:bodyPr>
          <a:lstStyle>
            <a:lvl1pPr indent="-317500" lvl="0" marL="457200" rtl="0">
              <a:spcBef>
                <a:spcPts val="0"/>
              </a:spcBef>
              <a:spcAft>
                <a:spcPts val="0"/>
              </a:spcAft>
              <a:buSzPts val="1400"/>
              <a:buChar char="●"/>
              <a:defRPr sz="1400"/>
            </a:lvl1pPr>
            <a:lvl2pPr indent="-304800" lvl="1" marL="914400" rtl="0">
              <a:spcBef>
                <a:spcPts val="1600"/>
              </a:spcBef>
              <a:spcAft>
                <a:spcPts val="0"/>
              </a:spcAft>
              <a:buSzPts val="1200"/>
              <a:buChar char="○"/>
              <a:defRPr sz="1200"/>
            </a:lvl2pPr>
            <a:lvl3pPr indent="-304800" lvl="2" marL="1371600" rtl="0">
              <a:spcBef>
                <a:spcPts val="1600"/>
              </a:spcBef>
              <a:spcAft>
                <a:spcPts val="0"/>
              </a:spcAft>
              <a:buSzPts val="1200"/>
              <a:buChar char="■"/>
              <a:defRPr sz="1200"/>
            </a:lvl3pPr>
            <a:lvl4pPr indent="-304800" lvl="3" marL="1828800" rtl="0">
              <a:spcBef>
                <a:spcPts val="1600"/>
              </a:spcBef>
              <a:spcAft>
                <a:spcPts val="0"/>
              </a:spcAft>
              <a:buSzPts val="1200"/>
              <a:buChar char="●"/>
              <a:defRPr sz="1200"/>
            </a:lvl4pPr>
            <a:lvl5pPr indent="-304800" lvl="4" marL="2286000" rtl="0">
              <a:spcBef>
                <a:spcPts val="1600"/>
              </a:spcBef>
              <a:spcAft>
                <a:spcPts val="0"/>
              </a:spcAft>
              <a:buSzPts val="1200"/>
              <a:buChar char="○"/>
              <a:defRPr sz="1200"/>
            </a:lvl5pPr>
            <a:lvl6pPr indent="-304800" lvl="5" marL="2743200" rtl="0">
              <a:spcBef>
                <a:spcPts val="1600"/>
              </a:spcBef>
              <a:spcAft>
                <a:spcPts val="0"/>
              </a:spcAft>
              <a:buSzPts val="1200"/>
              <a:buChar char="■"/>
              <a:defRPr sz="1200"/>
            </a:lvl6pPr>
            <a:lvl7pPr indent="-304800" lvl="6" marL="3200400" rtl="0">
              <a:spcBef>
                <a:spcPts val="1600"/>
              </a:spcBef>
              <a:spcAft>
                <a:spcPts val="0"/>
              </a:spcAft>
              <a:buSzPts val="1200"/>
              <a:buChar char="●"/>
              <a:defRPr sz="1200"/>
            </a:lvl7pPr>
            <a:lvl8pPr indent="-304800" lvl="7" marL="3657600" rtl="0">
              <a:spcBef>
                <a:spcPts val="1600"/>
              </a:spcBef>
              <a:spcAft>
                <a:spcPts val="0"/>
              </a:spcAft>
              <a:buSzPts val="1200"/>
              <a:buChar char="○"/>
              <a:defRPr sz="1200"/>
            </a:lvl8pPr>
            <a:lvl9pPr indent="-304800" lvl="8" marL="4114800" rtl="0">
              <a:spcBef>
                <a:spcPts val="1600"/>
              </a:spcBef>
              <a:spcAft>
                <a:spcPts val="1600"/>
              </a:spcAft>
              <a:buSzPts val="1200"/>
              <a:buChar char="■"/>
              <a:defRPr sz="1200"/>
            </a:lvl9pPr>
          </a:lstStyle>
          <a:p/>
        </p:txBody>
      </p:sp>
      <p:sp>
        <p:nvSpPr>
          <p:cNvPr id="151" name="Google Shape;151;p17"/>
          <p:cNvSpPr txBox="1"/>
          <p:nvPr>
            <p:ph idx="2" type="body"/>
          </p:nvPr>
        </p:nvSpPr>
        <p:spPr>
          <a:xfrm>
            <a:off x="4832400" y="1536633"/>
            <a:ext cx="3999900" cy="4555200"/>
          </a:xfrm>
          <a:prstGeom prst="rect">
            <a:avLst/>
          </a:prstGeom>
        </p:spPr>
        <p:txBody>
          <a:bodyPr anchorCtr="0" anchor="t" bIns="91425" lIns="91425" spcFirstLastPara="1" rIns="91425" wrap="square" tIns="91425">
            <a:noAutofit/>
          </a:bodyPr>
          <a:lstStyle>
            <a:lvl1pPr indent="-317500" lvl="0" marL="457200" rtl="0">
              <a:spcBef>
                <a:spcPts val="0"/>
              </a:spcBef>
              <a:spcAft>
                <a:spcPts val="0"/>
              </a:spcAft>
              <a:buSzPts val="1400"/>
              <a:buChar char="●"/>
              <a:defRPr sz="1400"/>
            </a:lvl1pPr>
            <a:lvl2pPr indent="-304800" lvl="1" marL="914400" rtl="0">
              <a:spcBef>
                <a:spcPts val="1600"/>
              </a:spcBef>
              <a:spcAft>
                <a:spcPts val="0"/>
              </a:spcAft>
              <a:buSzPts val="1200"/>
              <a:buChar char="○"/>
              <a:defRPr sz="1200"/>
            </a:lvl2pPr>
            <a:lvl3pPr indent="-304800" lvl="2" marL="1371600" rtl="0">
              <a:spcBef>
                <a:spcPts val="1600"/>
              </a:spcBef>
              <a:spcAft>
                <a:spcPts val="0"/>
              </a:spcAft>
              <a:buSzPts val="1200"/>
              <a:buChar char="■"/>
              <a:defRPr sz="1200"/>
            </a:lvl3pPr>
            <a:lvl4pPr indent="-304800" lvl="3" marL="1828800" rtl="0">
              <a:spcBef>
                <a:spcPts val="1600"/>
              </a:spcBef>
              <a:spcAft>
                <a:spcPts val="0"/>
              </a:spcAft>
              <a:buSzPts val="1200"/>
              <a:buChar char="●"/>
              <a:defRPr sz="1200"/>
            </a:lvl4pPr>
            <a:lvl5pPr indent="-304800" lvl="4" marL="2286000" rtl="0">
              <a:spcBef>
                <a:spcPts val="1600"/>
              </a:spcBef>
              <a:spcAft>
                <a:spcPts val="0"/>
              </a:spcAft>
              <a:buSzPts val="1200"/>
              <a:buChar char="○"/>
              <a:defRPr sz="1200"/>
            </a:lvl5pPr>
            <a:lvl6pPr indent="-304800" lvl="5" marL="2743200" rtl="0">
              <a:spcBef>
                <a:spcPts val="1600"/>
              </a:spcBef>
              <a:spcAft>
                <a:spcPts val="0"/>
              </a:spcAft>
              <a:buSzPts val="1200"/>
              <a:buChar char="■"/>
              <a:defRPr sz="1200"/>
            </a:lvl6pPr>
            <a:lvl7pPr indent="-304800" lvl="6" marL="3200400" rtl="0">
              <a:spcBef>
                <a:spcPts val="1600"/>
              </a:spcBef>
              <a:spcAft>
                <a:spcPts val="0"/>
              </a:spcAft>
              <a:buSzPts val="1200"/>
              <a:buChar char="●"/>
              <a:defRPr sz="1200"/>
            </a:lvl7pPr>
            <a:lvl8pPr indent="-304800" lvl="7" marL="3657600" rtl="0">
              <a:spcBef>
                <a:spcPts val="1600"/>
              </a:spcBef>
              <a:spcAft>
                <a:spcPts val="0"/>
              </a:spcAft>
              <a:buSzPts val="1200"/>
              <a:buChar char="○"/>
              <a:defRPr sz="1200"/>
            </a:lvl8pPr>
            <a:lvl9pPr indent="-304800" lvl="8" marL="4114800" rtl="0">
              <a:spcBef>
                <a:spcPts val="1600"/>
              </a:spcBef>
              <a:spcAft>
                <a:spcPts val="1600"/>
              </a:spcAft>
              <a:buSzPts val="1200"/>
              <a:buChar char="■"/>
              <a:defRPr sz="1200"/>
            </a:lvl9pPr>
          </a:lstStyle>
          <a:p/>
        </p:txBody>
      </p:sp>
      <p:sp>
        <p:nvSpPr>
          <p:cNvPr id="152" name="Google Shape;152;p17"/>
          <p:cNvSpPr txBox="1"/>
          <p:nvPr>
            <p:ph idx="12" type="sldNum"/>
          </p:nvPr>
        </p:nvSpPr>
        <p:spPr>
          <a:xfrm>
            <a:off x="8472458" y="6217622"/>
            <a:ext cx="548700" cy="5247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53" name="Shape 153"/>
        <p:cNvGrpSpPr/>
        <p:nvPr/>
      </p:nvGrpSpPr>
      <p:grpSpPr>
        <a:xfrm>
          <a:off x="0" y="0"/>
          <a:ext cx="0" cy="0"/>
          <a:chOff x="0" y="0"/>
          <a:chExt cx="0" cy="0"/>
        </a:xfrm>
      </p:grpSpPr>
      <p:sp>
        <p:nvSpPr>
          <p:cNvPr id="154" name="Google Shape;154;p18"/>
          <p:cNvSpPr txBox="1"/>
          <p:nvPr>
            <p:ph type="title"/>
          </p:nvPr>
        </p:nvSpPr>
        <p:spPr>
          <a:xfrm>
            <a:off x="311700" y="593367"/>
            <a:ext cx="8520600" cy="763500"/>
          </a:xfrm>
          <a:prstGeom prst="rect">
            <a:avLst/>
          </a:prstGeom>
        </p:spPr>
        <p:txBody>
          <a:bodyPr anchorCtr="0" anchor="t" bIns="91425" lIns="91425" spcFirstLastPara="1" rIns="91425" wrap="square" tIns="91425">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155" name="Google Shape;155;p18"/>
          <p:cNvSpPr txBox="1"/>
          <p:nvPr>
            <p:ph idx="12" type="sldNum"/>
          </p:nvPr>
        </p:nvSpPr>
        <p:spPr>
          <a:xfrm>
            <a:off x="8472458" y="6217622"/>
            <a:ext cx="548700" cy="5247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156" name="Shape 156"/>
        <p:cNvGrpSpPr/>
        <p:nvPr/>
      </p:nvGrpSpPr>
      <p:grpSpPr>
        <a:xfrm>
          <a:off x="0" y="0"/>
          <a:ext cx="0" cy="0"/>
          <a:chOff x="0" y="0"/>
          <a:chExt cx="0" cy="0"/>
        </a:xfrm>
      </p:grpSpPr>
      <p:sp>
        <p:nvSpPr>
          <p:cNvPr id="157" name="Google Shape;157;p19"/>
          <p:cNvSpPr txBox="1"/>
          <p:nvPr>
            <p:ph type="title"/>
          </p:nvPr>
        </p:nvSpPr>
        <p:spPr>
          <a:xfrm>
            <a:off x="311700" y="740800"/>
            <a:ext cx="2808000" cy="1007700"/>
          </a:xfrm>
          <a:prstGeom prst="rect">
            <a:avLst/>
          </a:prstGeom>
        </p:spPr>
        <p:txBody>
          <a:bodyPr anchorCtr="0" anchor="b" bIns="91425" lIns="91425" spcFirstLastPara="1" rIns="91425" wrap="square" tIns="91425">
            <a:noAutofit/>
          </a:bodyPr>
          <a:lstStyle>
            <a:lvl1pPr lvl="0" rtl="0">
              <a:spcBef>
                <a:spcPts val="0"/>
              </a:spcBef>
              <a:spcAft>
                <a:spcPts val="0"/>
              </a:spcAft>
              <a:buSzPts val="2400"/>
              <a:buNone/>
              <a:defRPr sz="24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p:txBody>
      </p:sp>
      <p:sp>
        <p:nvSpPr>
          <p:cNvPr id="158" name="Google Shape;158;p19"/>
          <p:cNvSpPr txBox="1"/>
          <p:nvPr>
            <p:ph idx="1" type="body"/>
          </p:nvPr>
        </p:nvSpPr>
        <p:spPr>
          <a:xfrm>
            <a:off x="311700" y="1852800"/>
            <a:ext cx="2808000" cy="4239300"/>
          </a:xfrm>
          <a:prstGeom prst="rect">
            <a:avLst/>
          </a:prstGeom>
        </p:spPr>
        <p:txBody>
          <a:bodyPr anchorCtr="0" anchor="t" bIns="91425" lIns="91425" spcFirstLastPara="1" rIns="91425" wrap="square" tIns="91425">
            <a:noAutofit/>
          </a:bodyPr>
          <a:lstStyle>
            <a:lvl1pPr indent="-304800" lvl="0" marL="457200" rtl="0">
              <a:spcBef>
                <a:spcPts val="0"/>
              </a:spcBef>
              <a:spcAft>
                <a:spcPts val="0"/>
              </a:spcAft>
              <a:buSzPts val="1200"/>
              <a:buChar char="●"/>
              <a:defRPr sz="1200"/>
            </a:lvl1pPr>
            <a:lvl2pPr indent="-304800" lvl="1" marL="914400" rtl="0">
              <a:spcBef>
                <a:spcPts val="1600"/>
              </a:spcBef>
              <a:spcAft>
                <a:spcPts val="0"/>
              </a:spcAft>
              <a:buSzPts val="1200"/>
              <a:buChar char="○"/>
              <a:defRPr sz="1200"/>
            </a:lvl2pPr>
            <a:lvl3pPr indent="-304800" lvl="2" marL="1371600" rtl="0">
              <a:spcBef>
                <a:spcPts val="1600"/>
              </a:spcBef>
              <a:spcAft>
                <a:spcPts val="0"/>
              </a:spcAft>
              <a:buSzPts val="1200"/>
              <a:buChar char="■"/>
              <a:defRPr sz="1200"/>
            </a:lvl3pPr>
            <a:lvl4pPr indent="-304800" lvl="3" marL="1828800" rtl="0">
              <a:spcBef>
                <a:spcPts val="1600"/>
              </a:spcBef>
              <a:spcAft>
                <a:spcPts val="0"/>
              </a:spcAft>
              <a:buSzPts val="1200"/>
              <a:buChar char="●"/>
              <a:defRPr sz="1200"/>
            </a:lvl4pPr>
            <a:lvl5pPr indent="-304800" lvl="4" marL="2286000" rtl="0">
              <a:spcBef>
                <a:spcPts val="1600"/>
              </a:spcBef>
              <a:spcAft>
                <a:spcPts val="0"/>
              </a:spcAft>
              <a:buSzPts val="1200"/>
              <a:buChar char="○"/>
              <a:defRPr sz="1200"/>
            </a:lvl5pPr>
            <a:lvl6pPr indent="-304800" lvl="5" marL="2743200" rtl="0">
              <a:spcBef>
                <a:spcPts val="1600"/>
              </a:spcBef>
              <a:spcAft>
                <a:spcPts val="0"/>
              </a:spcAft>
              <a:buSzPts val="1200"/>
              <a:buChar char="■"/>
              <a:defRPr sz="1200"/>
            </a:lvl6pPr>
            <a:lvl7pPr indent="-304800" lvl="6" marL="3200400" rtl="0">
              <a:spcBef>
                <a:spcPts val="1600"/>
              </a:spcBef>
              <a:spcAft>
                <a:spcPts val="0"/>
              </a:spcAft>
              <a:buSzPts val="1200"/>
              <a:buChar char="●"/>
              <a:defRPr sz="1200"/>
            </a:lvl7pPr>
            <a:lvl8pPr indent="-304800" lvl="7" marL="3657600" rtl="0">
              <a:spcBef>
                <a:spcPts val="1600"/>
              </a:spcBef>
              <a:spcAft>
                <a:spcPts val="0"/>
              </a:spcAft>
              <a:buSzPts val="1200"/>
              <a:buChar char="○"/>
              <a:defRPr sz="1200"/>
            </a:lvl8pPr>
            <a:lvl9pPr indent="-304800" lvl="8" marL="4114800" rtl="0">
              <a:spcBef>
                <a:spcPts val="1600"/>
              </a:spcBef>
              <a:spcAft>
                <a:spcPts val="1600"/>
              </a:spcAft>
              <a:buSzPts val="1200"/>
              <a:buChar char="■"/>
              <a:defRPr sz="1200"/>
            </a:lvl9pPr>
          </a:lstStyle>
          <a:p/>
        </p:txBody>
      </p:sp>
      <p:sp>
        <p:nvSpPr>
          <p:cNvPr id="159" name="Google Shape;159;p19"/>
          <p:cNvSpPr txBox="1"/>
          <p:nvPr>
            <p:ph idx="12" type="sldNum"/>
          </p:nvPr>
        </p:nvSpPr>
        <p:spPr>
          <a:xfrm>
            <a:off x="8472458" y="6217622"/>
            <a:ext cx="548700" cy="5247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160" name="Shape 160"/>
        <p:cNvGrpSpPr/>
        <p:nvPr/>
      </p:nvGrpSpPr>
      <p:grpSpPr>
        <a:xfrm>
          <a:off x="0" y="0"/>
          <a:ext cx="0" cy="0"/>
          <a:chOff x="0" y="0"/>
          <a:chExt cx="0" cy="0"/>
        </a:xfrm>
      </p:grpSpPr>
      <p:sp>
        <p:nvSpPr>
          <p:cNvPr id="161" name="Google Shape;161;p20"/>
          <p:cNvSpPr txBox="1"/>
          <p:nvPr>
            <p:ph type="title"/>
          </p:nvPr>
        </p:nvSpPr>
        <p:spPr>
          <a:xfrm>
            <a:off x="490250" y="600200"/>
            <a:ext cx="6367800" cy="5454300"/>
          </a:xfrm>
          <a:prstGeom prst="rect">
            <a:avLst/>
          </a:prstGeom>
        </p:spPr>
        <p:txBody>
          <a:bodyPr anchorCtr="0" anchor="ctr" bIns="91425" lIns="91425" spcFirstLastPara="1" rIns="91425" wrap="square" tIns="91425">
            <a:noAutofit/>
          </a:bodyPr>
          <a:lstStyle>
            <a:lvl1pPr lvl="0" rtl="0">
              <a:spcBef>
                <a:spcPts val="0"/>
              </a:spcBef>
              <a:spcAft>
                <a:spcPts val="0"/>
              </a:spcAft>
              <a:buSzPts val="4800"/>
              <a:buNone/>
              <a:defRPr sz="4800"/>
            </a:lvl1pPr>
            <a:lvl2pPr lvl="1" rtl="0">
              <a:spcBef>
                <a:spcPts val="0"/>
              </a:spcBef>
              <a:spcAft>
                <a:spcPts val="0"/>
              </a:spcAft>
              <a:buSzPts val="4800"/>
              <a:buNone/>
              <a:defRPr sz="4800"/>
            </a:lvl2pPr>
            <a:lvl3pPr lvl="2" rtl="0">
              <a:spcBef>
                <a:spcPts val="0"/>
              </a:spcBef>
              <a:spcAft>
                <a:spcPts val="0"/>
              </a:spcAft>
              <a:buSzPts val="4800"/>
              <a:buNone/>
              <a:defRPr sz="4800"/>
            </a:lvl3pPr>
            <a:lvl4pPr lvl="3" rtl="0">
              <a:spcBef>
                <a:spcPts val="0"/>
              </a:spcBef>
              <a:spcAft>
                <a:spcPts val="0"/>
              </a:spcAft>
              <a:buSzPts val="4800"/>
              <a:buNone/>
              <a:defRPr sz="4800"/>
            </a:lvl4pPr>
            <a:lvl5pPr lvl="4" rtl="0">
              <a:spcBef>
                <a:spcPts val="0"/>
              </a:spcBef>
              <a:spcAft>
                <a:spcPts val="0"/>
              </a:spcAft>
              <a:buSzPts val="4800"/>
              <a:buNone/>
              <a:defRPr sz="4800"/>
            </a:lvl5pPr>
            <a:lvl6pPr lvl="5" rtl="0">
              <a:spcBef>
                <a:spcPts val="0"/>
              </a:spcBef>
              <a:spcAft>
                <a:spcPts val="0"/>
              </a:spcAft>
              <a:buSzPts val="4800"/>
              <a:buNone/>
              <a:defRPr sz="4800"/>
            </a:lvl6pPr>
            <a:lvl7pPr lvl="6" rtl="0">
              <a:spcBef>
                <a:spcPts val="0"/>
              </a:spcBef>
              <a:spcAft>
                <a:spcPts val="0"/>
              </a:spcAft>
              <a:buSzPts val="4800"/>
              <a:buNone/>
              <a:defRPr sz="4800"/>
            </a:lvl7pPr>
            <a:lvl8pPr lvl="7" rtl="0">
              <a:spcBef>
                <a:spcPts val="0"/>
              </a:spcBef>
              <a:spcAft>
                <a:spcPts val="0"/>
              </a:spcAft>
              <a:buSzPts val="4800"/>
              <a:buNone/>
              <a:defRPr sz="4800"/>
            </a:lvl8pPr>
            <a:lvl9pPr lvl="8" rtl="0">
              <a:spcBef>
                <a:spcPts val="0"/>
              </a:spcBef>
              <a:spcAft>
                <a:spcPts val="0"/>
              </a:spcAft>
              <a:buSzPts val="4800"/>
              <a:buNone/>
              <a:defRPr sz="4800"/>
            </a:lvl9pPr>
          </a:lstStyle>
          <a:p/>
        </p:txBody>
      </p:sp>
      <p:sp>
        <p:nvSpPr>
          <p:cNvPr id="162" name="Google Shape;162;p20"/>
          <p:cNvSpPr txBox="1"/>
          <p:nvPr>
            <p:ph idx="12" type="sldNum"/>
          </p:nvPr>
        </p:nvSpPr>
        <p:spPr>
          <a:xfrm>
            <a:off x="8472458" y="6217622"/>
            <a:ext cx="548700" cy="5247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63" name="Shape 163"/>
        <p:cNvGrpSpPr/>
        <p:nvPr/>
      </p:nvGrpSpPr>
      <p:grpSpPr>
        <a:xfrm>
          <a:off x="0" y="0"/>
          <a:ext cx="0" cy="0"/>
          <a:chOff x="0" y="0"/>
          <a:chExt cx="0" cy="0"/>
        </a:xfrm>
      </p:grpSpPr>
      <p:sp>
        <p:nvSpPr>
          <p:cNvPr id="164" name="Google Shape;164;p21"/>
          <p:cNvSpPr/>
          <p:nvPr/>
        </p:nvSpPr>
        <p:spPr>
          <a:xfrm>
            <a:off x="4572000" y="-167"/>
            <a:ext cx="4572000" cy="68580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 name="Google Shape;165;p21"/>
          <p:cNvSpPr txBox="1"/>
          <p:nvPr>
            <p:ph type="title"/>
          </p:nvPr>
        </p:nvSpPr>
        <p:spPr>
          <a:xfrm>
            <a:off x="265500" y="1644233"/>
            <a:ext cx="4045200" cy="1976400"/>
          </a:xfrm>
          <a:prstGeom prst="rect">
            <a:avLst/>
          </a:prstGeom>
        </p:spPr>
        <p:txBody>
          <a:bodyPr anchorCtr="0" anchor="b" bIns="91425" lIns="91425" spcFirstLastPara="1" rIns="91425" wrap="square" tIns="91425">
            <a:noAutofit/>
          </a:bodyPr>
          <a:lstStyle>
            <a:lvl1pPr lvl="0" rtl="0" algn="ctr">
              <a:spcBef>
                <a:spcPts val="0"/>
              </a:spcBef>
              <a:spcAft>
                <a:spcPts val="0"/>
              </a:spcAft>
              <a:buSzPts val="4200"/>
              <a:buNone/>
              <a:defRPr sz="4200"/>
            </a:lvl1pPr>
            <a:lvl2pPr lvl="1" rtl="0" algn="ctr">
              <a:spcBef>
                <a:spcPts val="0"/>
              </a:spcBef>
              <a:spcAft>
                <a:spcPts val="0"/>
              </a:spcAft>
              <a:buSzPts val="4200"/>
              <a:buNone/>
              <a:defRPr sz="4200"/>
            </a:lvl2pPr>
            <a:lvl3pPr lvl="2" rtl="0" algn="ctr">
              <a:spcBef>
                <a:spcPts val="0"/>
              </a:spcBef>
              <a:spcAft>
                <a:spcPts val="0"/>
              </a:spcAft>
              <a:buSzPts val="4200"/>
              <a:buNone/>
              <a:defRPr sz="4200"/>
            </a:lvl3pPr>
            <a:lvl4pPr lvl="3" rtl="0" algn="ctr">
              <a:spcBef>
                <a:spcPts val="0"/>
              </a:spcBef>
              <a:spcAft>
                <a:spcPts val="0"/>
              </a:spcAft>
              <a:buSzPts val="4200"/>
              <a:buNone/>
              <a:defRPr sz="4200"/>
            </a:lvl4pPr>
            <a:lvl5pPr lvl="4" rtl="0" algn="ctr">
              <a:spcBef>
                <a:spcPts val="0"/>
              </a:spcBef>
              <a:spcAft>
                <a:spcPts val="0"/>
              </a:spcAft>
              <a:buSzPts val="4200"/>
              <a:buNone/>
              <a:defRPr sz="4200"/>
            </a:lvl5pPr>
            <a:lvl6pPr lvl="5" rtl="0" algn="ctr">
              <a:spcBef>
                <a:spcPts val="0"/>
              </a:spcBef>
              <a:spcAft>
                <a:spcPts val="0"/>
              </a:spcAft>
              <a:buSzPts val="4200"/>
              <a:buNone/>
              <a:defRPr sz="4200"/>
            </a:lvl6pPr>
            <a:lvl7pPr lvl="6" rtl="0" algn="ctr">
              <a:spcBef>
                <a:spcPts val="0"/>
              </a:spcBef>
              <a:spcAft>
                <a:spcPts val="0"/>
              </a:spcAft>
              <a:buSzPts val="4200"/>
              <a:buNone/>
              <a:defRPr sz="4200"/>
            </a:lvl7pPr>
            <a:lvl8pPr lvl="7" rtl="0" algn="ctr">
              <a:spcBef>
                <a:spcPts val="0"/>
              </a:spcBef>
              <a:spcAft>
                <a:spcPts val="0"/>
              </a:spcAft>
              <a:buSzPts val="4200"/>
              <a:buNone/>
              <a:defRPr sz="4200"/>
            </a:lvl8pPr>
            <a:lvl9pPr lvl="8" rtl="0" algn="ctr">
              <a:spcBef>
                <a:spcPts val="0"/>
              </a:spcBef>
              <a:spcAft>
                <a:spcPts val="0"/>
              </a:spcAft>
              <a:buSzPts val="4200"/>
              <a:buNone/>
              <a:defRPr sz="4200"/>
            </a:lvl9pPr>
          </a:lstStyle>
          <a:p/>
        </p:txBody>
      </p:sp>
      <p:sp>
        <p:nvSpPr>
          <p:cNvPr id="166" name="Google Shape;166;p21"/>
          <p:cNvSpPr txBox="1"/>
          <p:nvPr>
            <p:ph idx="1" type="subTitle"/>
          </p:nvPr>
        </p:nvSpPr>
        <p:spPr>
          <a:xfrm>
            <a:off x="265500" y="3737433"/>
            <a:ext cx="4045200" cy="16467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2100"/>
              <a:buNone/>
              <a:defRPr sz="2100"/>
            </a:lvl1pPr>
            <a:lvl2pPr lvl="1" rtl="0" algn="ctr">
              <a:lnSpc>
                <a:spcPct val="100000"/>
              </a:lnSpc>
              <a:spcBef>
                <a:spcPts val="0"/>
              </a:spcBef>
              <a:spcAft>
                <a:spcPts val="0"/>
              </a:spcAft>
              <a:buSzPts val="2100"/>
              <a:buNone/>
              <a:defRPr sz="2100"/>
            </a:lvl2pPr>
            <a:lvl3pPr lvl="2" rtl="0" algn="ctr">
              <a:lnSpc>
                <a:spcPct val="100000"/>
              </a:lnSpc>
              <a:spcBef>
                <a:spcPts val="0"/>
              </a:spcBef>
              <a:spcAft>
                <a:spcPts val="0"/>
              </a:spcAft>
              <a:buSzPts val="2100"/>
              <a:buNone/>
              <a:defRPr sz="2100"/>
            </a:lvl3pPr>
            <a:lvl4pPr lvl="3" rtl="0" algn="ctr">
              <a:lnSpc>
                <a:spcPct val="100000"/>
              </a:lnSpc>
              <a:spcBef>
                <a:spcPts val="0"/>
              </a:spcBef>
              <a:spcAft>
                <a:spcPts val="0"/>
              </a:spcAft>
              <a:buSzPts val="2100"/>
              <a:buNone/>
              <a:defRPr sz="2100"/>
            </a:lvl4pPr>
            <a:lvl5pPr lvl="4" rtl="0" algn="ctr">
              <a:lnSpc>
                <a:spcPct val="100000"/>
              </a:lnSpc>
              <a:spcBef>
                <a:spcPts val="0"/>
              </a:spcBef>
              <a:spcAft>
                <a:spcPts val="0"/>
              </a:spcAft>
              <a:buSzPts val="2100"/>
              <a:buNone/>
              <a:defRPr sz="2100"/>
            </a:lvl5pPr>
            <a:lvl6pPr lvl="5" rtl="0" algn="ctr">
              <a:lnSpc>
                <a:spcPct val="100000"/>
              </a:lnSpc>
              <a:spcBef>
                <a:spcPts val="0"/>
              </a:spcBef>
              <a:spcAft>
                <a:spcPts val="0"/>
              </a:spcAft>
              <a:buSzPts val="2100"/>
              <a:buNone/>
              <a:defRPr sz="2100"/>
            </a:lvl6pPr>
            <a:lvl7pPr lvl="6" rtl="0" algn="ctr">
              <a:lnSpc>
                <a:spcPct val="100000"/>
              </a:lnSpc>
              <a:spcBef>
                <a:spcPts val="0"/>
              </a:spcBef>
              <a:spcAft>
                <a:spcPts val="0"/>
              </a:spcAft>
              <a:buSzPts val="2100"/>
              <a:buNone/>
              <a:defRPr sz="2100"/>
            </a:lvl7pPr>
            <a:lvl8pPr lvl="7" rtl="0" algn="ctr">
              <a:lnSpc>
                <a:spcPct val="100000"/>
              </a:lnSpc>
              <a:spcBef>
                <a:spcPts val="0"/>
              </a:spcBef>
              <a:spcAft>
                <a:spcPts val="0"/>
              </a:spcAft>
              <a:buSzPts val="2100"/>
              <a:buNone/>
              <a:defRPr sz="2100"/>
            </a:lvl8pPr>
            <a:lvl9pPr lvl="8" rtl="0" algn="ctr">
              <a:lnSpc>
                <a:spcPct val="100000"/>
              </a:lnSpc>
              <a:spcBef>
                <a:spcPts val="0"/>
              </a:spcBef>
              <a:spcAft>
                <a:spcPts val="0"/>
              </a:spcAft>
              <a:buSzPts val="2100"/>
              <a:buNone/>
              <a:defRPr sz="2100"/>
            </a:lvl9pPr>
          </a:lstStyle>
          <a:p/>
        </p:txBody>
      </p:sp>
      <p:sp>
        <p:nvSpPr>
          <p:cNvPr id="167" name="Google Shape;167;p21"/>
          <p:cNvSpPr txBox="1"/>
          <p:nvPr>
            <p:ph idx="2" type="body"/>
          </p:nvPr>
        </p:nvSpPr>
        <p:spPr>
          <a:xfrm>
            <a:off x="4939500" y="965433"/>
            <a:ext cx="3837000" cy="4926900"/>
          </a:xfrm>
          <a:prstGeom prst="rect">
            <a:avLst/>
          </a:prstGeom>
        </p:spPr>
        <p:txBody>
          <a:bodyPr anchorCtr="0" anchor="ctr" bIns="91425" lIns="91425" spcFirstLastPara="1" rIns="91425" wrap="square" tIns="91425">
            <a:noAutofit/>
          </a:bodyPr>
          <a:lstStyle>
            <a:lvl1pPr indent="-342900" lvl="0" marL="457200" rtl="0">
              <a:spcBef>
                <a:spcPts val="0"/>
              </a:spcBef>
              <a:spcAft>
                <a:spcPts val="0"/>
              </a:spcAft>
              <a:buSzPts val="1800"/>
              <a:buChar char="●"/>
              <a:defRPr/>
            </a:lvl1pPr>
            <a:lvl2pPr indent="-317500" lvl="1" marL="914400" rtl="0">
              <a:spcBef>
                <a:spcPts val="1600"/>
              </a:spcBef>
              <a:spcAft>
                <a:spcPts val="0"/>
              </a:spcAft>
              <a:buSzPts val="1400"/>
              <a:buChar char="○"/>
              <a:defRPr/>
            </a:lvl2pPr>
            <a:lvl3pPr indent="-317500" lvl="2" marL="1371600" rtl="0">
              <a:spcBef>
                <a:spcPts val="1600"/>
              </a:spcBef>
              <a:spcAft>
                <a:spcPts val="0"/>
              </a:spcAft>
              <a:buSzPts val="1400"/>
              <a:buChar char="■"/>
              <a:defRPr/>
            </a:lvl3pPr>
            <a:lvl4pPr indent="-317500" lvl="3" marL="1828800" rtl="0">
              <a:spcBef>
                <a:spcPts val="1600"/>
              </a:spcBef>
              <a:spcAft>
                <a:spcPts val="0"/>
              </a:spcAft>
              <a:buSzPts val="1400"/>
              <a:buChar char="●"/>
              <a:defRPr/>
            </a:lvl4pPr>
            <a:lvl5pPr indent="-317500" lvl="4" marL="2286000" rtl="0">
              <a:spcBef>
                <a:spcPts val="1600"/>
              </a:spcBef>
              <a:spcAft>
                <a:spcPts val="0"/>
              </a:spcAft>
              <a:buSzPts val="1400"/>
              <a:buChar char="○"/>
              <a:defRPr/>
            </a:lvl5pPr>
            <a:lvl6pPr indent="-317500" lvl="5" marL="2743200" rtl="0">
              <a:spcBef>
                <a:spcPts val="1600"/>
              </a:spcBef>
              <a:spcAft>
                <a:spcPts val="0"/>
              </a:spcAft>
              <a:buSzPts val="1400"/>
              <a:buChar char="■"/>
              <a:defRPr/>
            </a:lvl6pPr>
            <a:lvl7pPr indent="-317500" lvl="6" marL="3200400" rtl="0">
              <a:spcBef>
                <a:spcPts val="1600"/>
              </a:spcBef>
              <a:spcAft>
                <a:spcPts val="0"/>
              </a:spcAft>
              <a:buSzPts val="1400"/>
              <a:buChar char="●"/>
              <a:defRPr/>
            </a:lvl7pPr>
            <a:lvl8pPr indent="-317500" lvl="7" marL="3657600" rtl="0">
              <a:spcBef>
                <a:spcPts val="1600"/>
              </a:spcBef>
              <a:spcAft>
                <a:spcPts val="0"/>
              </a:spcAft>
              <a:buSzPts val="1400"/>
              <a:buChar char="○"/>
              <a:defRPr/>
            </a:lvl8pPr>
            <a:lvl9pPr indent="-317500" lvl="8" marL="4114800" rtl="0">
              <a:spcBef>
                <a:spcPts val="1600"/>
              </a:spcBef>
              <a:spcAft>
                <a:spcPts val="1600"/>
              </a:spcAft>
              <a:buSzPts val="1400"/>
              <a:buChar char="■"/>
              <a:defRPr/>
            </a:lvl9pPr>
          </a:lstStyle>
          <a:p/>
        </p:txBody>
      </p:sp>
      <p:sp>
        <p:nvSpPr>
          <p:cNvPr id="168" name="Google Shape;168;p21"/>
          <p:cNvSpPr txBox="1"/>
          <p:nvPr>
            <p:ph idx="12" type="sldNum"/>
          </p:nvPr>
        </p:nvSpPr>
        <p:spPr>
          <a:xfrm>
            <a:off x="8472458" y="6217622"/>
            <a:ext cx="548700" cy="5247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69" name="Shape 169"/>
        <p:cNvGrpSpPr/>
        <p:nvPr/>
      </p:nvGrpSpPr>
      <p:grpSpPr>
        <a:xfrm>
          <a:off x="0" y="0"/>
          <a:ext cx="0" cy="0"/>
          <a:chOff x="0" y="0"/>
          <a:chExt cx="0" cy="0"/>
        </a:xfrm>
      </p:grpSpPr>
      <p:sp>
        <p:nvSpPr>
          <p:cNvPr id="170" name="Google Shape;170;p22"/>
          <p:cNvSpPr txBox="1"/>
          <p:nvPr>
            <p:ph idx="1" type="body"/>
          </p:nvPr>
        </p:nvSpPr>
        <p:spPr>
          <a:xfrm>
            <a:off x="311700" y="5640767"/>
            <a:ext cx="5998800" cy="806700"/>
          </a:xfrm>
          <a:prstGeom prst="rect">
            <a:avLst/>
          </a:prstGeom>
        </p:spPr>
        <p:txBody>
          <a:bodyPr anchorCtr="0" anchor="ctr" bIns="91425" lIns="91425" spcFirstLastPara="1" rIns="91425" wrap="square" tIns="91425">
            <a:noAutofit/>
          </a:bodyPr>
          <a:lstStyle>
            <a:lvl1pPr indent="-228600" lvl="0" marL="457200" rtl="0">
              <a:lnSpc>
                <a:spcPct val="100000"/>
              </a:lnSpc>
              <a:spcBef>
                <a:spcPts val="0"/>
              </a:spcBef>
              <a:spcAft>
                <a:spcPts val="0"/>
              </a:spcAft>
              <a:buSzPts val="1800"/>
              <a:buNone/>
              <a:defRPr/>
            </a:lvl1pPr>
          </a:lstStyle>
          <a:p/>
        </p:txBody>
      </p:sp>
      <p:sp>
        <p:nvSpPr>
          <p:cNvPr id="171" name="Google Shape;171;p22"/>
          <p:cNvSpPr txBox="1"/>
          <p:nvPr>
            <p:ph idx="12" type="sldNum"/>
          </p:nvPr>
        </p:nvSpPr>
        <p:spPr>
          <a:xfrm>
            <a:off x="8472458" y="6217622"/>
            <a:ext cx="548700" cy="5247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172" name="Shape 172"/>
        <p:cNvGrpSpPr/>
        <p:nvPr/>
      </p:nvGrpSpPr>
      <p:grpSpPr>
        <a:xfrm>
          <a:off x="0" y="0"/>
          <a:ext cx="0" cy="0"/>
          <a:chOff x="0" y="0"/>
          <a:chExt cx="0" cy="0"/>
        </a:xfrm>
      </p:grpSpPr>
      <p:sp>
        <p:nvSpPr>
          <p:cNvPr id="173" name="Google Shape;173;p23"/>
          <p:cNvSpPr txBox="1"/>
          <p:nvPr>
            <p:ph hasCustomPrompt="1" type="title"/>
          </p:nvPr>
        </p:nvSpPr>
        <p:spPr>
          <a:xfrm>
            <a:off x="311700" y="1474833"/>
            <a:ext cx="8520600" cy="2618100"/>
          </a:xfrm>
          <a:prstGeom prst="rect">
            <a:avLst/>
          </a:prstGeom>
        </p:spPr>
        <p:txBody>
          <a:bodyPr anchorCtr="0" anchor="b" bIns="91425" lIns="91425" spcFirstLastPara="1" rIns="91425" wrap="square" tIns="91425">
            <a:noAutofit/>
          </a:bodyPr>
          <a:lstStyle>
            <a:lvl1pPr lvl="0" rtl="0" algn="ctr">
              <a:spcBef>
                <a:spcPts val="0"/>
              </a:spcBef>
              <a:spcAft>
                <a:spcPts val="0"/>
              </a:spcAft>
              <a:buSzPts val="12000"/>
              <a:buNone/>
              <a:defRPr sz="12000"/>
            </a:lvl1pPr>
            <a:lvl2pPr lvl="1" rtl="0" algn="ctr">
              <a:spcBef>
                <a:spcPts val="0"/>
              </a:spcBef>
              <a:spcAft>
                <a:spcPts val="0"/>
              </a:spcAft>
              <a:buSzPts val="12000"/>
              <a:buNone/>
              <a:defRPr sz="12000"/>
            </a:lvl2pPr>
            <a:lvl3pPr lvl="2" rtl="0" algn="ctr">
              <a:spcBef>
                <a:spcPts val="0"/>
              </a:spcBef>
              <a:spcAft>
                <a:spcPts val="0"/>
              </a:spcAft>
              <a:buSzPts val="12000"/>
              <a:buNone/>
              <a:defRPr sz="12000"/>
            </a:lvl3pPr>
            <a:lvl4pPr lvl="3" rtl="0" algn="ctr">
              <a:spcBef>
                <a:spcPts val="0"/>
              </a:spcBef>
              <a:spcAft>
                <a:spcPts val="0"/>
              </a:spcAft>
              <a:buSzPts val="12000"/>
              <a:buNone/>
              <a:defRPr sz="12000"/>
            </a:lvl4pPr>
            <a:lvl5pPr lvl="4" rtl="0" algn="ctr">
              <a:spcBef>
                <a:spcPts val="0"/>
              </a:spcBef>
              <a:spcAft>
                <a:spcPts val="0"/>
              </a:spcAft>
              <a:buSzPts val="12000"/>
              <a:buNone/>
              <a:defRPr sz="12000"/>
            </a:lvl5pPr>
            <a:lvl6pPr lvl="5" rtl="0" algn="ctr">
              <a:spcBef>
                <a:spcPts val="0"/>
              </a:spcBef>
              <a:spcAft>
                <a:spcPts val="0"/>
              </a:spcAft>
              <a:buSzPts val="12000"/>
              <a:buNone/>
              <a:defRPr sz="12000"/>
            </a:lvl6pPr>
            <a:lvl7pPr lvl="6" rtl="0" algn="ctr">
              <a:spcBef>
                <a:spcPts val="0"/>
              </a:spcBef>
              <a:spcAft>
                <a:spcPts val="0"/>
              </a:spcAft>
              <a:buSzPts val="12000"/>
              <a:buNone/>
              <a:defRPr sz="12000"/>
            </a:lvl7pPr>
            <a:lvl8pPr lvl="7" rtl="0" algn="ctr">
              <a:spcBef>
                <a:spcPts val="0"/>
              </a:spcBef>
              <a:spcAft>
                <a:spcPts val="0"/>
              </a:spcAft>
              <a:buSzPts val="12000"/>
              <a:buNone/>
              <a:defRPr sz="12000"/>
            </a:lvl8pPr>
            <a:lvl9pPr lvl="8" rtl="0" algn="ctr">
              <a:spcBef>
                <a:spcPts val="0"/>
              </a:spcBef>
              <a:spcAft>
                <a:spcPts val="0"/>
              </a:spcAft>
              <a:buSzPts val="12000"/>
              <a:buNone/>
              <a:defRPr sz="12000"/>
            </a:lvl9pPr>
          </a:lstStyle>
          <a:p>
            <a:r>
              <a:t>xx%</a:t>
            </a:r>
          </a:p>
        </p:txBody>
      </p:sp>
      <p:sp>
        <p:nvSpPr>
          <p:cNvPr id="174" name="Google Shape;174;p23"/>
          <p:cNvSpPr txBox="1"/>
          <p:nvPr>
            <p:ph idx="1" type="body"/>
          </p:nvPr>
        </p:nvSpPr>
        <p:spPr>
          <a:xfrm>
            <a:off x="311700" y="4202967"/>
            <a:ext cx="8520600" cy="1734300"/>
          </a:xfrm>
          <a:prstGeom prst="rect">
            <a:avLst/>
          </a:prstGeom>
        </p:spPr>
        <p:txBody>
          <a:bodyPr anchorCtr="0" anchor="t" bIns="91425" lIns="91425" spcFirstLastPara="1" rIns="91425" wrap="square" tIns="91425">
            <a:noAutofit/>
          </a:bodyPr>
          <a:lstStyle>
            <a:lvl1pPr indent="-342900" lvl="0" marL="457200" rtl="0" algn="ctr">
              <a:spcBef>
                <a:spcPts val="0"/>
              </a:spcBef>
              <a:spcAft>
                <a:spcPts val="0"/>
              </a:spcAft>
              <a:buSzPts val="1800"/>
              <a:buChar char="●"/>
              <a:defRPr/>
            </a:lvl1pPr>
            <a:lvl2pPr indent="-317500" lvl="1" marL="914400" rtl="0" algn="ctr">
              <a:spcBef>
                <a:spcPts val="1600"/>
              </a:spcBef>
              <a:spcAft>
                <a:spcPts val="0"/>
              </a:spcAft>
              <a:buSzPts val="1400"/>
              <a:buChar char="○"/>
              <a:defRPr/>
            </a:lvl2pPr>
            <a:lvl3pPr indent="-317500" lvl="2" marL="1371600" rtl="0" algn="ctr">
              <a:spcBef>
                <a:spcPts val="1600"/>
              </a:spcBef>
              <a:spcAft>
                <a:spcPts val="0"/>
              </a:spcAft>
              <a:buSzPts val="1400"/>
              <a:buChar char="■"/>
              <a:defRPr/>
            </a:lvl3pPr>
            <a:lvl4pPr indent="-317500" lvl="3" marL="1828800" rtl="0" algn="ctr">
              <a:spcBef>
                <a:spcPts val="1600"/>
              </a:spcBef>
              <a:spcAft>
                <a:spcPts val="0"/>
              </a:spcAft>
              <a:buSzPts val="1400"/>
              <a:buChar char="●"/>
              <a:defRPr/>
            </a:lvl4pPr>
            <a:lvl5pPr indent="-317500" lvl="4" marL="2286000" rtl="0" algn="ctr">
              <a:spcBef>
                <a:spcPts val="1600"/>
              </a:spcBef>
              <a:spcAft>
                <a:spcPts val="0"/>
              </a:spcAft>
              <a:buSzPts val="1400"/>
              <a:buChar char="○"/>
              <a:defRPr/>
            </a:lvl5pPr>
            <a:lvl6pPr indent="-317500" lvl="5" marL="2743200" rtl="0" algn="ctr">
              <a:spcBef>
                <a:spcPts val="1600"/>
              </a:spcBef>
              <a:spcAft>
                <a:spcPts val="0"/>
              </a:spcAft>
              <a:buSzPts val="1400"/>
              <a:buChar char="■"/>
              <a:defRPr/>
            </a:lvl6pPr>
            <a:lvl7pPr indent="-317500" lvl="6" marL="3200400" rtl="0" algn="ctr">
              <a:spcBef>
                <a:spcPts val="1600"/>
              </a:spcBef>
              <a:spcAft>
                <a:spcPts val="0"/>
              </a:spcAft>
              <a:buSzPts val="1400"/>
              <a:buChar char="●"/>
              <a:defRPr/>
            </a:lvl7pPr>
            <a:lvl8pPr indent="-317500" lvl="7" marL="3657600" rtl="0" algn="ctr">
              <a:spcBef>
                <a:spcPts val="1600"/>
              </a:spcBef>
              <a:spcAft>
                <a:spcPts val="0"/>
              </a:spcAft>
              <a:buSzPts val="1400"/>
              <a:buChar char="○"/>
              <a:defRPr/>
            </a:lvl8pPr>
            <a:lvl9pPr indent="-317500" lvl="8" marL="4114800" rtl="0" algn="ctr">
              <a:spcBef>
                <a:spcPts val="1600"/>
              </a:spcBef>
              <a:spcAft>
                <a:spcPts val="1600"/>
              </a:spcAft>
              <a:buSzPts val="1400"/>
              <a:buChar char="■"/>
              <a:defRPr/>
            </a:lvl9pPr>
          </a:lstStyle>
          <a:p/>
        </p:txBody>
      </p:sp>
      <p:sp>
        <p:nvSpPr>
          <p:cNvPr id="175" name="Google Shape;175;p23"/>
          <p:cNvSpPr txBox="1"/>
          <p:nvPr>
            <p:ph idx="12" type="sldNum"/>
          </p:nvPr>
        </p:nvSpPr>
        <p:spPr>
          <a:xfrm>
            <a:off x="8472458" y="6217622"/>
            <a:ext cx="548700" cy="5247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76" name="Shape 176"/>
        <p:cNvGrpSpPr/>
        <p:nvPr/>
      </p:nvGrpSpPr>
      <p:grpSpPr>
        <a:xfrm>
          <a:off x="0" y="0"/>
          <a:ext cx="0" cy="0"/>
          <a:chOff x="0" y="0"/>
          <a:chExt cx="0" cy="0"/>
        </a:xfrm>
      </p:grpSpPr>
      <p:sp>
        <p:nvSpPr>
          <p:cNvPr id="177" name="Google Shape;177;p24"/>
          <p:cNvSpPr txBox="1"/>
          <p:nvPr>
            <p:ph idx="12" type="sldNum"/>
          </p:nvPr>
        </p:nvSpPr>
        <p:spPr>
          <a:xfrm>
            <a:off x="8472458" y="6217622"/>
            <a:ext cx="548700" cy="5247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3.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11" Type="http://schemas.openxmlformats.org/officeDocument/2006/relationships/slideLayout" Target="../slideLayouts/slideLayout22.xml"/><Relationship Id="rId10" Type="http://schemas.openxmlformats.org/officeDocument/2006/relationships/slideLayout" Target="../slideLayouts/slideLayout21.xml"/><Relationship Id="rId12" Type="http://schemas.openxmlformats.org/officeDocument/2006/relationships/theme" Target="../theme/theme2.xml"/><Relationship Id="rId9" Type="http://schemas.openxmlformats.org/officeDocument/2006/relationships/slideLayout" Target="../slideLayouts/slideLayout20.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593367"/>
            <a:ext cx="8520600" cy="7635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536633"/>
            <a:ext cx="8520600" cy="45552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6217622"/>
            <a:ext cx="548700" cy="5247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133" name="Shape 133"/>
        <p:cNvGrpSpPr/>
        <p:nvPr/>
      </p:nvGrpSpPr>
      <p:grpSpPr>
        <a:xfrm>
          <a:off x="0" y="0"/>
          <a:ext cx="0" cy="0"/>
          <a:chOff x="0" y="0"/>
          <a:chExt cx="0" cy="0"/>
        </a:xfrm>
      </p:grpSpPr>
      <p:sp>
        <p:nvSpPr>
          <p:cNvPr id="134" name="Google Shape;134;p13"/>
          <p:cNvSpPr txBox="1"/>
          <p:nvPr>
            <p:ph type="title"/>
          </p:nvPr>
        </p:nvSpPr>
        <p:spPr>
          <a:xfrm>
            <a:off x="311700" y="593367"/>
            <a:ext cx="8520600" cy="763500"/>
          </a:xfrm>
          <a:prstGeom prst="rect">
            <a:avLst/>
          </a:prstGeom>
          <a:noFill/>
          <a:ln>
            <a:noFill/>
          </a:ln>
        </p:spPr>
        <p:txBody>
          <a:bodyPr anchorCtr="0" anchor="t" bIns="91425" lIns="91425" spcFirstLastPara="1" rIns="91425" wrap="square" tIns="91425">
            <a:noAutofit/>
          </a:bodyPr>
          <a:lstStyle>
            <a:lvl1pPr lvl="0" rtl="0">
              <a:spcBef>
                <a:spcPts val="0"/>
              </a:spcBef>
              <a:spcAft>
                <a:spcPts val="0"/>
              </a:spcAft>
              <a:buClr>
                <a:schemeClr val="dk1"/>
              </a:buClr>
              <a:buSzPts val="2800"/>
              <a:buNone/>
              <a:defRPr sz="2800">
                <a:solidFill>
                  <a:schemeClr val="dk1"/>
                </a:solidFill>
              </a:defRPr>
            </a:lvl1pPr>
            <a:lvl2pPr lvl="1" rtl="0">
              <a:spcBef>
                <a:spcPts val="0"/>
              </a:spcBef>
              <a:spcAft>
                <a:spcPts val="0"/>
              </a:spcAft>
              <a:buClr>
                <a:schemeClr val="dk1"/>
              </a:buClr>
              <a:buSzPts val="2800"/>
              <a:buNone/>
              <a:defRPr sz="2800">
                <a:solidFill>
                  <a:schemeClr val="dk1"/>
                </a:solidFill>
              </a:defRPr>
            </a:lvl2pPr>
            <a:lvl3pPr lvl="2" rtl="0">
              <a:spcBef>
                <a:spcPts val="0"/>
              </a:spcBef>
              <a:spcAft>
                <a:spcPts val="0"/>
              </a:spcAft>
              <a:buClr>
                <a:schemeClr val="dk1"/>
              </a:buClr>
              <a:buSzPts val="2800"/>
              <a:buNone/>
              <a:defRPr sz="2800">
                <a:solidFill>
                  <a:schemeClr val="dk1"/>
                </a:solidFill>
              </a:defRPr>
            </a:lvl3pPr>
            <a:lvl4pPr lvl="3" rtl="0">
              <a:spcBef>
                <a:spcPts val="0"/>
              </a:spcBef>
              <a:spcAft>
                <a:spcPts val="0"/>
              </a:spcAft>
              <a:buClr>
                <a:schemeClr val="dk1"/>
              </a:buClr>
              <a:buSzPts val="2800"/>
              <a:buNone/>
              <a:defRPr sz="2800">
                <a:solidFill>
                  <a:schemeClr val="dk1"/>
                </a:solidFill>
              </a:defRPr>
            </a:lvl4pPr>
            <a:lvl5pPr lvl="4" rtl="0">
              <a:spcBef>
                <a:spcPts val="0"/>
              </a:spcBef>
              <a:spcAft>
                <a:spcPts val="0"/>
              </a:spcAft>
              <a:buClr>
                <a:schemeClr val="dk1"/>
              </a:buClr>
              <a:buSzPts val="2800"/>
              <a:buNone/>
              <a:defRPr sz="2800">
                <a:solidFill>
                  <a:schemeClr val="dk1"/>
                </a:solidFill>
              </a:defRPr>
            </a:lvl5pPr>
            <a:lvl6pPr lvl="5" rtl="0">
              <a:spcBef>
                <a:spcPts val="0"/>
              </a:spcBef>
              <a:spcAft>
                <a:spcPts val="0"/>
              </a:spcAft>
              <a:buClr>
                <a:schemeClr val="dk1"/>
              </a:buClr>
              <a:buSzPts val="2800"/>
              <a:buNone/>
              <a:defRPr sz="2800">
                <a:solidFill>
                  <a:schemeClr val="dk1"/>
                </a:solidFill>
              </a:defRPr>
            </a:lvl6pPr>
            <a:lvl7pPr lvl="6" rtl="0">
              <a:spcBef>
                <a:spcPts val="0"/>
              </a:spcBef>
              <a:spcAft>
                <a:spcPts val="0"/>
              </a:spcAft>
              <a:buClr>
                <a:schemeClr val="dk1"/>
              </a:buClr>
              <a:buSzPts val="2800"/>
              <a:buNone/>
              <a:defRPr sz="2800">
                <a:solidFill>
                  <a:schemeClr val="dk1"/>
                </a:solidFill>
              </a:defRPr>
            </a:lvl7pPr>
            <a:lvl8pPr lvl="7" rtl="0">
              <a:spcBef>
                <a:spcPts val="0"/>
              </a:spcBef>
              <a:spcAft>
                <a:spcPts val="0"/>
              </a:spcAft>
              <a:buClr>
                <a:schemeClr val="dk1"/>
              </a:buClr>
              <a:buSzPts val="2800"/>
              <a:buNone/>
              <a:defRPr sz="2800">
                <a:solidFill>
                  <a:schemeClr val="dk1"/>
                </a:solidFill>
              </a:defRPr>
            </a:lvl8pPr>
            <a:lvl9pPr lvl="8" rtl="0">
              <a:spcBef>
                <a:spcPts val="0"/>
              </a:spcBef>
              <a:spcAft>
                <a:spcPts val="0"/>
              </a:spcAft>
              <a:buClr>
                <a:schemeClr val="dk1"/>
              </a:buClr>
              <a:buSzPts val="2800"/>
              <a:buNone/>
              <a:defRPr sz="2800">
                <a:solidFill>
                  <a:schemeClr val="dk1"/>
                </a:solidFill>
              </a:defRPr>
            </a:lvl9pPr>
          </a:lstStyle>
          <a:p/>
        </p:txBody>
      </p:sp>
      <p:sp>
        <p:nvSpPr>
          <p:cNvPr id="135" name="Google Shape;135;p13"/>
          <p:cNvSpPr txBox="1"/>
          <p:nvPr>
            <p:ph idx="1" type="body"/>
          </p:nvPr>
        </p:nvSpPr>
        <p:spPr>
          <a:xfrm>
            <a:off x="311700" y="1536633"/>
            <a:ext cx="8520600" cy="4555200"/>
          </a:xfrm>
          <a:prstGeom prst="rect">
            <a:avLst/>
          </a:prstGeom>
          <a:noFill/>
          <a:ln>
            <a:noFill/>
          </a:ln>
        </p:spPr>
        <p:txBody>
          <a:bodyPr anchorCtr="0" anchor="t" bIns="91425" lIns="91425" spcFirstLastPara="1" rIns="91425" wrap="square" tIns="91425">
            <a:noAutofit/>
          </a:bodyPr>
          <a:lstStyle>
            <a:lvl1pPr indent="-342900" lvl="0" marL="457200" rtl="0">
              <a:lnSpc>
                <a:spcPct val="115000"/>
              </a:lnSpc>
              <a:spcBef>
                <a:spcPts val="0"/>
              </a:spcBef>
              <a:spcAft>
                <a:spcPts val="0"/>
              </a:spcAft>
              <a:buClr>
                <a:schemeClr val="dk2"/>
              </a:buClr>
              <a:buSzPts val="1800"/>
              <a:buChar char="●"/>
              <a:defRPr sz="1800">
                <a:solidFill>
                  <a:schemeClr val="dk2"/>
                </a:solidFill>
              </a:defRPr>
            </a:lvl1pPr>
            <a:lvl2pPr indent="-317500" lvl="1" marL="914400" rtl="0">
              <a:lnSpc>
                <a:spcPct val="115000"/>
              </a:lnSpc>
              <a:spcBef>
                <a:spcPts val="1600"/>
              </a:spcBef>
              <a:spcAft>
                <a:spcPts val="0"/>
              </a:spcAft>
              <a:buClr>
                <a:schemeClr val="dk2"/>
              </a:buClr>
              <a:buSzPts val="1400"/>
              <a:buChar char="○"/>
              <a:defRPr>
                <a:solidFill>
                  <a:schemeClr val="dk2"/>
                </a:solidFill>
              </a:defRPr>
            </a:lvl2pPr>
            <a:lvl3pPr indent="-317500" lvl="2" marL="1371600" rtl="0">
              <a:lnSpc>
                <a:spcPct val="115000"/>
              </a:lnSpc>
              <a:spcBef>
                <a:spcPts val="1600"/>
              </a:spcBef>
              <a:spcAft>
                <a:spcPts val="0"/>
              </a:spcAft>
              <a:buClr>
                <a:schemeClr val="dk2"/>
              </a:buClr>
              <a:buSzPts val="1400"/>
              <a:buChar char="■"/>
              <a:defRPr>
                <a:solidFill>
                  <a:schemeClr val="dk2"/>
                </a:solidFill>
              </a:defRPr>
            </a:lvl3pPr>
            <a:lvl4pPr indent="-317500" lvl="3" marL="1828800" rtl="0">
              <a:lnSpc>
                <a:spcPct val="115000"/>
              </a:lnSpc>
              <a:spcBef>
                <a:spcPts val="1600"/>
              </a:spcBef>
              <a:spcAft>
                <a:spcPts val="0"/>
              </a:spcAft>
              <a:buClr>
                <a:schemeClr val="dk2"/>
              </a:buClr>
              <a:buSzPts val="1400"/>
              <a:buChar char="●"/>
              <a:defRPr>
                <a:solidFill>
                  <a:schemeClr val="dk2"/>
                </a:solidFill>
              </a:defRPr>
            </a:lvl4pPr>
            <a:lvl5pPr indent="-317500" lvl="4" marL="2286000" rtl="0">
              <a:lnSpc>
                <a:spcPct val="115000"/>
              </a:lnSpc>
              <a:spcBef>
                <a:spcPts val="1600"/>
              </a:spcBef>
              <a:spcAft>
                <a:spcPts val="0"/>
              </a:spcAft>
              <a:buClr>
                <a:schemeClr val="dk2"/>
              </a:buClr>
              <a:buSzPts val="1400"/>
              <a:buChar char="○"/>
              <a:defRPr>
                <a:solidFill>
                  <a:schemeClr val="dk2"/>
                </a:solidFill>
              </a:defRPr>
            </a:lvl5pPr>
            <a:lvl6pPr indent="-317500" lvl="5" marL="2743200" rtl="0">
              <a:lnSpc>
                <a:spcPct val="115000"/>
              </a:lnSpc>
              <a:spcBef>
                <a:spcPts val="1600"/>
              </a:spcBef>
              <a:spcAft>
                <a:spcPts val="0"/>
              </a:spcAft>
              <a:buClr>
                <a:schemeClr val="dk2"/>
              </a:buClr>
              <a:buSzPts val="1400"/>
              <a:buChar char="■"/>
              <a:defRPr>
                <a:solidFill>
                  <a:schemeClr val="dk2"/>
                </a:solidFill>
              </a:defRPr>
            </a:lvl6pPr>
            <a:lvl7pPr indent="-317500" lvl="6" marL="3200400" rtl="0">
              <a:lnSpc>
                <a:spcPct val="115000"/>
              </a:lnSpc>
              <a:spcBef>
                <a:spcPts val="1600"/>
              </a:spcBef>
              <a:spcAft>
                <a:spcPts val="0"/>
              </a:spcAft>
              <a:buClr>
                <a:schemeClr val="dk2"/>
              </a:buClr>
              <a:buSzPts val="1400"/>
              <a:buChar char="●"/>
              <a:defRPr>
                <a:solidFill>
                  <a:schemeClr val="dk2"/>
                </a:solidFill>
              </a:defRPr>
            </a:lvl7pPr>
            <a:lvl8pPr indent="-317500" lvl="7" marL="3657600" rtl="0">
              <a:lnSpc>
                <a:spcPct val="115000"/>
              </a:lnSpc>
              <a:spcBef>
                <a:spcPts val="1600"/>
              </a:spcBef>
              <a:spcAft>
                <a:spcPts val="0"/>
              </a:spcAft>
              <a:buClr>
                <a:schemeClr val="dk2"/>
              </a:buClr>
              <a:buSzPts val="1400"/>
              <a:buChar char="○"/>
              <a:defRPr>
                <a:solidFill>
                  <a:schemeClr val="dk2"/>
                </a:solidFill>
              </a:defRPr>
            </a:lvl8pPr>
            <a:lvl9pPr indent="-317500" lvl="8" marL="4114800" rtl="0">
              <a:lnSpc>
                <a:spcPct val="115000"/>
              </a:lnSpc>
              <a:spcBef>
                <a:spcPts val="1600"/>
              </a:spcBef>
              <a:spcAft>
                <a:spcPts val="1600"/>
              </a:spcAft>
              <a:buClr>
                <a:schemeClr val="dk2"/>
              </a:buClr>
              <a:buSzPts val="1400"/>
              <a:buChar char="■"/>
              <a:defRPr>
                <a:solidFill>
                  <a:schemeClr val="dk2"/>
                </a:solidFill>
              </a:defRPr>
            </a:lvl9pPr>
          </a:lstStyle>
          <a:p/>
        </p:txBody>
      </p:sp>
      <p:sp>
        <p:nvSpPr>
          <p:cNvPr id="136" name="Google Shape;136;p13"/>
          <p:cNvSpPr txBox="1"/>
          <p:nvPr>
            <p:ph idx="12" type="sldNum"/>
          </p:nvPr>
        </p:nvSpPr>
        <p:spPr>
          <a:xfrm>
            <a:off x="8472458" y="6217622"/>
            <a:ext cx="548700" cy="524700"/>
          </a:xfrm>
          <a:prstGeom prst="rect">
            <a:avLst/>
          </a:prstGeom>
          <a:noFill/>
          <a:ln>
            <a:noFill/>
          </a:ln>
        </p:spPr>
        <p:txBody>
          <a:bodyPr anchorCtr="0" anchor="ctr" bIns="91425" lIns="91425" spcFirstLastPara="1" rIns="91425" wrap="square" tIns="91425">
            <a:noAutofit/>
          </a:bodyPr>
          <a:lstStyle>
            <a:lvl1pPr lvl="0" rtl="0" algn="r">
              <a:buNone/>
              <a:defRPr sz="1000">
                <a:solidFill>
                  <a:schemeClr val="dk2"/>
                </a:solidFill>
              </a:defRPr>
            </a:lvl1pPr>
            <a:lvl2pPr lvl="1" rtl="0" algn="r">
              <a:buNone/>
              <a:defRPr sz="1000">
                <a:solidFill>
                  <a:schemeClr val="dk2"/>
                </a:solidFill>
              </a:defRPr>
            </a:lvl2pPr>
            <a:lvl3pPr lvl="2" rtl="0" algn="r">
              <a:buNone/>
              <a:defRPr sz="1000">
                <a:solidFill>
                  <a:schemeClr val="dk2"/>
                </a:solidFill>
              </a:defRPr>
            </a:lvl3pPr>
            <a:lvl4pPr lvl="3" rtl="0" algn="r">
              <a:buNone/>
              <a:defRPr sz="1000">
                <a:solidFill>
                  <a:schemeClr val="dk2"/>
                </a:solidFill>
              </a:defRPr>
            </a:lvl4pPr>
            <a:lvl5pPr lvl="4" rtl="0" algn="r">
              <a:buNone/>
              <a:defRPr sz="1000">
                <a:solidFill>
                  <a:schemeClr val="dk2"/>
                </a:solidFill>
              </a:defRPr>
            </a:lvl5pPr>
            <a:lvl6pPr lvl="5" rtl="0" algn="r">
              <a:buNone/>
              <a:defRPr sz="1000">
                <a:solidFill>
                  <a:schemeClr val="dk2"/>
                </a:solidFill>
              </a:defRPr>
            </a:lvl6pPr>
            <a:lvl7pPr lvl="6" rtl="0" algn="r">
              <a:buNone/>
              <a:defRPr sz="1000">
                <a:solidFill>
                  <a:schemeClr val="dk2"/>
                </a:solidFill>
              </a:defRPr>
            </a:lvl7pPr>
            <a:lvl8pPr lvl="7" rtl="0" algn="r">
              <a:buNone/>
              <a:defRPr sz="1000">
                <a:solidFill>
                  <a:schemeClr val="dk2"/>
                </a:solidFill>
              </a:defRPr>
            </a:lvl8pPr>
            <a:lvl9pPr lvl="8" rtl="0"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 Id="rId3" Type="http://schemas.openxmlformats.org/officeDocument/2006/relationships/image" Target="../media/image40.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 Id="rId3" Type="http://schemas.openxmlformats.org/officeDocument/2006/relationships/image" Target="../media/image40.png"/><Relationship Id="rId4" Type="http://schemas.openxmlformats.org/officeDocument/2006/relationships/image" Target="../media/image12.gif"/></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 Id="rId3" Type="http://schemas.openxmlformats.org/officeDocument/2006/relationships/image" Target="../media/image40.png"/><Relationship Id="rId4"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 Id="rId3" Type="http://schemas.openxmlformats.org/officeDocument/2006/relationships/image" Target="../media/image40.png"/><Relationship Id="rId4" Type="http://schemas.openxmlformats.org/officeDocument/2006/relationships/image" Target="../media/image6.png"/><Relationship Id="rId5" Type="http://schemas.openxmlformats.org/officeDocument/2006/relationships/image" Target="../media/image9.png"/><Relationship Id="rId6" Type="http://schemas.openxmlformats.org/officeDocument/2006/relationships/image" Target="../media/image13.png"/><Relationship Id="rId7"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6.xml"/><Relationship Id="rId3" Type="http://schemas.openxmlformats.org/officeDocument/2006/relationships/image" Target="../media/image3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0.xml"/><Relationship Id="rId3" Type="http://schemas.openxmlformats.org/officeDocument/2006/relationships/image" Target="../media/image5.png"/><Relationship Id="rId4" Type="http://schemas.openxmlformats.org/officeDocument/2006/relationships/hyperlink" Target="https://boundaries.beta.nyc/?map=cd"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1.xml"/><Relationship Id="rId3" Type="http://schemas.openxmlformats.org/officeDocument/2006/relationships/image" Target="../media/image1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3.xml"/><Relationship Id="rId3" Type="http://schemas.openxmlformats.org/officeDocument/2006/relationships/image" Target="../media/image10.png"/><Relationship Id="rId4" Type="http://schemas.openxmlformats.org/officeDocument/2006/relationships/hyperlink" Target="https://www.nyc.gov/assets/manhattancb3/downloads/votereso/votereso2026-01.pdf"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6.xml"/><Relationship Id="rId3" Type="http://schemas.openxmlformats.org/officeDocument/2006/relationships/image" Target="../media/image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8.xml"/><Relationship Id="rId3" Type="http://schemas.openxmlformats.org/officeDocument/2006/relationships/image" Target="../media/image4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9.xml"/><Relationship Id="rId3" Type="http://schemas.openxmlformats.org/officeDocument/2006/relationships/image" Target="../media/image4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0.xml"/><Relationship Id="rId3" Type="http://schemas.openxmlformats.org/officeDocument/2006/relationships/image" Target="../media/image4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1.xml"/><Relationship Id="rId3" Type="http://schemas.openxmlformats.org/officeDocument/2006/relationships/image" Target="../media/image3.png"/><Relationship Id="rId4" Type="http://schemas.openxmlformats.org/officeDocument/2006/relationships/image" Target="../media/image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2.xml"/><Relationship Id="rId3" Type="http://schemas.openxmlformats.org/officeDocument/2006/relationships/image" Target="../media/image11.png"/><Relationship Id="rId4" Type="http://schemas.openxmlformats.org/officeDocument/2006/relationships/image" Target="../media/image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3.xml"/><Relationship Id="rId3" Type="http://schemas.openxmlformats.org/officeDocument/2006/relationships/image" Target="../media/image18.png"/><Relationship Id="rId4" Type="http://schemas.openxmlformats.org/officeDocument/2006/relationships/image" Target="../media/image24.png"/><Relationship Id="rId5" Type="http://schemas.openxmlformats.org/officeDocument/2006/relationships/image" Target="../media/image22.png"/><Relationship Id="rId6" Type="http://schemas.openxmlformats.org/officeDocument/2006/relationships/image" Target="../media/image17.png"/><Relationship Id="rId7" Type="http://schemas.openxmlformats.org/officeDocument/2006/relationships/image" Target="../media/image2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4.xml"/><Relationship Id="rId3" Type="http://schemas.openxmlformats.org/officeDocument/2006/relationships/image" Target="../media/image1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6.xml"/><Relationship Id="rId3" Type="http://schemas.openxmlformats.org/officeDocument/2006/relationships/image" Target="../media/image19.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7.xml"/><Relationship Id="rId3" Type="http://schemas.openxmlformats.org/officeDocument/2006/relationships/image" Target="../media/image1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8.xml"/><Relationship Id="rId3" Type="http://schemas.openxmlformats.org/officeDocument/2006/relationships/image" Target="../media/image2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9.xml"/><Relationship Id="rId3" Type="http://schemas.openxmlformats.org/officeDocument/2006/relationships/image" Target="../media/image25.png"/><Relationship Id="rId4" Type="http://schemas.openxmlformats.org/officeDocument/2006/relationships/image" Target="../media/image23.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0.xml"/><Relationship Id="rId3" Type="http://schemas.openxmlformats.org/officeDocument/2006/relationships/image" Target="../media/image28.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1.xml"/><Relationship Id="rId3" Type="http://schemas.openxmlformats.org/officeDocument/2006/relationships/image" Target="../media/image32.png"/><Relationship Id="rId4" Type="http://schemas.openxmlformats.org/officeDocument/2006/relationships/image" Target="../media/image27.png"/><Relationship Id="rId5" Type="http://schemas.openxmlformats.org/officeDocument/2006/relationships/image" Target="../media/image26.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2.xml"/><Relationship Id="rId3" Type="http://schemas.openxmlformats.org/officeDocument/2006/relationships/image" Target="../media/image3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3.xml"/><Relationship Id="rId3" Type="http://schemas.openxmlformats.org/officeDocument/2006/relationships/image" Target="../media/image32.png"/><Relationship Id="rId4" Type="http://schemas.openxmlformats.org/officeDocument/2006/relationships/image" Target="../media/image27.png"/><Relationship Id="rId5" Type="http://schemas.openxmlformats.org/officeDocument/2006/relationships/image" Target="../media/image26.png"/><Relationship Id="rId6" Type="http://schemas.openxmlformats.org/officeDocument/2006/relationships/image" Target="../media/image1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4.xml"/><Relationship Id="rId3" Type="http://schemas.openxmlformats.org/officeDocument/2006/relationships/image" Target="../media/image30.png"/><Relationship Id="rId4" Type="http://schemas.openxmlformats.org/officeDocument/2006/relationships/image" Target="../media/image33.png"/><Relationship Id="rId5" Type="http://schemas.openxmlformats.org/officeDocument/2006/relationships/hyperlink" Target="https://blockparty.studio/Archive/?_id=697b5c8dbec587930cfc7df9" TargetMode="External"/><Relationship Id="rId6" Type="http://schemas.openxmlformats.org/officeDocument/2006/relationships/image" Target="../media/image31.png"/><Relationship Id="rId7" Type="http://schemas.openxmlformats.org/officeDocument/2006/relationships/image" Target="../media/image2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5.xml"/><Relationship Id="rId3" Type="http://schemas.openxmlformats.org/officeDocument/2006/relationships/image" Target="../media/image30.png"/><Relationship Id="rId4" Type="http://schemas.openxmlformats.org/officeDocument/2006/relationships/image" Target="../media/image33.png"/><Relationship Id="rId5" Type="http://schemas.openxmlformats.org/officeDocument/2006/relationships/hyperlink" Target="https://blockparty.studio/Archive/?_id=697b5c8dbec587930cfc7df9" TargetMode="External"/><Relationship Id="rId6" Type="http://schemas.openxmlformats.org/officeDocument/2006/relationships/image" Target="../media/image31.png"/><Relationship Id="rId7" Type="http://schemas.openxmlformats.org/officeDocument/2006/relationships/image" Target="../media/image29.png"/><Relationship Id="rId8" Type="http://schemas.openxmlformats.org/officeDocument/2006/relationships/image" Target="../media/image19.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6.xml"/><Relationship Id="rId3" Type="http://schemas.openxmlformats.org/officeDocument/2006/relationships/image" Target="../media/image40.png"/><Relationship Id="rId4" Type="http://schemas.openxmlformats.org/officeDocument/2006/relationships/hyperlink" Target="mailto:blockparty.meeting@gmail.com" TargetMode="External"/><Relationship Id="rId10" Type="http://schemas.openxmlformats.org/officeDocument/2006/relationships/image" Target="../media/image35.png"/><Relationship Id="rId9" Type="http://schemas.openxmlformats.org/officeDocument/2006/relationships/image" Target="../media/image37.jpg"/><Relationship Id="rId5" Type="http://schemas.openxmlformats.org/officeDocument/2006/relationships/hyperlink" Target="https://www.linkedin.com/in/sarahjunesachs/" TargetMode="External"/><Relationship Id="rId6" Type="http://schemas.openxmlformats.org/officeDocument/2006/relationships/hyperlink" Target="https://www.linkedin.com/in/tal-roded/" TargetMode="External"/><Relationship Id="rId7" Type="http://schemas.openxmlformats.org/officeDocument/2006/relationships/image" Target="../media/image19.png"/><Relationship Id="rId8" Type="http://schemas.openxmlformats.org/officeDocument/2006/relationships/image" Target="../media/image39.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3585"/>
        </a:solidFill>
      </p:bgPr>
    </p:bg>
    <p:spTree>
      <p:nvGrpSpPr>
        <p:cNvPr id="181" name="Shape 181"/>
        <p:cNvGrpSpPr/>
        <p:nvPr/>
      </p:nvGrpSpPr>
      <p:grpSpPr>
        <a:xfrm>
          <a:off x="0" y="0"/>
          <a:ext cx="0" cy="0"/>
          <a:chOff x="0" y="0"/>
          <a:chExt cx="0" cy="0"/>
        </a:xfrm>
      </p:grpSpPr>
      <p:sp>
        <p:nvSpPr>
          <p:cNvPr id="182" name="Google Shape;182;p25"/>
          <p:cNvSpPr/>
          <p:nvPr/>
        </p:nvSpPr>
        <p:spPr>
          <a:xfrm>
            <a:off x="237350" y="237600"/>
            <a:ext cx="8669400" cy="6382800"/>
          </a:xfrm>
          <a:prstGeom prst="rect">
            <a:avLst/>
          </a:prstGeom>
          <a:noFill/>
          <a:ln cap="flat" cmpd="sng" w="2857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 name="Google Shape;183;p25"/>
          <p:cNvSpPr txBox="1"/>
          <p:nvPr/>
        </p:nvSpPr>
        <p:spPr>
          <a:xfrm>
            <a:off x="411300" y="407038"/>
            <a:ext cx="8321400" cy="25305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 sz="3700">
                <a:solidFill>
                  <a:srgbClr val="FFFFFF"/>
                </a:solidFill>
                <a:latin typeface="Lato"/>
                <a:ea typeface="Lato"/>
                <a:cs typeface="Lato"/>
                <a:sym typeface="Lato"/>
              </a:rPr>
              <a:t>Building an AI-Powered Knowledge Base for NYC Community Boards</a:t>
            </a:r>
            <a:endParaRPr b="1" sz="3700">
              <a:solidFill>
                <a:srgbClr val="FFFFFF"/>
              </a:solidFill>
              <a:latin typeface="Lato"/>
              <a:ea typeface="Lato"/>
              <a:cs typeface="Lato"/>
              <a:sym typeface="Lato"/>
            </a:endParaRPr>
          </a:p>
        </p:txBody>
      </p:sp>
      <p:sp>
        <p:nvSpPr>
          <p:cNvPr id="184" name="Google Shape;184;p25"/>
          <p:cNvSpPr txBox="1"/>
          <p:nvPr/>
        </p:nvSpPr>
        <p:spPr>
          <a:xfrm>
            <a:off x="411300" y="3443550"/>
            <a:ext cx="6461100" cy="2056800"/>
          </a:xfrm>
          <a:prstGeom prst="rect">
            <a:avLst/>
          </a:prstGeom>
          <a:noFill/>
          <a:ln>
            <a:noFill/>
          </a:ln>
        </p:spPr>
        <p:txBody>
          <a:bodyPr anchorCtr="0" anchor="t" bIns="91425" lIns="91425" spcFirstLastPara="1" rIns="91425" wrap="square" tIns="91425">
            <a:noAutofit/>
          </a:bodyPr>
          <a:lstStyle/>
          <a:p>
            <a:pPr indent="0" lvl="0" marL="0" rtl="0" algn="l">
              <a:lnSpc>
                <a:spcPct val="120000"/>
              </a:lnSpc>
              <a:spcBef>
                <a:spcPts val="0"/>
              </a:spcBef>
              <a:spcAft>
                <a:spcPts val="0"/>
              </a:spcAft>
              <a:buClr>
                <a:schemeClr val="dk1"/>
              </a:buClr>
              <a:buSzPts val="1100"/>
              <a:buFont typeface="Arial"/>
              <a:buNone/>
            </a:pPr>
            <a:r>
              <a:rPr b="1" lang="en" sz="1800">
                <a:solidFill>
                  <a:schemeClr val="lt2"/>
                </a:solidFill>
                <a:latin typeface="Lato"/>
                <a:ea typeface="Lato"/>
                <a:cs typeface="Lato"/>
                <a:sym typeface="Lato"/>
              </a:rPr>
              <a:t>Tal Roded, NYCuriosity Author &amp; Manhattan CB3 Member</a:t>
            </a:r>
            <a:endParaRPr b="1" sz="1800">
              <a:solidFill>
                <a:schemeClr val="lt2"/>
              </a:solidFill>
              <a:latin typeface="Lato"/>
              <a:ea typeface="Lato"/>
              <a:cs typeface="Lato"/>
              <a:sym typeface="Lato"/>
            </a:endParaRPr>
          </a:p>
          <a:p>
            <a:pPr indent="0" lvl="0" marL="0" rtl="0" algn="l">
              <a:lnSpc>
                <a:spcPct val="120000"/>
              </a:lnSpc>
              <a:spcBef>
                <a:spcPts val="0"/>
              </a:spcBef>
              <a:spcAft>
                <a:spcPts val="0"/>
              </a:spcAft>
              <a:buClr>
                <a:schemeClr val="dk1"/>
              </a:buClr>
              <a:buSzPts val="1100"/>
              <a:buFont typeface="Arial"/>
              <a:buNone/>
            </a:pPr>
            <a:r>
              <a:rPr b="1" lang="en" sz="1800">
                <a:solidFill>
                  <a:schemeClr val="lt2"/>
                </a:solidFill>
                <a:latin typeface="Lato"/>
                <a:ea typeface="Lato"/>
                <a:cs typeface="Lato"/>
                <a:sym typeface="Lato"/>
              </a:rPr>
              <a:t>Sarah Sachs, Block Party Founder</a:t>
            </a:r>
            <a:endParaRPr b="1" sz="1800">
              <a:solidFill>
                <a:schemeClr val="lt2"/>
              </a:solidFill>
              <a:latin typeface="Lato"/>
              <a:ea typeface="Lato"/>
              <a:cs typeface="Lato"/>
              <a:sym typeface="Lato"/>
            </a:endParaRPr>
          </a:p>
          <a:p>
            <a:pPr indent="0" lvl="0" marL="0" rtl="0" algn="l">
              <a:lnSpc>
                <a:spcPct val="120000"/>
              </a:lnSpc>
              <a:spcBef>
                <a:spcPts val="0"/>
              </a:spcBef>
              <a:spcAft>
                <a:spcPts val="0"/>
              </a:spcAft>
              <a:buClr>
                <a:schemeClr val="dk1"/>
              </a:buClr>
              <a:buSzPts val="1100"/>
              <a:buFont typeface="Arial"/>
              <a:buNone/>
            </a:pPr>
            <a:r>
              <a:t/>
            </a:r>
            <a:endParaRPr b="1" sz="1800">
              <a:solidFill>
                <a:schemeClr val="lt2"/>
              </a:solidFill>
              <a:latin typeface="Lato"/>
              <a:ea typeface="Lato"/>
              <a:cs typeface="Lato"/>
              <a:sym typeface="Lato"/>
            </a:endParaRPr>
          </a:p>
          <a:p>
            <a:pPr indent="0" lvl="0" marL="0" rtl="0" algn="l">
              <a:lnSpc>
                <a:spcPct val="120000"/>
              </a:lnSpc>
              <a:spcBef>
                <a:spcPts val="0"/>
              </a:spcBef>
              <a:spcAft>
                <a:spcPts val="0"/>
              </a:spcAft>
              <a:buClr>
                <a:schemeClr val="dk1"/>
              </a:buClr>
              <a:buSzPts val="1100"/>
              <a:buFont typeface="Arial"/>
              <a:buNone/>
            </a:pPr>
            <a:r>
              <a:rPr b="1" lang="en" sz="1800">
                <a:solidFill>
                  <a:schemeClr val="lt2"/>
                </a:solidFill>
                <a:latin typeface="Lato"/>
                <a:ea typeface="Lato"/>
                <a:cs typeface="Lato"/>
                <a:sym typeface="Lato"/>
              </a:rPr>
              <a:t>Major Contributions from McKay Warren, Sourabh Chakraborty, Brandon Pachuca, Amy Chen</a:t>
            </a:r>
            <a:endParaRPr b="1" sz="1800">
              <a:solidFill>
                <a:schemeClr val="lt2"/>
              </a:solidFill>
              <a:latin typeface="Lato"/>
              <a:ea typeface="Lato"/>
              <a:cs typeface="Lato"/>
              <a:sym typeface="Lato"/>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8" name="Shape 188"/>
        <p:cNvGrpSpPr/>
        <p:nvPr/>
      </p:nvGrpSpPr>
      <p:grpSpPr>
        <a:xfrm>
          <a:off x="0" y="0"/>
          <a:ext cx="0" cy="0"/>
          <a:chOff x="0" y="0"/>
          <a:chExt cx="0" cy="0"/>
        </a:xfrm>
      </p:grpSpPr>
      <p:pic>
        <p:nvPicPr>
          <p:cNvPr id="189" name="Google Shape;189;p26"/>
          <p:cNvPicPr preferRelativeResize="0"/>
          <p:nvPr/>
        </p:nvPicPr>
        <p:blipFill>
          <a:blip r:embed="rId3">
            <a:alphaModFix/>
          </a:blip>
          <a:stretch>
            <a:fillRect/>
          </a:stretch>
        </p:blipFill>
        <p:spPr>
          <a:xfrm>
            <a:off x="0" y="-14500"/>
            <a:ext cx="9144000" cy="5530859"/>
          </a:xfrm>
          <a:prstGeom prst="rect">
            <a:avLst/>
          </a:prstGeom>
          <a:noFill/>
          <a:ln>
            <a:noFill/>
          </a:ln>
        </p:spPr>
      </p:pic>
      <p:sp>
        <p:nvSpPr>
          <p:cNvPr id="190" name="Google Shape;190;p26"/>
          <p:cNvSpPr/>
          <p:nvPr/>
        </p:nvSpPr>
        <p:spPr>
          <a:xfrm>
            <a:off x="0" y="0"/>
            <a:ext cx="9144000" cy="7374300"/>
          </a:xfrm>
          <a:prstGeom prst="rect">
            <a:avLst/>
          </a:prstGeom>
          <a:solidFill>
            <a:srgbClr val="FFFFFF">
              <a:alpha val="775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 name="Google Shape;191;p26"/>
          <p:cNvSpPr txBox="1"/>
          <p:nvPr/>
        </p:nvSpPr>
        <p:spPr>
          <a:xfrm>
            <a:off x="0" y="2936600"/>
            <a:ext cx="9144000" cy="507900"/>
          </a:xfrm>
          <a:prstGeom prst="rect">
            <a:avLst/>
          </a:prstGeom>
          <a:noFill/>
          <a:ln>
            <a:noFill/>
          </a:ln>
        </p:spPr>
        <p:txBody>
          <a:bodyPr anchorCtr="0" anchor="t" bIns="91425" lIns="91425" spcFirstLastPara="1" rIns="91425" wrap="square" tIns="91425">
            <a:spAutoFit/>
          </a:bodyPr>
          <a:lstStyle/>
          <a:p>
            <a:pPr indent="0" lvl="0" marL="0" rtl="0" algn="ctr">
              <a:lnSpc>
                <a:spcPct val="115000"/>
              </a:lnSpc>
              <a:spcBef>
                <a:spcPts val="0"/>
              </a:spcBef>
              <a:spcAft>
                <a:spcPts val="0"/>
              </a:spcAft>
              <a:buNone/>
            </a:pPr>
            <a:r>
              <a:rPr b="1" lang="en" sz="2100">
                <a:latin typeface="Lato"/>
                <a:ea typeface="Lato"/>
                <a:cs typeface="Lato"/>
                <a:sym typeface="Lato"/>
              </a:rPr>
              <a:t>Have you ever attended a Community Board Meeting?</a:t>
            </a:r>
            <a:endParaRPr b="1" sz="2100">
              <a:latin typeface="Lato"/>
              <a:ea typeface="Lato"/>
              <a:cs typeface="Lato"/>
              <a:sym typeface="Lato"/>
            </a:endParaRPr>
          </a:p>
        </p:txBody>
      </p:sp>
      <p:sp>
        <p:nvSpPr>
          <p:cNvPr id="192" name="Google Shape;192;p26"/>
          <p:cNvSpPr/>
          <p:nvPr/>
        </p:nvSpPr>
        <p:spPr>
          <a:xfrm>
            <a:off x="26700" y="5516350"/>
            <a:ext cx="9090600" cy="1341600"/>
          </a:xfrm>
          <a:prstGeom prst="flowChartAlternateProcess">
            <a:avLst/>
          </a:prstGeom>
          <a:solidFill>
            <a:srgbClr val="00BBEA"/>
          </a:solid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b="1" lang="en" sz="1700">
                <a:solidFill>
                  <a:schemeClr val="lt1"/>
                </a:solidFill>
                <a:latin typeface="Lato"/>
                <a:ea typeface="Lato"/>
                <a:cs typeface="Lato"/>
                <a:sym typeface="Lato"/>
              </a:rPr>
              <a:t>Most folks we ask, typically respond with a confused look...</a:t>
            </a:r>
            <a:endParaRPr b="1" sz="1700">
              <a:solidFill>
                <a:schemeClr val="lt1"/>
              </a:solidFill>
              <a:latin typeface="Lato"/>
              <a:ea typeface="Lato"/>
              <a:cs typeface="Lato"/>
              <a:sym typeface="Lato"/>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6" name="Shape 196"/>
        <p:cNvGrpSpPr/>
        <p:nvPr/>
      </p:nvGrpSpPr>
      <p:grpSpPr>
        <a:xfrm>
          <a:off x="0" y="0"/>
          <a:ext cx="0" cy="0"/>
          <a:chOff x="0" y="0"/>
          <a:chExt cx="0" cy="0"/>
        </a:xfrm>
      </p:grpSpPr>
      <p:pic>
        <p:nvPicPr>
          <p:cNvPr id="197" name="Google Shape;197;p27"/>
          <p:cNvPicPr preferRelativeResize="0"/>
          <p:nvPr/>
        </p:nvPicPr>
        <p:blipFill>
          <a:blip r:embed="rId3">
            <a:alphaModFix/>
          </a:blip>
          <a:stretch>
            <a:fillRect/>
          </a:stretch>
        </p:blipFill>
        <p:spPr>
          <a:xfrm>
            <a:off x="0" y="-14500"/>
            <a:ext cx="9144000" cy="5530859"/>
          </a:xfrm>
          <a:prstGeom prst="rect">
            <a:avLst/>
          </a:prstGeom>
          <a:noFill/>
          <a:ln>
            <a:noFill/>
          </a:ln>
        </p:spPr>
      </p:pic>
      <p:sp>
        <p:nvSpPr>
          <p:cNvPr id="198" name="Google Shape;198;p27"/>
          <p:cNvSpPr/>
          <p:nvPr/>
        </p:nvSpPr>
        <p:spPr>
          <a:xfrm>
            <a:off x="0" y="-107350"/>
            <a:ext cx="9144000" cy="7374300"/>
          </a:xfrm>
          <a:prstGeom prst="rect">
            <a:avLst/>
          </a:prstGeom>
          <a:solidFill>
            <a:srgbClr val="FFFFFF">
              <a:alpha val="77530"/>
            </a:srgbClr>
          </a:solidFill>
          <a:ln>
            <a:noFill/>
          </a:ln>
        </p:spPr>
        <p:txBody>
          <a:bodyPr anchorCtr="0" anchor="ctr" bIns="91425" lIns="91425" spcFirstLastPara="1" rIns="91425" wrap="square" tIns="91425">
            <a:noAutofit/>
          </a:bodyPr>
          <a:lstStyle/>
          <a:p>
            <a:pPr indent="0" lvl="0" marL="0" marR="0" rtl="0" algn="ctr">
              <a:lnSpc>
                <a:spcPct val="115000"/>
              </a:lnSpc>
              <a:spcBef>
                <a:spcPts val="0"/>
              </a:spcBef>
              <a:spcAft>
                <a:spcPts val="0"/>
              </a:spcAft>
              <a:buNone/>
            </a:pPr>
            <a:r>
              <a:t/>
            </a:r>
            <a:endParaRPr b="1" sz="1800">
              <a:latin typeface="Roboto Mono"/>
              <a:ea typeface="Roboto Mono"/>
              <a:cs typeface="Roboto Mono"/>
              <a:sym typeface="Roboto Mono"/>
            </a:endParaRPr>
          </a:p>
        </p:txBody>
      </p:sp>
      <p:sp>
        <p:nvSpPr>
          <p:cNvPr id="199" name="Google Shape;199;p27"/>
          <p:cNvSpPr txBox="1"/>
          <p:nvPr/>
        </p:nvSpPr>
        <p:spPr>
          <a:xfrm>
            <a:off x="0" y="2936600"/>
            <a:ext cx="9144000" cy="492600"/>
          </a:xfrm>
          <a:prstGeom prst="rect">
            <a:avLst/>
          </a:prstGeom>
          <a:noFill/>
          <a:ln>
            <a:noFill/>
          </a:ln>
        </p:spPr>
        <p:txBody>
          <a:bodyPr anchorCtr="0" anchor="t" bIns="91425" lIns="91425" spcFirstLastPara="1" rIns="91425" wrap="square" tIns="91425">
            <a:spAutoFit/>
          </a:bodyPr>
          <a:lstStyle/>
          <a:p>
            <a:pPr indent="0" lvl="0" marL="0" marR="0" rtl="0" algn="ctr">
              <a:lnSpc>
                <a:spcPct val="115000"/>
              </a:lnSpc>
              <a:spcBef>
                <a:spcPts val="0"/>
              </a:spcBef>
              <a:spcAft>
                <a:spcPts val="0"/>
              </a:spcAft>
              <a:buNone/>
            </a:pPr>
            <a:r>
              <a:rPr b="1" lang="en" sz="2000">
                <a:latin typeface="Lato"/>
                <a:ea typeface="Lato"/>
                <a:cs typeface="Lato"/>
                <a:sym typeface="Lato"/>
              </a:rPr>
              <a:t>Why are Community Boards important?</a:t>
            </a:r>
            <a:endParaRPr b="1" sz="2000">
              <a:latin typeface="Lato"/>
              <a:ea typeface="Lato"/>
              <a:cs typeface="Lato"/>
              <a:sym typeface="Lato"/>
            </a:endParaRPr>
          </a:p>
        </p:txBody>
      </p:sp>
      <p:pic>
        <p:nvPicPr>
          <p:cNvPr id="200" name="Google Shape;200;p27"/>
          <p:cNvPicPr preferRelativeResize="0"/>
          <p:nvPr/>
        </p:nvPicPr>
        <p:blipFill>
          <a:blip r:embed="rId4">
            <a:alphaModFix/>
          </a:blip>
          <a:stretch>
            <a:fillRect/>
          </a:stretch>
        </p:blipFill>
        <p:spPr>
          <a:xfrm>
            <a:off x="2977238" y="3530585"/>
            <a:ext cx="2945699" cy="929775"/>
          </a:xfrm>
          <a:prstGeom prst="rect">
            <a:avLst/>
          </a:prstGeom>
          <a:noFill/>
          <a:ln>
            <a:noFill/>
          </a:ln>
        </p:spPr>
      </p:pic>
      <p:sp>
        <p:nvSpPr>
          <p:cNvPr id="201" name="Google Shape;201;p27"/>
          <p:cNvSpPr txBox="1"/>
          <p:nvPr/>
        </p:nvSpPr>
        <p:spPr>
          <a:xfrm>
            <a:off x="2418025" y="3749163"/>
            <a:ext cx="745200" cy="492600"/>
          </a:xfrm>
          <a:prstGeom prst="rect">
            <a:avLst/>
          </a:prstGeom>
          <a:noFill/>
          <a:ln>
            <a:noFill/>
          </a:ln>
        </p:spPr>
        <p:txBody>
          <a:bodyPr anchorCtr="0" anchor="t" bIns="91425" lIns="91425" spcFirstLastPara="1" rIns="91425" wrap="square" tIns="91425">
            <a:spAutoFit/>
          </a:bodyPr>
          <a:lstStyle/>
          <a:p>
            <a:pPr indent="0" lvl="0" marL="0" marR="0" rtl="0" algn="ctr">
              <a:lnSpc>
                <a:spcPct val="115000"/>
              </a:lnSpc>
              <a:spcBef>
                <a:spcPts val="0"/>
              </a:spcBef>
              <a:spcAft>
                <a:spcPts val="0"/>
              </a:spcAft>
              <a:buNone/>
            </a:pPr>
            <a:r>
              <a:rPr b="1" lang="en" sz="2000">
                <a:latin typeface="Lato"/>
                <a:ea typeface="Lato"/>
                <a:cs typeface="Lato"/>
                <a:sym typeface="Lato"/>
              </a:rPr>
              <a:t>local</a:t>
            </a:r>
            <a:endParaRPr b="1" sz="2000">
              <a:latin typeface="Lato"/>
              <a:ea typeface="Lato"/>
              <a:cs typeface="Lato"/>
              <a:sym typeface="Lato"/>
            </a:endParaRPr>
          </a:p>
        </p:txBody>
      </p:sp>
      <p:sp>
        <p:nvSpPr>
          <p:cNvPr id="202" name="Google Shape;202;p27"/>
          <p:cNvSpPr/>
          <p:nvPr/>
        </p:nvSpPr>
        <p:spPr>
          <a:xfrm>
            <a:off x="26700" y="5516350"/>
            <a:ext cx="9090600" cy="1341600"/>
          </a:xfrm>
          <a:prstGeom prst="flowChartAlternateProcess">
            <a:avLst/>
          </a:prstGeom>
          <a:solidFill>
            <a:srgbClr val="00E09D"/>
          </a:solid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b="1" lang="en" sz="1700">
                <a:solidFill>
                  <a:schemeClr val="lt1"/>
                </a:solidFill>
                <a:latin typeface="Lato"/>
                <a:ea typeface="Lato"/>
                <a:cs typeface="Lato"/>
                <a:sym typeface="Lato"/>
              </a:rPr>
              <a:t>Community boards produce more </a:t>
            </a:r>
            <a:r>
              <a:rPr b="1" lang="en" sz="1700">
                <a:solidFill>
                  <a:schemeClr val="lt1"/>
                </a:solidFill>
                <a:latin typeface="Lato"/>
                <a:ea typeface="Lato"/>
                <a:cs typeface="Lato"/>
                <a:sym typeface="Lato"/>
              </a:rPr>
              <a:t>structured </a:t>
            </a:r>
            <a:r>
              <a:rPr b="1" lang="en" sz="1700">
                <a:solidFill>
                  <a:schemeClr val="lt1"/>
                </a:solidFill>
                <a:latin typeface="Lato"/>
                <a:ea typeface="Lato"/>
                <a:cs typeface="Lato"/>
                <a:sym typeface="Lato"/>
              </a:rPr>
              <a:t>civic data than almost any other level of government.</a:t>
            </a:r>
            <a:endParaRPr b="1" sz="1700">
              <a:solidFill>
                <a:schemeClr val="lt1"/>
              </a:solidFill>
              <a:latin typeface="Lato"/>
              <a:ea typeface="Lato"/>
              <a:cs typeface="Lato"/>
              <a:sym typeface="Lato"/>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6" name="Shape 206"/>
        <p:cNvGrpSpPr/>
        <p:nvPr/>
      </p:nvGrpSpPr>
      <p:grpSpPr>
        <a:xfrm>
          <a:off x="0" y="0"/>
          <a:ext cx="0" cy="0"/>
          <a:chOff x="0" y="0"/>
          <a:chExt cx="0" cy="0"/>
        </a:xfrm>
      </p:grpSpPr>
      <p:pic>
        <p:nvPicPr>
          <p:cNvPr id="207" name="Google Shape;207;p28"/>
          <p:cNvPicPr preferRelativeResize="0"/>
          <p:nvPr/>
        </p:nvPicPr>
        <p:blipFill>
          <a:blip r:embed="rId3">
            <a:alphaModFix/>
          </a:blip>
          <a:stretch>
            <a:fillRect/>
          </a:stretch>
        </p:blipFill>
        <p:spPr>
          <a:xfrm>
            <a:off x="0" y="-14500"/>
            <a:ext cx="9144000" cy="5530859"/>
          </a:xfrm>
          <a:prstGeom prst="rect">
            <a:avLst/>
          </a:prstGeom>
          <a:noFill/>
          <a:ln>
            <a:noFill/>
          </a:ln>
        </p:spPr>
      </p:pic>
      <p:sp>
        <p:nvSpPr>
          <p:cNvPr id="208" name="Google Shape;208;p28"/>
          <p:cNvSpPr/>
          <p:nvPr/>
        </p:nvSpPr>
        <p:spPr>
          <a:xfrm>
            <a:off x="0" y="0"/>
            <a:ext cx="9144000" cy="7374300"/>
          </a:xfrm>
          <a:prstGeom prst="rect">
            <a:avLst/>
          </a:prstGeom>
          <a:solidFill>
            <a:srgbClr val="FFFFFF">
              <a:alpha val="775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09" name="Google Shape;209;p28"/>
          <p:cNvPicPr preferRelativeResize="0"/>
          <p:nvPr/>
        </p:nvPicPr>
        <p:blipFill>
          <a:blip r:embed="rId4">
            <a:alphaModFix/>
          </a:blip>
          <a:stretch>
            <a:fillRect/>
          </a:stretch>
        </p:blipFill>
        <p:spPr>
          <a:xfrm>
            <a:off x="2635100" y="1179783"/>
            <a:ext cx="3873800" cy="3373825"/>
          </a:xfrm>
          <a:prstGeom prst="rect">
            <a:avLst/>
          </a:prstGeom>
          <a:noFill/>
          <a:ln>
            <a:noFill/>
          </a:ln>
        </p:spPr>
      </p:pic>
      <p:sp>
        <p:nvSpPr>
          <p:cNvPr id="210" name="Google Shape;210;p28"/>
          <p:cNvSpPr/>
          <p:nvPr/>
        </p:nvSpPr>
        <p:spPr>
          <a:xfrm>
            <a:off x="26700" y="5516350"/>
            <a:ext cx="9090600" cy="1341600"/>
          </a:xfrm>
          <a:prstGeom prst="flowChartAlternateProcess">
            <a:avLst/>
          </a:prstGeom>
          <a:solidFill>
            <a:srgbClr val="ED315D"/>
          </a:solid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b="1" lang="en" sz="1700">
                <a:solidFill>
                  <a:schemeClr val="lt1"/>
                </a:solidFill>
                <a:latin typeface="Lato"/>
                <a:ea typeface="Lato"/>
                <a:cs typeface="Lato"/>
                <a:sym typeface="Lato"/>
              </a:rPr>
              <a:t>How might technology be used to help make local democracy more accessible?</a:t>
            </a:r>
            <a:endParaRPr b="1" sz="1700">
              <a:solidFill>
                <a:schemeClr val="lt1"/>
              </a:solidFill>
              <a:latin typeface="Lato"/>
              <a:ea typeface="Lato"/>
              <a:cs typeface="Lato"/>
              <a:sym typeface="Lato"/>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214" name="Shape 214"/>
        <p:cNvGrpSpPr/>
        <p:nvPr/>
      </p:nvGrpSpPr>
      <p:grpSpPr>
        <a:xfrm>
          <a:off x="0" y="0"/>
          <a:ext cx="0" cy="0"/>
          <a:chOff x="0" y="0"/>
          <a:chExt cx="0" cy="0"/>
        </a:xfrm>
      </p:grpSpPr>
      <p:pic>
        <p:nvPicPr>
          <p:cNvPr id="215" name="Google Shape;215;p29"/>
          <p:cNvPicPr preferRelativeResize="0"/>
          <p:nvPr/>
        </p:nvPicPr>
        <p:blipFill>
          <a:blip r:embed="rId3">
            <a:alphaModFix/>
          </a:blip>
          <a:stretch>
            <a:fillRect/>
          </a:stretch>
        </p:blipFill>
        <p:spPr>
          <a:xfrm>
            <a:off x="0" y="-14500"/>
            <a:ext cx="9144000" cy="5530859"/>
          </a:xfrm>
          <a:prstGeom prst="rect">
            <a:avLst/>
          </a:prstGeom>
          <a:noFill/>
          <a:ln>
            <a:noFill/>
          </a:ln>
        </p:spPr>
      </p:pic>
      <p:sp>
        <p:nvSpPr>
          <p:cNvPr id="216" name="Google Shape;216;p29"/>
          <p:cNvSpPr/>
          <p:nvPr/>
        </p:nvSpPr>
        <p:spPr>
          <a:xfrm>
            <a:off x="0" y="0"/>
            <a:ext cx="9144000" cy="7374300"/>
          </a:xfrm>
          <a:prstGeom prst="rect">
            <a:avLst/>
          </a:prstGeom>
          <a:solidFill>
            <a:srgbClr val="FFFFFF">
              <a:alpha val="775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17" name="Google Shape;217;p29"/>
          <p:cNvPicPr preferRelativeResize="0"/>
          <p:nvPr/>
        </p:nvPicPr>
        <p:blipFill>
          <a:blip r:embed="rId4">
            <a:alphaModFix/>
          </a:blip>
          <a:stretch>
            <a:fillRect/>
          </a:stretch>
        </p:blipFill>
        <p:spPr>
          <a:xfrm>
            <a:off x="674548" y="5441548"/>
            <a:ext cx="3297750" cy="824450"/>
          </a:xfrm>
          <a:prstGeom prst="rect">
            <a:avLst/>
          </a:prstGeom>
          <a:noFill/>
          <a:ln>
            <a:noFill/>
          </a:ln>
        </p:spPr>
      </p:pic>
      <p:sp>
        <p:nvSpPr>
          <p:cNvPr id="218" name="Google Shape;218;p29"/>
          <p:cNvSpPr txBox="1"/>
          <p:nvPr/>
        </p:nvSpPr>
        <p:spPr>
          <a:xfrm>
            <a:off x="1401000" y="3203675"/>
            <a:ext cx="6622800" cy="930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sz="1800">
              <a:solidFill>
                <a:schemeClr val="dk2"/>
              </a:solidFill>
            </a:endParaRPr>
          </a:p>
        </p:txBody>
      </p:sp>
      <p:sp>
        <p:nvSpPr>
          <p:cNvPr id="219" name="Google Shape;219;p29"/>
          <p:cNvSpPr txBox="1"/>
          <p:nvPr/>
        </p:nvSpPr>
        <p:spPr>
          <a:xfrm>
            <a:off x="3154675" y="3184075"/>
            <a:ext cx="4203000" cy="13521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sz="1800">
              <a:solidFill>
                <a:schemeClr val="dk2"/>
              </a:solidFill>
            </a:endParaRPr>
          </a:p>
        </p:txBody>
      </p:sp>
      <p:sp>
        <p:nvSpPr>
          <p:cNvPr id="220" name="Google Shape;220;p29"/>
          <p:cNvSpPr txBox="1"/>
          <p:nvPr/>
        </p:nvSpPr>
        <p:spPr>
          <a:xfrm>
            <a:off x="251393" y="461455"/>
            <a:ext cx="7772400" cy="430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 sz="2200">
                <a:solidFill>
                  <a:srgbClr val="212121"/>
                </a:solidFill>
                <a:latin typeface="Lato"/>
                <a:ea typeface="Lato"/>
                <a:cs typeface="Lato"/>
                <a:sym typeface="Lato"/>
              </a:rPr>
              <a:t>Our Story - Cheers to the NYC Civic Tech Community!</a:t>
            </a:r>
            <a:endParaRPr b="1">
              <a:latin typeface="Lato"/>
              <a:ea typeface="Lato"/>
              <a:cs typeface="Lato"/>
              <a:sym typeface="Lato"/>
            </a:endParaRPr>
          </a:p>
        </p:txBody>
      </p:sp>
      <p:pic>
        <p:nvPicPr>
          <p:cNvPr id="221" name="Google Shape;221;p29"/>
          <p:cNvPicPr preferRelativeResize="0"/>
          <p:nvPr/>
        </p:nvPicPr>
        <p:blipFill>
          <a:blip r:embed="rId5">
            <a:alphaModFix/>
          </a:blip>
          <a:stretch>
            <a:fillRect/>
          </a:stretch>
        </p:blipFill>
        <p:spPr>
          <a:xfrm>
            <a:off x="768000" y="1386650"/>
            <a:ext cx="7607999" cy="3194050"/>
          </a:xfrm>
          <a:prstGeom prst="rect">
            <a:avLst/>
          </a:prstGeom>
          <a:noFill/>
          <a:ln cap="flat" cmpd="sng" w="19050">
            <a:solidFill>
              <a:schemeClr val="dk2"/>
            </a:solidFill>
            <a:prstDash val="solid"/>
            <a:round/>
            <a:headEnd len="sm" w="sm" type="none"/>
            <a:tailEnd len="sm" w="sm" type="none"/>
          </a:ln>
        </p:spPr>
      </p:pic>
      <p:pic>
        <p:nvPicPr>
          <p:cNvPr id="222" name="Google Shape;222;p29"/>
          <p:cNvPicPr preferRelativeResize="0"/>
          <p:nvPr/>
        </p:nvPicPr>
        <p:blipFill>
          <a:blip r:embed="rId6">
            <a:alphaModFix/>
          </a:blip>
          <a:stretch>
            <a:fillRect/>
          </a:stretch>
        </p:blipFill>
        <p:spPr>
          <a:xfrm>
            <a:off x="7076050" y="0"/>
            <a:ext cx="1723576" cy="1723576"/>
          </a:xfrm>
          <a:prstGeom prst="rect">
            <a:avLst/>
          </a:prstGeom>
          <a:noFill/>
          <a:ln>
            <a:noFill/>
          </a:ln>
        </p:spPr>
      </p:pic>
      <p:pic>
        <p:nvPicPr>
          <p:cNvPr id="223" name="Google Shape;223;p29"/>
          <p:cNvPicPr preferRelativeResize="0"/>
          <p:nvPr/>
        </p:nvPicPr>
        <p:blipFill>
          <a:blip r:embed="rId7">
            <a:alphaModFix/>
          </a:blip>
          <a:stretch>
            <a:fillRect/>
          </a:stretch>
        </p:blipFill>
        <p:spPr>
          <a:xfrm>
            <a:off x="5738313" y="4985813"/>
            <a:ext cx="1857375" cy="1609725"/>
          </a:xfrm>
          <a:prstGeom prst="rect">
            <a:avLst/>
          </a:prstGeom>
          <a:noFill/>
          <a:ln cap="flat" cmpd="sng" w="9525">
            <a:solidFill>
              <a:srgbClr val="00E09D"/>
            </a:solidFill>
            <a:prstDash val="solid"/>
            <a:round/>
            <a:headEnd len="sm" w="sm" type="none"/>
            <a:tailEnd len="sm" w="sm" type="none"/>
          </a:ln>
        </p:spPr>
      </p:pic>
      <p:sp>
        <p:nvSpPr>
          <p:cNvPr id="224" name="Google Shape;224;p29"/>
          <p:cNvSpPr/>
          <p:nvPr/>
        </p:nvSpPr>
        <p:spPr>
          <a:xfrm>
            <a:off x="4533400" y="5611100"/>
            <a:ext cx="633600" cy="614700"/>
          </a:xfrm>
          <a:prstGeom prst="mathPlus">
            <a:avLst>
              <a:gd fmla="val 23520" name="adj1"/>
            </a:avLst>
          </a:prstGeom>
          <a:solidFill>
            <a:srgbClr val="00E09D"/>
          </a:solidFill>
          <a:ln cap="flat" cmpd="sng" w="9525">
            <a:solidFill>
              <a:srgbClr val="00BBEA"/>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28" name="Shape 228"/>
        <p:cNvGrpSpPr/>
        <p:nvPr/>
      </p:nvGrpSpPr>
      <p:grpSpPr>
        <a:xfrm>
          <a:off x="0" y="0"/>
          <a:ext cx="0" cy="0"/>
          <a:chOff x="0" y="0"/>
          <a:chExt cx="0" cy="0"/>
        </a:xfrm>
      </p:grpSpPr>
      <p:sp>
        <p:nvSpPr>
          <p:cNvPr id="229" name="Google Shape;229;p30"/>
          <p:cNvSpPr/>
          <p:nvPr/>
        </p:nvSpPr>
        <p:spPr>
          <a:xfrm>
            <a:off x="4693725" y="71250"/>
            <a:ext cx="4450200" cy="6786900"/>
          </a:xfrm>
          <a:prstGeom prst="flowChartAlternateProcess">
            <a:avLst/>
          </a:prstGeom>
          <a:solidFill>
            <a:srgbClr val="FFC847"/>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30" name="Google Shape;230;p30"/>
          <p:cNvSpPr/>
          <p:nvPr/>
        </p:nvSpPr>
        <p:spPr>
          <a:xfrm>
            <a:off x="4959127" y="476029"/>
            <a:ext cx="3919500" cy="5977200"/>
          </a:xfrm>
          <a:prstGeom prst="flowChartAlternateProcess">
            <a:avLst/>
          </a:prstGeom>
          <a:solidFill>
            <a:schemeClr val="lt2"/>
          </a:solid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457200" rtl="0" algn="l">
              <a:spcBef>
                <a:spcPts val="1000"/>
              </a:spcBef>
              <a:spcAft>
                <a:spcPts val="0"/>
              </a:spcAft>
              <a:buNone/>
            </a:pPr>
            <a:r>
              <a:t/>
            </a:r>
            <a:endParaRPr i="1"/>
          </a:p>
        </p:txBody>
      </p:sp>
      <p:sp>
        <p:nvSpPr>
          <p:cNvPr id="231" name="Google Shape;231;p30"/>
          <p:cNvSpPr txBox="1"/>
          <p:nvPr>
            <p:ph type="title"/>
          </p:nvPr>
        </p:nvSpPr>
        <p:spPr>
          <a:xfrm>
            <a:off x="265500" y="1644233"/>
            <a:ext cx="4045200" cy="19764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sz="3200">
                <a:solidFill>
                  <a:srgbClr val="FFC847"/>
                </a:solidFill>
                <a:latin typeface="Lato"/>
                <a:ea typeface="Lato"/>
                <a:cs typeface="Lato"/>
                <a:sym typeface="Lato"/>
              </a:rPr>
              <a:t>Agenda</a:t>
            </a:r>
            <a:endParaRPr sz="3200">
              <a:solidFill>
                <a:srgbClr val="FFC847"/>
              </a:solidFill>
              <a:latin typeface="Lato"/>
              <a:ea typeface="Lato"/>
              <a:cs typeface="Lato"/>
              <a:sym typeface="Lato"/>
            </a:endParaRPr>
          </a:p>
        </p:txBody>
      </p:sp>
      <p:sp>
        <p:nvSpPr>
          <p:cNvPr id="232" name="Google Shape;232;p30"/>
          <p:cNvSpPr txBox="1"/>
          <p:nvPr>
            <p:ph idx="2" type="body"/>
          </p:nvPr>
        </p:nvSpPr>
        <p:spPr>
          <a:xfrm>
            <a:off x="4939500" y="965433"/>
            <a:ext cx="3837000" cy="4926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b="1" lang="en">
                <a:latin typeface="Lato"/>
                <a:ea typeface="Lato"/>
                <a:cs typeface="Lato"/>
                <a:sym typeface="Lato"/>
              </a:rPr>
              <a:t>Part 1:</a:t>
            </a:r>
            <a:r>
              <a:rPr lang="en">
                <a:latin typeface="Lato"/>
                <a:ea typeface="Lato"/>
                <a:cs typeface="Lato"/>
                <a:sym typeface="Lato"/>
              </a:rPr>
              <a:t> What are community boards and why do they matter?</a:t>
            </a:r>
            <a:endParaRPr>
              <a:latin typeface="Lato"/>
              <a:ea typeface="Lato"/>
              <a:cs typeface="Lato"/>
              <a:sym typeface="Lato"/>
            </a:endParaRPr>
          </a:p>
          <a:p>
            <a:pPr indent="0" lvl="0" marL="0" rtl="0" algn="l">
              <a:spcBef>
                <a:spcPts val="1600"/>
              </a:spcBef>
              <a:spcAft>
                <a:spcPts val="0"/>
              </a:spcAft>
              <a:buNone/>
            </a:pPr>
            <a:r>
              <a:rPr b="1" lang="en">
                <a:latin typeface="Lato"/>
                <a:ea typeface="Lato"/>
                <a:cs typeface="Lato"/>
                <a:sym typeface="Lato"/>
              </a:rPr>
              <a:t>Part 2:</a:t>
            </a:r>
            <a:r>
              <a:rPr lang="en">
                <a:latin typeface="Lato"/>
                <a:ea typeface="Lato"/>
                <a:cs typeface="Lato"/>
                <a:sym typeface="Lato"/>
              </a:rPr>
              <a:t> What is the o</a:t>
            </a:r>
            <a:r>
              <a:rPr lang="en">
                <a:latin typeface="Lato"/>
                <a:ea typeface="Lato"/>
                <a:cs typeface="Lato"/>
                <a:sym typeface="Lato"/>
              </a:rPr>
              <a:t>pportunity for civic technology?</a:t>
            </a:r>
            <a:endParaRPr>
              <a:latin typeface="Lato"/>
              <a:ea typeface="Lato"/>
              <a:cs typeface="Lato"/>
              <a:sym typeface="Lato"/>
            </a:endParaRPr>
          </a:p>
          <a:p>
            <a:pPr indent="0" lvl="0" marL="0" rtl="0" algn="l">
              <a:spcBef>
                <a:spcPts val="1600"/>
              </a:spcBef>
              <a:spcAft>
                <a:spcPts val="0"/>
              </a:spcAft>
              <a:buNone/>
            </a:pPr>
            <a:r>
              <a:rPr b="1" lang="en">
                <a:latin typeface="Lato"/>
                <a:ea typeface="Lato"/>
                <a:cs typeface="Lato"/>
                <a:sym typeface="Lato"/>
              </a:rPr>
              <a:t>Part 3: </a:t>
            </a:r>
            <a:r>
              <a:rPr lang="en">
                <a:latin typeface="Lato"/>
                <a:ea typeface="Lato"/>
                <a:cs typeface="Lato"/>
                <a:sym typeface="Lato"/>
              </a:rPr>
              <a:t>Recent Updates + Scaling the Tool</a:t>
            </a:r>
            <a:endParaRPr>
              <a:latin typeface="Lato"/>
              <a:ea typeface="Lato"/>
              <a:cs typeface="Lato"/>
              <a:sym typeface="Lato"/>
            </a:endParaRPr>
          </a:p>
          <a:p>
            <a:pPr indent="0" lvl="0" marL="0" rtl="0" algn="l">
              <a:spcBef>
                <a:spcPts val="1600"/>
              </a:spcBef>
              <a:spcAft>
                <a:spcPts val="0"/>
              </a:spcAft>
              <a:buNone/>
            </a:pPr>
            <a:r>
              <a:rPr b="1" lang="en">
                <a:latin typeface="Lato"/>
                <a:ea typeface="Lato"/>
                <a:cs typeface="Lato"/>
                <a:sym typeface="Lato"/>
              </a:rPr>
              <a:t>Demo time</a:t>
            </a:r>
            <a:endParaRPr b="1">
              <a:latin typeface="Lato"/>
              <a:ea typeface="Lato"/>
              <a:cs typeface="Lato"/>
              <a:sym typeface="Lato"/>
            </a:endParaRPr>
          </a:p>
          <a:p>
            <a:pPr indent="0" lvl="0" marL="0" rtl="0" algn="l">
              <a:spcBef>
                <a:spcPts val="1600"/>
              </a:spcBef>
              <a:spcAft>
                <a:spcPts val="1600"/>
              </a:spcAft>
              <a:buNone/>
            </a:pPr>
            <a:r>
              <a:rPr b="1" lang="en">
                <a:latin typeface="Lato"/>
                <a:ea typeface="Lato"/>
                <a:cs typeface="Lato"/>
                <a:sym typeface="Lato"/>
              </a:rPr>
              <a:t>Q&amp;A</a:t>
            </a:r>
            <a:endParaRPr b="1">
              <a:latin typeface="Lato"/>
              <a:ea typeface="Lato"/>
              <a:cs typeface="Lato"/>
              <a:sym typeface="Lato"/>
            </a:endParaRPr>
          </a:p>
        </p:txBody>
      </p:sp>
      <p:pic>
        <p:nvPicPr>
          <p:cNvPr id="233" name="Google Shape;233;p30"/>
          <p:cNvPicPr preferRelativeResize="0"/>
          <p:nvPr/>
        </p:nvPicPr>
        <p:blipFill>
          <a:blip r:embed="rId3">
            <a:alphaModFix/>
          </a:blip>
          <a:stretch>
            <a:fillRect/>
          </a:stretch>
        </p:blipFill>
        <p:spPr>
          <a:xfrm>
            <a:off x="1158488" y="3429000"/>
            <a:ext cx="2259226" cy="22592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BBEA"/>
        </a:solidFill>
      </p:bgPr>
    </p:bg>
    <p:spTree>
      <p:nvGrpSpPr>
        <p:cNvPr id="237" name="Shape 237"/>
        <p:cNvGrpSpPr/>
        <p:nvPr/>
      </p:nvGrpSpPr>
      <p:grpSpPr>
        <a:xfrm>
          <a:off x="0" y="0"/>
          <a:ext cx="0" cy="0"/>
          <a:chOff x="0" y="0"/>
          <a:chExt cx="0" cy="0"/>
        </a:xfrm>
      </p:grpSpPr>
      <p:sp>
        <p:nvSpPr>
          <p:cNvPr id="238" name="Google Shape;238;p31"/>
          <p:cNvSpPr txBox="1"/>
          <p:nvPr/>
        </p:nvSpPr>
        <p:spPr>
          <a:xfrm>
            <a:off x="457200" y="1737360"/>
            <a:ext cx="8229600" cy="4002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 sz="2000" u="none" cap="none" strike="noStrike">
                <a:solidFill>
                  <a:srgbClr val="FFC847"/>
                </a:solidFill>
                <a:latin typeface="Lato"/>
                <a:ea typeface="Lato"/>
                <a:cs typeface="Lato"/>
                <a:sym typeface="Lato"/>
              </a:rPr>
              <a:t>PART ONE</a:t>
            </a:r>
            <a:endParaRPr sz="2000">
              <a:solidFill>
                <a:srgbClr val="FFC847"/>
              </a:solidFill>
            </a:endParaRPr>
          </a:p>
        </p:txBody>
      </p:sp>
      <p:sp>
        <p:nvSpPr>
          <p:cNvPr id="239" name="Google Shape;239;p31"/>
          <p:cNvSpPr txBox="1"/>
          <p:nvPr/>
        </p:nvSpPr>
        <p:spPr>
          <a:xfrm>
            <a:off x="457200" y="2240280"/>
            <a:ext cx="8229600" cy="10773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 sz="3200" u="none" cap="none" strike="noStrike">
                <a:solidFill>
                  <a:srgbClr val="FFFFFF"/>
                </a:solidFill>
                <a:latin typeface="Lato"/>
                <a:ea typeface="Lato"/>
                <a:cs typeface="Lato"/>
                <a:sym typeface="Lato"/>
              </a:rPr>
              <a:t>What Are NYC Community Boards</a:t>
            </a:r>
            <a:br>
              <a:rPr b="1" i="0" lang="en" sz="3200" u="none" cap="none" strike="noStrike">
                <a:solidFill>
                  <a:srgbClr val="FFFFFF"/>
                </a:solidFill>
                <a:latin typeface="Lato"/>
                <a:ea typeface="Lato"/>
                <a:cs typeface="Lato"/>
                <a:sym typeface="Lato"/>
              </a:rPr>
            </a:br>
            <a:r>
              <a:rPr b="1" i="0" lang="en" sz="3200" u="none" cap="none" strike="noStrike">
                <a:solidFill>
                  <a:srgbClr val="FFFFFF"/>
                </a:solidFill>
                <a:latin typeface="Lato"/>
                <a:ea typeface="Lato"/>
                <a:cs typeface="Lato"/>
                <a:sym typeface="Lato"/>
              </a:rPr>
              <a:t>and Why Do They Matter?</a:t>
            </a:r>
            <a:endParaRPr/>
          </a:p>
        </p:txBody>
      </p:sp>
      <p:sp>
        <p:nvSpPr>
          <p:cNvPr id="240" name="Google Shape;240;p31"/>
          <p:cNvSpPr/>
          <p:nvPr/>
        </p:nvSpPr>
        <p:spPr>
          <a:xfrm>
            <a:off x="3200400" y="4069080"/>
            <a:ext cx="2743200" cy="41100"/>
          </a:xfrm>
          <a:prstGeom prst="rect">
            <a:avLst/>
          </a:prstGeom>
          <a:solidFill>
            <a:srgbClr val="00BBEA"/>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4" name="Shape 244"/>
        <p:cNvGrpSpPr/>
        <p:nvPr/>
      </p:nvGrpSpPr>
      <p:grpSpPr>
        <a:xfrm>
          <a:off x="0" y="0"/>
          <a:ext cx="0" cy="0"/>
          <a:chOff x="0" y="0"/>
          <a:chExt cx="0" cy="0"/>
        </a:xfrm>
      </p:grpSpPr>
      <p:sp>
        <p:nvSpPr>
          <p:cNvPr id="245" name="Google Shape;245;p32"/>
          <p:cNvSpPr txBox="1"/>
          <p:nvPr/>
        </p:nvSpPr>
        <p:spPr>
          <a:xfrm>
            <a:off x="301752" y="111591"/>
            <a:ext cx="7772400" cy="769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 sz="2200" u="none" cap="none" strike="noStrike">
                <a:solidFill>
                  <a:srgbClr val="212121"/>
                </a:solidFill>
                <a:latin typeface="Lato"/>
                <a:ea typeface="Lato"/>
                <a:cs typeface="Lato"/>
                <a:sym typeface="Lato"/>
              </a:rPr>
              <a:t>The </a:t>
            </a:r>
            <a:r>
              <a:rPr b="1" lang="en" sz="2200">
                <a:solidFill>
                  <a:srgbClr val="212121"/>
                </a:solidFill>
                <a:latin typeface="Lato"/>
                <a:ea typeface="Lato"/>
                <a:cs typeface="Lato"/>
                <a:sym typeface="Lato"/>
              </a:rPr>
              <a:t>Local</a:t>
            </a:r>
            <a:r>
              <a:rPr b="1" i="0" lang="en" sz="2200" u="none" cap="none" strike="noStrike">
                <a:solidFill>
                  <a:srgbClr val="212121"/>
                </a:solidFill>
                <a:latin typeface="Lato"/>
                <a:ea typeface="Lato"/>
                <a:cs typeface="Lato"/>
                <a:sym typeface="Lato"/>
              </a:rPr>
              <a:t> Layer of NYC Government Most People Don’t Know Exists</a:t>
            </a:r>
            <a:endParaRPr>
              <a:latin typeface="Lato"/>
              <a:ea typeface="Lato"/>
              <a:cs typeface="Lato"/>
              <a:sym typeface="Lato"/>
            </a:endParaRPr>
          </a:p>
        </p:txBody>
      </p:sp>
      <p:sp>
        <p:nvSpPr>
          <p:cNvPr id="246" name="Google Shape;246;p32"/>
          <p:cNvSpPr/>
          <p:nvPr/>
        </p:nvSpPr>
        <p:spPr>
          <a:xfrm>
            <a:off x="0" y="841248"/>
            <a:ext cx="9144000" cy="41100"/>
          </a:xfrm>
          <a:prstGeom prst="rect">
            <a:avLst/>
          </a:prstGeom>
          <a:solidFill>
            <a:srgbClr val="4285F4"/>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47" name="Google Shape;247;p32"/>
          <p:cNvSpPr/>
          <p:nvPr/>
        </p:nvSpPr>
        <p:spPr>
          <a:xfrm>
            <a:off x="301752" y="987552"/>
            <a:ext cx="8540400" cy="804600"/>
          </a:xfrm>
          <a:prstGeom prst="rect">
            <a:avLst/>
          </a:prstGeom>
          <a:solidFill>
            <a:srgbClr val="E8F0FE"/>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48" name="Google Shape;248;p32"/>
          <p:cNvSpPr/>
          <p:nvPr/>
        </p:nvSpPr>
        <p:spPr>
          <a:xfrm>
            <a:off x="301752" y="987552"/>
            <a:ext cx="63900" cy="804600"/>
          </a:xfrm>
          <a:prstGeom prst="rect">
            <a:avLst/>
          </a:prstGeom>
          <a:solidFill>
            <a:srgbClr val="00BBEA"/>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49" name="Google Shape;249;p32"/>
          <p:cNvSpPr txBox="1"/>
          <p:nvPr/>
        </p:nvSpPr>
        <p:spPr>
          <a:xfrm>
            <a:off x="484632" y="1111538"/>
            <a:ext cx="8247900" cy="615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 sz="1700" u="none" cap="none" strike="noStrike">
                <a:solidFill>
                  <a:srgbClr val="304D80"/>
                </a:solidFill>
                <a:latin typeface="Lato"/>
                <a:ea typeface="Lato"/>
                <a:cs typeface="Lato"/>
                <a:sym typeface="Lato"/>
              </a:rPr>
              <a:t>Community boards are the ground floor of New York City politics—and most New Yorkers have never heard of them.</a:t>
            </a:r>
            <a:endParaRPr sz="1700">
              <a:solidFill>
                <a:srgbClr val="304D80"/>
              </a:solidFill>
              <a:latin typeface="Lato"/>
              <a:ea typeface="Lato"/>
              <a:cs typeface="Lato"/>
              <a:sym typeface="Lato"/>
            </a:endParaRPr>
          </a:p>
        </p:txBody>
      </p:sp>
      <p:sp>
        <p:nvSpPr>
          <p:cNvPr id="250" name="Google Shape;250;p32"/>
          <p:cNvSpPr txBox="1"/>
          <p:nvPr/>
        </p:nvSpPr>
        <p:spPr>
          <a:xfrm>
            <a:off x="301750" y="1920257"/>
            <a:ext cx="4846200" cy="40329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i="0" lang="en" sz="1700" u="none" cap="none" strike="noStrike">
                <a:solidFill>
                  <a:srgbClr val="304D80"/>
                </a:solidFill>
                <a:latin typeface="Lato"/>
                <a:ea typeface="Lato"/>
                <a:cs typeface="Lato"/>
                <a:sym typeface="Lato"/>
              </a:rPr>
              <a:t>·  59 community boards across NYC’s 5 boroughs</a:t>
            </a:r>
            <a:endParaRPr i="0" sz="1700" u="none" cap="none" strike="noStrike">
              <a:solidFill>
                <a:srgbClr val="304D80"/>
              </a:solidFill>
              <a:latin typeface="Lato"/>
              <a:ea typeface="Lato"/>
              <a:cs typeface="Lato"/>
              <a:sym typeface="Lato"/>
            </a:endParaRPr>
          </a:p>
          <a:p>
            <a:pPr indent="0" lvl="0" marL="0" marR="0" rtl="0" algn="l">
              <a:spcBef>
                <a:spcPts val="0"/>
              </a:spcBef>
              <a:spcAft>
                <a:spcPts val="0"/>
              </a:spcAft>
              <a:buNone/>
            </a:pPr>
            <a:r>
              <a:t/>
            </a:r>
            <a:endParaRPr sz="1700">
              <a:solidFill>
                <a:srgbClr val="304D80"/>
              </a:solidFill>
              <a:latin typeface="Lato"/>
              <a:ea typeface="Lato"/>
              <a:cs typeface="Lato"/>
              <a:sym typeface="Lato"/>
            </a:endParaRPr>
          </a:p>
          <a:p>
            <a:pPr indent="0" lvl="0" marL="0" marR="0" rtl="0" algn="l">
              <a:spcBef>
                <a:spcPts val="600"/>
              </a:spcBef>
              <a:spcAft>
                <a:spcPts val="0"/>
              </a:spcAft>
              <a:buNone/>
            </a:pPr>
            <a:r>
              <a:rPr i="0" lang="en" sz="1700" u="none" cap="none" strike="noStrike">
                <a:solidFill>
                  <a:srgbClr val="304D80"/>
                </a:solidFill>
                <a:latin typeface="Lato"/>
                <a:ea typeface="Lato"/>
                <a:cs typeface="Lato"/>
                <a:sym typeface="Lato"/>
              </a:rPr>
              <a:t>·  Established by the NYC Charter</a:t>
            </a:r>
            <a:endParaRPr i="0" sz="1700" u="none" cap="none" strike="noStrike">
              <a:solidFill>
                <a:srgbClr val="304D80"/>
              </a:solidFill>
              <a:latin typeface="Lato"/>
              <a:ea typeface="Lato"/>
              <a:cs typeface="Lato"/>
              <a:sym typeface="Lato"/>
            </a:endParaRPr>
          </a:p>
          <a:p>
            <a:pPr indent="0" lvl="0" marL="0" marR="0" rtl="0" algn="l">
              <a:spcBef>
                <a:spcPts val="600"/>
              </a:spcBef>
              <a:spcAft>
                <a:spcPts val="0"/>
              </a:spcAft>
              <a:buNone/>
            </a:pPr>
            <a:r>
              <a:t/>
            </a:r>
            <a:endParaRPr sz="1700">
              <a:solidFill>
                <a:srgbClr val="304D80"/>
              </a:solidFill>
              <a:latin typeface="Lato"/>
              <a:ea typeface="Lato"/>
              <a:cs typeface="Lato"/>
              <a:sym typeface="Lato"/>
            </a:endParaRPr>
          </a:p>
          <a:p>
            <a:pPr indent="0" lvl="0" marL="0" marR="0" rtl="0" algn="l">
              <a:spcBef>
                <a:spcPts val="600"/>
              </a:spcBef>
              <a:spcAft>
                <a:spcPts val="0"/>
              </a:spcAft>
              <a:buNone/>
            </a:pPr>
            <a:r>
              <a:rPr i="0" lang="en" sz="1700" u="none" cap="none" strike="noStrike">
                <a:solidFill>
                  <a:srgbClr val="304D80"/>
                </a:solidFill>
                <a:latin typeface="Lato"/>
                <a:ea typeface="Lato"/>
                <a:cs typeface="Lato"/>
                <a:sym typeface="Lato"/>
              </a:rPr>
              <a:t>·  Represent a single community district — neighborhood scale</a:t>
            </a:r>
            <a:endParaRPr i="0" sz="1700" u="none" cap="none" strike="noStrike">
              <a:solidFill>
                <a:srgbClr val="304D80"/>
              </a:solidFill>
              <a:latin typeface="Lato"/>
              <a:ea typeface="Lato"/>
              <a:cs typeface="Lato"/>
              <a:sym typeface="Lato"/>
            </a:endParaRPr>
          </a:p>
          <a:p>
            <a:pPr indent="0" lvl="0" marL="0" marR="0" rtl="0" algn="l">
              <a:spcBef>
                <a:spcPts val="600"/>
              </a:spcBef>
              <a:spcAft>
                <a:spcPts val="0"/>
              </a:spcAft>
              <a:buNone/>
            </a:pPr>
            <a:r>
              <a:t/>
            </a:r>
            <a:endParaRPr sz="1700">
              <a:solidFill>
                <a:srgbClr val="304D80"/>
              </a:solidFill>
              <a:latin typeface="Lato"/>
              <a:ea typeface="Lato"/>
              <a:cs typeface="Lato"/>
              <a:sym typeface="Lato"/>
            </a:endParaRPr>
          </a:p>
          <a:p>
            <a:pPr indent="0" lvl="0" marL="0" marR="0" rtl="0" algn="l">
              <a:spcBef>
                <a:spcPts val="600"/>
              </a:spcBef>
              <a:spcAft>
                <a:spcPts val="0"/>
              </a:spcAft>
              <a:buNone/>
            </a:pPr>
            <a:r>
              <a:rPr i="0" lang="en" sz="1700" u="none" cap="none" strike="noStrike">
                <a:solidFill>
                  <a:srgbClr val="304D80"/>
                </a:solidFill>
                <a:latin typeface="Lato"/>
                <a:ea typeface="Lato"/>
                <a:cs typeface="Lato"/>
                <a:sym typeface="Lato"/>
              </a:rPr>
              <a:t>·  Members are uncompensated volunteers appointed by their Borough President to s</a:t>
            </a:r>
            <a:r>
              <a:rPr lang="en" sz="1700">
                <a:solidFill>
                  <a:srgbClr val="304D80"/>
                </a:solidFill>
                <a:latin typeface="Lato"/>
                <a:ea typeface="Lato"/>
                <a:cs typeface="Lato"/>
                <a:sym typeface="Lato"/>
              </a:rPr>
              <a:t>erve two-year terms</a:t>
            </a:r>
            <a:endParaRPr sz="1700">
              <a:solidFill>
                <a:srgbClr val="304D80"/>
              </a:solidFill>
              <a:latin typeface="Lato"/>
              <a:ea typeface="Lato"/>
              <a:cs typeface="Lato"/>
              <a:sym typeface="Lato"/>
            </a:endParaRPr>
          </a:p>
          <a:p>
            <a:pPr indent="0" lvl="0" marL="0" marR="0" rtl="0" algn="l">
              <a:spcBef>
                <a:spcPts val="600"/>
              </a:spcBef>
              <a:spcAft>
                <a:spcPts val="0"/>
              </a:spcAft>
              <a:buNone/>
            </a:pPr>
            <a:r>
              <a:t/>
            </a:r>
            <a:endParaRPr sz="1700">
              <a:solidFill>
                <a:srgbClr val="304D80"/>
              </a:solidFill>
              <a:latin typeface="Lato"/>
              <a:ea typeface="Lato"/>
              <a:cs typeface="Lato"/>
              <a:sym typeface="Lato"/>
            </a:endParaRPr>
          </a:p>
          <a:p>
            <a:pPr indent="0" lvl="0" marL="0" marR="0" rtl="0" algn="l">
              <a:spcBef>
                <a:spcPts val="600"/>
              </a:spcBef>
              <a:spcAft>
                <a:spcPts val="0"/>
              </a:spcAft>
              <a:buNone/>
            </a:pPr>
            <a:r>
              <a:rPr i="0" lang="en" sz="1700" u="none" cap="none" strike="noStrike">
                <a:solidFill>
                  <a:srgbClr val="304D80"/>
                </a:solidFill>
                <a:latin typeface="Lato"/>
                <a:ea typeface="Lato"/>
                <a:cs typeface="Lato"/>
                <a:sym typeface="Lato"/>
              </a:rPr>
              <a:t>·  Charter Mandate: “consider the needs of the community district and advise elected officials”</a:t>
            </a:r>
            <a:endParaRPr sz="1700">
              <a:latin typeface="Lato"/>
              <a:ea typeface="Lato"/>
              <a:cs typeface="Lato"/>
              <a:sym typeface="Lato"/>
            </a:endParaRPr>
          </a:p>
        </p:txBody>
      </p:sp>
      <p:sp>
        <p:nvSpPr>
          <p:cNvPr id="251" name="Google Shape;251;p32"/>
          <p:cNvSpPr/>
          <p:nvPr/>
        </p:nvSpPr>
        <p:spPr>
          <a:xfrm>
            <a:off x="5349240" y="1920240"/>
            <a:ext cx="3794700" cy="2834700"/>
          </a:xfrm>
          <a:prstGeom prst="rect">
            <a:avLst/>
          </a:prstGeom>
          <a:solidFill>
            <a:srgbClr val="FFE599"/>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900" u="none" cap="none" strike="noStrike">
              <a:solidFill>
                <a:schemeClr val="dk1"/>
              </a:solidFill>
              <a:latin typeface="Calibri"/>
              <a:ea typeface="Calibri"/>
              <a:cs typeface="Calibri"/>
              <a:sym typeface="Calibri"/>
            </a:endParaRPr>
          </a:p>
        </p:txBody>
      </p:sp>
      <p:sp>
        <p:nvSpPr>
          <p:cNvPr id="252" name="Google Shape;252;p32"/>
          <p:cNvSpPr/>
          <p:nvPr/>
        </p:nvSpPr>
        <p:spPr>
          <a:xfrm>
            <a:off x="5349240" y="1920240"/>
            <a:ext cx="63900" cy="2834700"/>
          </a:xfrm>
          <a:prstGeom prst="rect">
            <a:avLst/>
          </a:prstGeom>
          <a:solidFill>
            <a:srgbClr val="FFC847"/>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53" name="Google Shape;253;p32"/>
          <p:cNvSpPr txBox="1"/>
          <p:nvPr/>
        </p:nvSpPr>
        <p:spPr>
          <a:xfrm>
            <a:off x="5532125" y="2029978"/>
            <a:ext cx="3502200" cy="22473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i="0" lang="en" sz="2000" u="none" cap="none" strike="noStrike">
                <a:solidFill>
                  <a:srgbClr val="C62828"/>
                </a:solidFill>
                <a:latin typeface="Lato"/>
                <a:ea typeface="Lato"/>
                <a:cs typeface="Lato"/>
                <a:sym typeface="Lato"/>
              </a:rPr>
              <a:t>The key fact:</a:t>
            </a:r>
            <a:br>
              <a:rPr i="0" lang="en" sz="2000" u="none" cap="none" strike="noStrike">
                <a:solidFill>
                  <a:srgbClr val="C62828"/>
                </a:solidFill>
                <a:latin typeface="Lato"/>
                <a:ea typeface="Lato"/>
                <a:cs typeface="Lato"/>
                <a:sym typeface="Lato"/>
              </a:rPr>
            </a:br>
            <a:br>
              <a:rPr i="0" lang="en" sz="2000" u="none" cap="none" strike="noStrike">
                <a:solidFill>
                  <a:srgbClr val="C62828"/>
                </a:solidFill>
                <a:latin typeface="Lato"/>
                <a:ea typeface="Lato"/>
                <a:cs typeface="Lato"/>
                <a:sym typeface="Lato"/>
              </a:rPr>
            </a:br>
            <a:r>
              <a:rPr i="0" lang="en" sz="2000" u="none" cap="none" strike="noStrike">
                <a:solidFill>
                  <a:srgbClr val="C62828"/>
                </a:solidFill>
                <a:latin typeface="Lato"/>
                <a:ea typeface="Lato"/>
                <a:cs typeface="Lato"/>
                <a:sym typeface="Lato"/>
              </a:rPr>
              <a:t>Community boards have NO formal decision-making power.</a:t>
            </a:r>
            <a:br>
              <a:rPr i="0" lang="en" sz="2000" u="none" cap="none" strike="noStrike">
                <a:solidFill>
                  <a:srgbClr val="C62828"/>
                </a:solidFill>
                <a:latin typeface="Lato"/>
                <a:ea typeface="Lato"/>
                <a:cs typeface="Lato"/>
                <a:sym typeface="Lato"/>
              </a:rPr>
            </a:br>
            <a:br>
              <a:rPr i="0" lang="en" sz="2000" u="none" cap="none" strike="noStrike">
                <a:solidFill>
                  <a:srgbClr val="C62828"/>
                </a:solidFill>
                <a:latin typeface="Lato"/>
                <a:ea typeface="Lato"/>
                <a:cs typeface="Lato"/>
                <a:sym typeface="Lato"/>
              </a:rPr>
            </a:br>
            <a:r>
              <a:rPr i="0" lang="en" sz="2000" u="none" cap="none" strike="noStrike">
                <a:solidFill>
                  <a:srgbClr val="C62828"/>
                </a:solidFill>
                <a:latin typeface="Lato"/>
                <a:ea typeface="Lato"/>
                <a:cs typeface="Lato"/>
                <a:sym typeface="Lato"/>
              </a:rPr>
              <a:t>Their role is advisory.</a:t>
            </a:r>
            <a:endParaRPr sz="2000">
              <a:solidFill>
                <a:srgbClr val="C62828"/>
              </a:solidFill>
              <a:latin typeface="Lato"/>
              <a:ea typeface="Lato"/>
              <a:cs typeface="Lato"/>
              <a:sym typeface="Lato"/>
            </a:endParaRPr>
          </a:p>
        </p:txBody>
      </p:sp>
      <p:sp>
        <p:nvSpPr>
          <p:cNvPr id="254" name="Google Shape;254;p32"/>
          <p:cNvSpPr txBox="1"/>
          <p:nvPr/>
        </p:nvSpPr>
        <p:spPr>
          <a:xfrm>
            <a:off x="301752" y="6080760"/>
            <a:ext cx="8540400" cy="3387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 sz="1600" u="none" cap="none" strike="noStrike">
                <a:solidFill>
                  <a:srgbClr val="304D80"/>
                </a:solidFill>
                <a:latin typeface="Lato"/>
                <a:ea typeface="Lato"/>
                <a:cs typeface="Lato"/>
                <a:sym typeface="Lato"/>
              </a:rPr>
              <a:t>So why do they matter?  →</a:t>
            </a:r>
            <a:endParaRPr sz="1500">
              <a:solidFill>
                <a:srgbClr val="304D80"/>
              </a:solidFill>
              <a:latin typeface="Lato"/>
              <a:ea typeface="Lato"/>
              <a:cs typeface="Lato"/>
              <a:sym typeface="Lato"/>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8" name="Shape 258"/>
        <p:cNvGrpSpPr/>
        <p:nvPr/>
      </p:nvGrpSpPr>
      <p:grpSpPr>
        <a:xfrm>
          <a:off x="0" y="0"/>
          <a:ext cx="0" cy="0"/>
          <a:chOff x="0" y="0"/>
          <a:chExt cx="0" cy="0"/>
        </a:xfrm>
      </p:grpSpPr>
      <p:sp>
        <p:nvSpPr>
          <p:cNvPr id="259" name="Google Shape;259;p33"/>
          <p:cNvSpPr txBox="1"/>
          <p:nvPr/>
        </p:nvSpPr>
        <p:spPr>
          <a:xfrm>
            <a:off x="301752" y="182874"/>
            <a:ext cx="7772400" cy="8619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 sz="2500" u="none" cap="none" strike="noStrike">
                <a:solidFill>
                  <a:srgbClr val="212121"/>
                </a:solidFill>
                <a:latin typeface="Lato"/>
                <a:ea typeface="Lato"/>
                <a:cs typeface="Lato"/>
                <a:sym typeface="Lato"/>
              </a:rPr>
              <a:t>Soft Power — Why “Advisory” Doesn’t Mean Toothless</a:t>
            </a:r>
            <a:endParaRPr sz="1700">
              <a:latin typeface="Lato"/>
              <a:ea typeface="Lato"/>
              <a:cs typeface="Lato"/>
              <a:sym typeface="Lato"/>
            </a:endParaRPr>
          </a:p>
        </p:txBody>
      </p:sp>
      <p:sp>
        <p:nvSpPr>
          <p:cNvPr id="260" name="Google Shape;260;p33"/>
          <p:cNvSpPr/>
          <p:nvPr/>
        </p:nvSpPr>
        <p:spPr>
          <a:xfrm>
            <a:off x="0" y="983887"/>
            <a:ext cx="9144000" cy="50100"/>
          </a:xfrm>
          <a:prstGeom prst="rect">
            <a:avLst/>
          </a:prstGeom>
          <a:solidFill>
            <a:srgbClr val="4285F4"/>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100" u="none" cap="none" strike="noStrike">
              <a:solidFill>
                <a:schemeClr val="dk1"/>
              </a:solidFill>
              <a:latin typeface="Calibri"/>
              <a:ea typeface="Calibri"/>
              <a:cs typeface="Calibri"/>
              <a:sym typeface="Calibri"/>
            </a:endParaRPr>
          </a:p>
        </p:txBody>
      </p:sp>
      <p:sp>
        <p:nvSpPr>
          <p:cNvPr id="261" name="Google Shape;261;p33"/>
          <p:cNvSpPr txBox="1"/>
          <p:nvPr/>
        </p:nvSpPr>
        <p:spPr>
          <a:xfrm>
            <a:off x="301750" y="1161902"/>
            <a:ext cx="320100" cy="3231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 sz="1500" u="none" cap="none" strike="noStrike">
                <a:solidFill>
                  <a:srgbClr val="4285F4"/>
                </a:solidFill>
                <a:latin typeface="Lato"/>
                <a:ea typeface="Lato"/>
                <a:cs typeface="Lato"/>
                <a:sym typeface="Lato"/>
              </a:rPr>
              <a:t>▶</a:t>
            </a:r>
            <a:endParaRPr sz="1700"/>
          </a:p>
        </p:txBody>
      </p:sp>
      <p:sp>
        <p:nvSpPr>
          <p:cNvPr id="262" name="Google Shape;262;p33"/>
          <p:cNvSpPr txBox="1"/>
          <p:nvPr/>
        </p:nvSpPr>
        <p:spPr>
          <a:xfrm>
            <a:off x="621790" y="1161902"/>
            <a:ext cx="8229600" cy="354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 sz="1700" u="none" cap="none" strike="noStrike">
                <a:solidFill>
                  <a:srgbClr val="212121"/>
                </a:solidFill>
                <a:latin typeface="Lato"/>
                <a:ea typeface="Lato"/>
                <a:cs typeface="Lato"/>
                <a:sym typeface="Lato"/>
              </a:rPr>
              <a:t>Resolutions on the record</a:t>
            </a:r>
            <a:endParaRPr sz="1700">
              <a:latin typeface="Lato"/>
              <a:ea typeface="Lato"/>
              <a:cs typeface="Lato"/>
              <a:sym typeface="Lato"/>
            </a:endParaRPr>
          </a:p>
        </p:txBody>
      </p:sp>
      <p:sp>
        <p:nvSpPr>
          <p:cNvPr id="263" name="Google Shape;263;p33"/>
          <p:cNvSpPr txBox="1"/>
          <p:nvPr/>
        </p:nvSpPr>
        <p:spPr>
          <a:xfrm>
            <a:off x="621790" y="1683379"/>
            <a:ext cx="8229600" cy="5541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i="0" lang="en" sz="1500" u="none" cap="none" strike="noStrike">
                <a:solidFill>
                  <a:schemeClr val="dk1"/>
                </a:solidFill>
                <a:latin typeface="Lato"/>
                <a:ea typeface="Lato"/>
                <a:cs typeface="Lato"/>
                <a:sym typeface="Lato"/>
              </a:rPr>
              <a:t>Every agency and elected official sees when </a:t>
            </a:r>
            <a:r>
              <a:rPr lang="en" sz="1500">
                <a:solidFill>
                  <a:schemeClr val="dk1"/>
                </a:solidFill>
                <a:latin typeface="Lato"/>
                <a:ea typeface="Lato"/>
                <a:cs typeface="Lato"/>
                <a:sym typeface="Lato"/>
              </a:rPr>
              <a:t>CB</a:t>
            </a:r>
            <a:r>
              <a:rPr i="0" lang="en" sz="1500" u="none" cap="none" strike="noStrike">
                <a:solidFill>
                  <a:schemeClr val="dk1"/>
                </a:solidFill>
                <a:latin typeface="Lato"/>
                <a:ea typeface="Lato"/>
                <a:cs typeface="Lato"/>
                <a:sym typeface="Lato"/>
              </a:rPr>
              <a:t> formally opposes their project. Ignoring a unanimous board vote </a:t>
            </a:r>
            <a:r>
              <a:rPr lang="en" sz="1500">
                <a:solidFill>
                  <a:schemeClr val="dk1"/>
                </a:solidFill>
                <a:latin typeface="Lato"/>
                <a:ea typeface="Lato"/>
                <a:cs typeface="Lato"/>
                <a:sym typeface="Lato"/>
              </a:rPr>
              <a:t>can have</a:t>
            </a:r>
            <a:r>
              <a:rPr i="0" lang="en" sz="1500" u="none" cap="none" strike="noStrike">
                <a:solidFill>
                  <a:schemeClr val="dk1"/>
                </a:solidFill>
                <a:latin typeface="Lato"/>
                <a:ea typeface="Lato"/>
                <a:cs typeface="Lato"/>
                <a:sym typeface="Lato"/>
              </a:rPr>
              <a:t> political costs.</a:t>
            </a:r>
            <a:endParaRPr sz="1700">
              <a:solidFill>
                <a:schemeClr val="dk1"/>
              </a:solidFill>
              <a:latin typeface="Lato"/>
              <a:ea typeface="Lato"/>
              <a:cs typeface="Lato"/>
              <a:sym typeface="Lato"/>
            </a:endParaRPr>
          </a:p>
        </p:txBody>
      </p:sp>
      <p:sp>
        <p:nvSpPr>
          <p:cNvPr id="264" name="Google Shape;264;p33"/>
          <p:cNvSpPr/>
          <p:nvPr/>
        </p:nvSpPr>
        <p:spPr>
          <a:xfrm>
            <a:off x="301750" y="2396980"/>
            <a:ext cx="8540400" cy="27300"/>
          </a:xfrm>
          <a:prstGeom prst="rect">
            <a:avLst/>
          </a:prstGeom>
          <a:solidFill>
            <a:srgbClr val="EEEEEE"/>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100" u="none" cap="none" strike="noStrike">
              <a:solidFill>
                <a:schemeClr val="dk1"/>
              </a:solidFill>
              <a:latin typeface="Calibri"/>
              <a:ea typeface="Calibri"/>
              <a:cs typeface="Calibri"/>
              <a:sym typeface="Calibri"/>
            </a:endParaRPr>
          </a:p>
        </p:txBody>
      </p:sp>
      <p:sp>
        <p:nvSpPr>
          <p:cNvPr id="265" name="Google Shape;265;p33"/>
          <p:cNvSpPr txBox="1"/>
          <p:nvPr/>
        </p:nvSpPr>
        <p:spPr>
          <a:xfrm>
            <a:off x="301750" y="2602826"/>
            <a:ext cx="320100" cy="3231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 sz="1500" u="none" cap="none" strike="noStrike">
                <a:solidFill>
                  <a:srgbClr val="4285F4"/>
                </a:solidFill>
                <a:latin typeface="Lato"/>
                <a:ea typeface="Lato"/>
                <a:cs typeface="Lato"/>
                <a:sym typeface="Lato"/>
              </a:rPr>
              <a:t>▶</a:t>
            </a:r>
            <a:endParaRPr sz="1700"/>
          </a:p>
        </p:txBody>
      </p:sp>
      <p:sp>
        <p:nvSpPr>
          <p:cNvPr id="266" name="Google Shape;266;p33"/>
          <p:cNvSpPr txBox="1"/>
          <p:nvPr/>
        </p:nvSpPr>
        <p:spPr>
          <a:xfrm>
            <a:off x="621790" y="2602826"/>
            <a:ext cx="8229600" cy="354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 sz="1700" u="none" cap="none" strike="noStrike">
                <a:solidFill>
                  <a:srgbClr val="212121"/>
                </a:solidFill>
                <a:latin typeface="Lato"/>
                <a:ea typeface="Lato"/>
                <a:cs typeface="Lato"/>
                <a:sym typeface="Lato"/>
              </a:rPr>
              <a:t>District Needs Statement (DNS)</a:t>
            </a:r>
            <a:endParaRPr sz="1700">
              <a:latin typeface="Lato"/>
              <a:ea typeface="Lato"/>
              <a:cs typeface="Lato"/>
              <a:sym typeface="Lato"/>
            </a:endParaRPr>
          </a:p>
        </p:txBody>
      </p:sp>
      <p:sp>
        <p:nvSpPr>
          <p:cNvPr id="267" name="Google Shape;267;p33"/>
          <p:cNvSpPr txBox="1"/>
          <p:nvPr/>
        </p:nvSpPr>
        <p:spPr>
          <a:xfrm>
            <a:off x="621790" y="3124303"/>
            <a:ext cx="8229600" cy="5541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i="0" lang="en" sz="1500" u="none" cap="none" strike="noStrike">
                <a:solidFill>
                  <a:schemeClr val="dk1"/>
                </a:solidFill>
                <a:latin typeface="Lato"/>
                <a:ea typeface="Lato"/>
                <a:cs typeface="Lato"/>
                <a:sym typeface="Lato"/>
              </a:rPr>
              <a:t>Annual priorities document filed by each CB. City agencies must respond to DNS requests in budget planning — direct budget influence.</a:t>
            </a:r>
            <a:endParaRPr sz="1700">
              <a:solidFill>
                <a:schemeClr val="dk1"/>
              </a:solidFill>
              <a:latin typeface="Lato"/>
              <a:ea typeface="Lato"/>
              <a:cs typeface="Lato"/>
              <a:sym typeface="Lato"/>
            </a:endParaRPr>
          </a:p>
        </p:txBody>
      </p:sp>
      <p:sp>
        <p:nvSpPr>
          <p:cNvPr id="268" name="Google Shape;268;p33"/>
          <p:cNvSpPr/>
          <p:nvPr/>
        </p:nvSpPr>
        <p:spPr>
          <a:xfrm>
            <a:off x="301750" y="3837903"/>
            <a:ext cx="8540400" cy="27300"/>
          </a:xfrm>
          <a:prstGeom prst="rect">
            <a:avLst/>
          </a:prstGeom>
          <a:solidFill>
            <a:srgbClr val="EEEEEE"/>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100" u="none" cap="none" strike="noStrike">
              <a:solidFill>
                <a:schemeClr val="dk1"/>
              </a:solidFill>
              <a:latin typeface="Calibri"/>
              <a:ea typeface="Calibri"/>
              <a:cs typeface="Calibri"/>
              <a:sym typeface="Calibri"/>
            </a:endParaRPr>
          </a:p>
        </p:txBody>
      </p:sp>
      <p:sp>
        <p:nvSpPr>
          <p:cNvPr id="269" name="Google Shape;269;p33"/>
          <p:cNvSpPr txBox="1"/>
          <p:nvPr/>
        </p:nvSpPr>
        <p:spPr>
          <a:xfrm>
            <a:off x="301750" y="4043748"/>
            <a:ext cx="320100" cy="3231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 sz="1500" u="none" cap="none" strike="noStrike">
                <a:solidFill>
                  <a:srgbClr val="4285F4"/>
                </a:solidFill>
                <a:latin typeface="Lato"/>
                <a:ea typeface="Lato"/>
                <a:cs typeface="Lato"/>
                <a:sym typeface="Lato"/>
              </a:rPr>
              <a:t>▶</a:t>
            </a:r>
            <a:endParaRPr sz="1700"/>
          </a:p>
        </p:txBody>
      </p:sp>
      <p:sp>
        <p:nvSpPr>
          <p:cNvPr id="270" name="Google Shape;270;p33"/>
          <p:cNvSpPr txBox="1"/>
          <p:nvPr/>
        </p:nvSpPr>
        <p:spPr>
          <a:xfrm>
            <a:off x="621790" y="4043748"/>
            <a:ext cx="8229600" cy="354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 sz="1700" u="none" cap="none" strike="noStrike">
                <a:solidFill>
                  <a:srgbClr val="212121"/>
                </a:solidFill>
                <a:latin typeface="Lato"/>
                <a:ea typeface="Lato"/>
                <a:cs typeface="Lato"/>
                <a:sym typeface="Lato"/>
              </a:rPr>
              <a:t>Required ULURP referrals, SLA</a:t>
            </a:r>
            <a:r>
              <a:rPr b="1" lang="en" sz="1700">
                <a:solidFill>
                  <a:srgbClr val="212121"/>
                </a:solidFill>
                <a:latin typeface="Lato"/>
                <a:ea typeface="Lato"/>
                <a:cs typeface="Lato"/>
                <a:sym typeface="Lato"/>
              </a:rPr>
              <a:t> &amp; sidewalk cafe applications</a:t>
            </a:r>
            <a:endParaRPr sz="1700">
              <a:latin typeface="Lato"/>
              <a:ea typeface="Lato"/>
              <a:cs typeface="Lato"/>
              <a:sym typeface="Lato"/>
            </a:endParaRPr>
          </a:p>
        </p:txBody>
      </p:sp>
      <p:sp>
        <p:nvSpPr>
          <p:cNvPr id="271" name="Google Shape;271;p33"/>
          <p:cNvSpPr txBox="1"/>
          <p:nvPr/>
        </p:nvSpPr>
        <p:spPr>
          <a:xfrm>
            <a:off x="621790" y="4565225"/>
            <a:ext cx="8229600" cy="5541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i="0" lang="en" sz="1500" u="none" cap="none" strike="noStrike">
                <a:solidFill>
                  <a:schemeClr val="dk1"/>
                </a:solidFill>
                <a:latin typeface="Lato"/>
                <a:ea typeface="Lato"/>
                <a:cs typeface="Lato"/>
                <a:sym typeface="Lato"/>
              </a:rPr>
              <a:t>For major land use decisions (rezonings, new developments), the city is legally required to refer applications to the CB. Recommendations become public record.</a:t>
            </a:r>
            <a:endParaRPr sz="1700">
              <a:solidFill>
                <a:schemeClr val="dk1"/>
              </a:solidFill>
              <a:latin typeface="Lato"/>
              <a:ea typeface="Lato"/>
              <a:cs typeface="Lato"/>
              <a:sym typeface="Lato"/>
            </a:endParaRPr>
          </a:p>
        </p:txBody>
      </p:sp>
      <p:sp>
        <p:nvSpPr>
          <p:cNvPr id="272" name="Google Shape;272;p33"/>
          <p:cNvSpPr/>
          <p:nvPr/>
        </p:nvSpPr>
        <p:spPr>
          <a:xfrm>
            <a:off x="301750" y="5278827"/>
            <a:ext cx="8540400" cy="27300"/>
          </a:xfrm>
          <a:prstGeom prst="rect">
            <a:avLst/>
          </a:prstGeom>
          <a:solidFill>
            <a:srgbClr val="EEEEEE"/>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100" u="none" cap="none" strike="noStrike">
              <a:solidFill>
                <a:schemeClr val="dk1"/>
              </a:solidFill>
              <a:latin typeface="Calibri"/>
              <a:ea typeface="Calibri"/>
              <a:cs typeface="Calibri"/>
              <a:sym typeface="Calibri"/>
            </a:endParaRPr>
          </a:p>
        </p:txBody>
      </p:sp>
      <p:sp>
        <p:nvSpPr>
          <p:cNvPr id="273" name="Google Shape;273;p33"/>
          <p:cNvSpPr txBox="1"/>
          <p:nvPr/>
        </p:nvSpPr>
        <p:spPr>
          <a:xfrm>
            <a:off x="301750" y="5484672"/>
            <a:ext cx="320100" cy="3231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 sz="1500" u="none" cap="none" strike="noStrike">
                <a:solidFill>
                  <a:srgbClr val="4285F4"/>
                </a:solidFill>
                <a:latin typeface="Lato"/>
                <a:ea typeface="Lato"/>
                <a:cs typeface="Lato"/>
                <a:sym typeface="Lato"/>
              </a:rPr>
              <a:t>▶</a:t>
            </a:r>
            <a:endParaRPr sz="1700"/>
          </a:p>
        </p:txBody>
      </p:sp>
      <p:sp>
        <p:nvSpPr>
          <p:cNvPr id="274" name="Google Shape;274;p33"/>
          <p:cNvSpPr txBox="1"/>
          <p:nvPr/>
        </p:nvSpPr>
        <p:spPr>
          <a:xfrm>
            <a:off x="621790" y="5484672"/>
            <a:ext cx="8229600" cy="354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 sz="1700" u="none" cap="none" strike="noStrike">
                <a:solidFill>
                  <a:srgbClr val="212121"/>
                </a:solidFill>
                <a:latin typeface="Lato"/>
                <a:ea typeface="Lato"/>
                <a:cs typeface="Lato"/>
                <a:sym typeface="Lato"/>
              </a:rPr>
              <a:t>Political pipeline</a:t>
            </a:r>
            <a:endParaRPr sz="1700">
              <a:latin typeface="Lato"/>
              <a:ea typeface="Lato"/>
              <a:cs typeface="Lato"/>
              <a:sym typeface="Lato"/>
            </a:endParaRPr>
          </a:p>
        </p:txBody>
      </p:sp>
      <p:sp>
        <p:nvSpPr>
          <p:cNvPr id="275" name="Google Shape;275;p33"/>
          <p:cNvSpPr txBox="1"/>
          <p:nvPr/>
        </p:nvSpPr>
        <p:spPr>
          <a:xfrm>
            <a:off x="621790" y="6006149"/>
            <a:ext cx="8229600" cy="5541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i="0" lang="en" sz="1500" u="none" cap="none" strike="noStrike">
                <a:solidFill>
                  <a:schemeClr val="dk1"/>
                </a:solidFill>
                <a:latin typeface="Lato"/>
                <a:ea typeface="Lato"/>
                <a:cs typeface="Lato"/>
                <a:sym typeface="Lato"/>
              </a:rPr>
              <a:t>Many City Council members began as CB members. Relationships here open doors in elected offices and city agencies.</a:t>
            </a:r>
            <a:endParaRPr sz="1700">
              <a:solidFill>
                <a:schemeClr val="dk1"/>
              </a:solidFill>
              <a:latin typeface="Lato"/>
              <a:ea typeface="Lato"/>
              <a:cs typeface="Lato"/>
              <a:sym typeface="Lato"/>
            </a:endParaRPr>
          </a:p>
        </p:txBody>
      </p:sp>
      <p:sp>
        <p:nvSpPr>
          <p:cNvPr id="276" name="Google Shape;276;p33"/>
          <p:cNvSpPr/>
          <p:nvPr/>
        </p:nvSpPr>
        <p:spPr>
          <a:xfrm>
            <a:off x="301752" y="6835734"/>
            <a:ext cx="8540400" cy="22200"/>
          </a:xfrm>
          <a:prstGeom prst="rect">
            <a:avLst/>
          </a:prstGeom>
          <a:solidFill>
            <a:srgbClr val="EEEEEE"/>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100" u="none" cap="none" strike="noStrike">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EEEE"/>
        </a:solidFill>
      </p:bgPr>
    </p:bg>
    <p:spTree>
      <p:nvGrpSpPr>
        <p:cNvPr id="280" name="Shape 280"/>
        <p:cNvGrpSpPr/>
        <p:nvPr/>
      </p:nvGrpSpPr>
      <p:grpSpPr>
        <a:xfrm>
          <a:off x="0" y="0"/>
          <a:ext cx="0" cy="0"/>
          <a:chOff x="0" y="0"/>
          <a:chExt cx="0" cy="0"/>
        </a:xfrm>
      </p:grpSpPr>
      <p:pic>
        <p:nvPicPr>
          <p:cNvPr id="281" name="Google Shape;281;p34"/>
          <p:cNvPicPr preferRelativeResize="0"/>
          <p:nvPr/>
        </p:nvPicPr>
        <p:blipFill>
          <a:blip r:embed="rId3">
            <a:alphaModFix/>
          </a:blip>
          <a:stretch>
            <a:fillRect/>
          </a:stretch>
        </p:blipFill>
        <p:spPr>
          <a:xfrm>
            <a:off x="711200" y="0"/>
            <a:ext cx="7721608" cy="6858000"/>
          </a:xfrm>
          <a:prstGeom prst="rect">
            <a:avLst/>
          </a:prstGeom>
          <a:noFill/>
          <a:ln>
            <a:noFill/>
          </a:ln>
        </p:spPr>
      </p:pic>
      <p:sp>
        <p:nvSpPr>
          <p:cNvPr id="282" name="Google Shape;282;p34"/>
          <p:cNvSpPr txBox="1"/>
          <p:nvPr/>
        </p:nvSpPr>
        <p:spPr>
          <a:xfrm>
            <a:off x="5905500" y="5940125"/>
            <a:ext cx="2251500" cy="649500"/>
          </a:xfrm>
          <a:prstGeom prst="rect">
            <a:avLst/>
          </a:prstGeom>
          <a:solidFill>
            <a:srgbClr val="D9EAD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800" u="sng">
                <a:solidFill>
                  <a:schemeClr val="hlink"/>
                </a:solidFill>
                <a:latin typeface="Lato"/>
                <a:ea typeface="Lato"/>
                <a:cs typeface="Lato"/>
                <a:sym typeface="Lato"/>
                <a:hlinkClick r:id="rId4"/>
              </a:rPr>
              <a:t>BetaNYC Boundaries Map</a:t>
            </a:r>
            <a:endParaRPr sz="1800">
              <a:solidFill>
                <a:schemeClr val="dk2"/>
              </a:solidFill>
              <a:latin typeface="Lato"/>
              <a:ea typeface="Lato"/>
              <a:cs typeface="Lato"/>
              <a:sym typeface="Lato"/>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6" name="Shape 286"/>
        <p:cNvGrpSpPr/>
        <p:nvPr/>
      </p:nvGrpSpPr>
      <p:grpSpPr>
        <a:xfrm>
          <a:off x="0" y="0"/>
          <a:ext cx="0" cy="0"/>
          <a:chOff x="0" y="0"/>
          <a:chExt cx="0" cy="0"/>
        </a:xfrm>
      </p:grpSpPr>
      <p:sp>
        <p:nvSpPr>
          <p:cNvPr id="287" name="Google Shape;287;p35"/>
          <p:cNvSpPr txBox="1"/>
          <p:nvPr/>
        </p:nvSpPr>
        <p:spPr>
          <a:xfrm>
            <a:off x="301752" y="182880"/>
            <a:ext cx="7772400" cy="430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 sz="2200" u="none" cap="none" strike="noStrike">
                <a:solidFill>
                  <a:srgbClr val="212121"/>
                </a:solidFill>
                <a:latin typeface="Lato"/>
                <a:ea typeface="Lato"/>
                <a:cs typeface="Lato"/>
                <a:sym typeface="Lato"/>
              </a:rPr>
              <a:t>How Community Boards Are Structured</a:t>
            </a:r>
            <a:endParaRPr/>
          </a:p>
        </p:txBody>
      </p:sp>
      <p:sp>
        <p:nvSpPr>
          <p:cNvPr id="288" name="Google Shape;288;p35"/>
          <p:cNvSpPr/>
          <p:nvPr/>
        </p:nvSpPr>
        <p:spPr>
          <a:xfrm>
            <a:off x="0" y="841248"/>
            <a:ext cx="9144000" cy="41100"/>
          </a:xfrm>
          <a:prstGeom prst="rect">
            <a:avLst/>
          </a:prstGeom>
          <a:solidFill>
            <a:srgbClr val="4285F4"/>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89" name="Google Shape;289;p35"/>
          <p:cNvSpPr txBox="1"/>
          <p:nvPr/>
        </p:nvSpPr>
        <p:spPr>
          <a:xfrm>
            <a:off x="301752" y="987550"/>
            <a:ext cx="4069200" cy="3693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 sz="1800" u="none" cap="none" strike="noStrike">
                <a:solidFill>
                  <a:srgbClr val="4285F4"/>
                </a:solidFill>
                <a:latin typeface="Lato"/>
                <a:ea typeface="Lato"/>
                <a:cs typeface="Lato"/>
                <a:sym typeface="Lato"/>
              </a:rPr>
              <a:t>Who’s on the board:</a:t>
            </a:r>
            <a:endParaRPr sz="1800"/>
          </a:p>
        </p:txBody>
      </p:sp>
      <p:sp>
        <p:nvSpPr>
          <p:cNvPr id="290" name="Google Shape;290;p35"/>
          <p:cNvSpPr txBox="1"/>
          <p:nvPr/>
        </p:nvSpPr>
        <p:spPr>
          <a:xfrm>
            <a:off x="301752" y="1453032"/>
            <a:ext cx="4069200" cy="1708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 sz="1800" u="none" cap="none" strike="noStrike">
                <a:solidFill>
                  <a:srgbClr val="304D80"/>
                </a:solidFill>
                <a:latin typeface="Lato"/>
                <a:ea typeface="Lato"/>
                <a:cs typeface="Lato"/>
                <a:sym typeface="Lato"/>
              </a:rPr>
              <a:t>·  Up to 50 volunteer members</a:t>
            </a:r>
            <a:endParaRPr sz="1800"/>
          </a:p>
          <a:p>
            <a:pPr indent="0" lvl="0" marL="0" marR="0" rtl="0" algn="l">
              <a:spcBef>
                <a:spcPts val="600"/>
              </a:spcBef>
              <a:spcAft>
                <a:spcPts val="0"/>
              </a:spcAft>
              <a:buNone/>
            </a:pPr>
            <a:r>
              <a:rPr b="0" i="0" lang="en" sz="1800" u="none" cap="none" strike="noStrike">
                <a:solidFill>
                  <a:srgbClr val="304D80"/>
                </a:solidFill>
                <a:latin typeface="Lato"/>
                <a:ea typeface="Lato"/>
                <a:cs typeface="Lato"/>
                <a:sym typeface="Lato"/>
              </a:rPr>
              <a:t>·  2-year terms (max 4 consecutive)</a:t>
            </a:r>
            <a:endParaRPr sz="1800"/>
          </a:p>
          <a:p>
            <a:pPr indent="0" lvl="0" marL="0" marR="0" rtl="0" algn="l">
              <a:spcBef>
                <a:spcPts val="600"/>
              </a:spcBef>
              <a:spcAft>
                <a:spcPts val="0"/>
              </a:spcAft>
              <a:buNone/>
            </a:pPr>
            <a:r>
              <a:rPr b="0" i="0" lang="en" sz="1800" u="none" cap="none" strike="noStrike">
                <a:solidFill>
                  <a:srgbClr val="304D80"/>
                </a:solidFill>
                <a:latin typeface="Lato"/>
                <a:ea typeface="Lato"/>
                <a:cs typeface="Lato"/>
                <a:sym typeface="Lato"/>
              </a:rPr>
              <a:t>·  </a:t>
            </a:r>
            <a:r>
              <a:rPr b="0" i="0" lang="en" sz="1800" u="none" cap="none" strike="noStrike">
                <a:solidFill>
                  <a:srgbClr val="304D80"/>
                </a:solidFill>
                <a:latin typeface="Lato"/>
                <a:ea typeface="Lato"/>
                <a:cs typeface="Lato"/>
                <a:sym typeface="Lato"/>
              </a:rPr>
              <a:t>No salary, no formal qualifications</a:t>
            </a:r>
            <a:endParaRPr sz="1800"/>
          </a:p>
          <a:p>
            <a:pPr indent="0" lvl="0" marL="0" marR="0" rtl="0" algn="l">
              <a:spcBef>
                <a:spcPts val="600"/>
              </a:spcBef>
              <a:spcAft>
                <a:spcPts val="0"/>
              </a:spcAft>
              <a:buNone/>
            </a:pPr>
            <a:r>
              <a:rPr b="0" i="0" lang="en" sz="1800" u="none" cap="none" strike="noStrike">
                <a:solidFill>
                  <a:srgbClr val="304D80"/>
                </a:solidFill>
                <a:latin typeface="Lato"/>
                <a:ea typeface="Lato"/>
                <a:cs typeface="Lato"/>
                <a:sym typeface="Lato"/>
              </a:rPr>
              <a:t>·  </a:t>
            </a:r>
            <a:r>
              <a:rPr b="0" i="0" lang="en" sz="1800" u="sng" cap="none" strike="noStrike">
                <a:solidFill>
                  <a:srgbClr val="304D80"/>
                </a:solidFill>
                <a:latin typeface="Lato"/>
                <a:ea typeface="Lato"/>
                <a:cs typeface="Lato"/>
                <a:sym typeface="Lato"/>
              </a:rPr>
              <a:t>Only requirement:</a:t>
            </a:r>
            <a:r>
              <a:rPr b="0" i="0" lang="en" sz="1800" u="none" cap="none" strike="noStrike">
                <a:solidFill>
                  <a:srgbClr val="304D80"/>
                </a:solidFill>
                <a:latin typeface="Lato"/>
                <a:ea typeface="Lato"/>
                <a:cs typeface="Lato"/>
                <a:sym typeface="Lato"/>
              </a:rPr>
              <a:t> Must live, work, or have significant</a:t>
            </a:r>
            <a:r>
              <a:rPr lang="en" sz="1800">
                <a:solidFill>
                  <a:srgbClr val="304D80"/>
                </a:solidFill>
                <a:latin typeface="Lato"/>
                <a:ea typeface="Lato"/>
                <a:cs typeface="Lato"/>
                <a:sym typeface="Lato"/>
              </a:rPr>
              <a:t> </a:t>
            </a:r>
            <a:r>
              <a:rPr b="0" i="0" lang="en" sz="1800" u="none" cap="none" strike="noStrike">
                <a:solidFill>
                  <a:srgbClr val="304D80"/>
                </a:solidFill>
                <a:latin typeface="Lato"/>
                <a:ea typeface="Lato"/>
                <a:cs typeface="Lato"/>
                <a:sym typeface="Lato"/>
              </a:rPr>
              <a:t>interest in the district</a:t>
            </a:r>
            <a:endParaRPr sz="1800"/>
          </a:p>
        </p:txBody>
      </p:sp>
      <p:pic>
        <p:nvPicPr>
          <p:cNvPr id="291" name="Google Shape;291;p35"/>
          <p:cNvPicPr preferRelativeResize="0"/>
          <p:nvPr/>
        </p:nvPicPr>
        <p:blipFill rotWithShape="1">
          <a:blip r:embed="rId3">
            <a:alphaModFix/>
          </a:blip>
          <a:srcRect b="0" l="0" r="0" t="16220"/>
          <a:stretch/>
        </p:blipFill>
        <p:spPr>
          <a:xfrm>
            <a:off x="4370950" y="1669225"/>
            <a:ext cx="4773051" cy="3998725"/>
          </a:xfrm>
          <a:prstGeom prst="rect">
            <a:avLst/>
          </a:prstGeom>
          <a:noFill/>
          <a:ln>
            <a:noFill/>
          </a:ln>
        </p:spPr>
      </p:pic>
      <p:sp>
        <p:nvSpPr>
          <p:cNvPr id="292" name="Google Shape;292;p35"/>
          <p:cNvSpPr txBox="1"/>
          <p:nvPr/>
        </p:nvSpPr>
        <p:spPr>
          <a:xfrm>
            <a:off x="301750" y="3102251"/>
            <a:ext cx="4069200" cy="3693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 sz="1800" u="none" cap="none" strike="noStrike">
                <a:solidFill>
                  <a:srgbClr val="4285F4"/>
                </a:solidFill>
                <a:latin typeface="Lato"/>
                <a:ea typeface="Lato"/>
                <a:cs typeface="Lato"/>
                <a:sym typeface="Lato"/>
              </a:rPr>
              <a:t>Leadership &amp; staff:</a:t>
            </a:r>
            <a:endParaRPr sz="1800"/>
          </a:p>
        </p:txBody>
      </p:sp>
      <p:sp>
        <p:nvSpPr>
          <p:cNvPr id="293" name="Google Shape;293;p35"/>
          <p:cNvSpPr txBox="1"/>
          <p:nvPr/>
        </p:nvSpPr>
        <p:spPr>
          <a:xfrm>
            <a:off x="301750" y="3567733"/>
            <a:ext cx="4069200" cy="29451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 sz="1800" u="none" cap="none" strike="noStrike">
                <a:solidFill>
                  <a:srgbClr val="304D80"/>
                </a:solidFill>
                <a:latin typeface="Lato"/>
                <a:ea typeface="Lato"/>
                <a:cs typeface="Lato"/>
                <a:sym typeface="Lato"/>
              </a:rPr>
              <a:t>·  Chair, Vice-Chairs, Secretary,</a:t>
            </a:r>
            <a:br>
              <a:rPr b="0" i="0" lang="en" sz="1800" u="none" cap="none" strike="noStrike">
                <a:solidFill>
                  <a:srgbClr val="304D80"/>
                </a:solidFill>
                <a:latin typeface="Lato"/>
                <a:ea typeface="Lato"/>
                <a:cs typeface="Lato"/>
                <a:sym typeface="Lato"/>
              </a:rPr>
            </a:br>
            <a:r>
              <a:rPr b="0" i="0" lang="en" sz="1800" u="none" cap="none" strike="noStrike">
                <a:solidFill>
                  <a:srgbClr val="304D80"/>
                </a:solidFill>
                <a:latin typeface="Lato"/>
                <a:ea typeface="Lato"/>
                <a:cs typeface="Lato"/>
                <a:sym typeface="Lato"/>
              </a:rPr>
              <a:t>      Treasurer (elected by members)</a:t>
            </a:r>
            <a:endParaRPr sz="1800"/>
          </a:p>
          <a:p>
            <a:pPr indent="0" lvl="0" marL="0" marR="0" rtl="0" algn="l">
              <a:spcBef>
                <a:spcPts val="600"/>
              </a:spcBef>
              <a:spcAft>
                <a:spcPts val="0"/>
              </a:spcAft>
              <a:buNone/>
            </a:pPr>
            <a:r>
              <a:rPr b="0" i="0" lang="en" sz="1800" u="none" cap="none" strike="noStrike">
                <a:solidFill>
                  <a:srgbClr val="304D80"/>
                </a:solidFill>
                <a:latin typeface="Lato"/>
                <a:ea typeface="Lato"/>
                <a:cs typeface="Lato"/>
                <a:sym typeface="Lato"/>
              </a:rPr>
              <a:t>·  One paid District Manager, optional additional non-member staff</a:t>
            </a:r>
            <a:endParaRPr sz="1800"/>
          </a:p>
          <a:p>
            <a:pPr indent="0" lvl="0" marL="0" rtl="0" algn="l">
              <a:spcBef>
                <a:spcPts val="0"/>
              </a:spcBef>
              <a:spcAft>
                <a:spcPts val="0"/>
              </a:spcAft>
              <a:buNone/>
            </a:pPr>
            <a:r>
              <a:t/>
            </a:r>
            <a:endParaRPr b="1" sz="1800">
              <a:solidFill>
                <a:srgbClr val="4285F4"/>
              </a:solidFill>
              <a:latin typeface="Lato"/>
              <a:ea typeface="Lato"/>
              <a:cs typeface="Lato"/>
              <a:sym typeface="Lato"/>
            </a:endParaRPr>
          </a:p>
          <a:p>
            <a:pPr indent="0" lvl="0" marL="0" rtl="0" algn="l">
              <a:spcBef>
                <a:spcPts val="0"/>
              </a:spcBef>
              <a:spcAft>
                <a:spcPts val="0"/>
              </a:spcAft>
              <a:buNone/>
            </a:pPr>
            <a:r>
              <a:rPr b="1" lang="en" sz="1800">
                <a:solidFill>
                  <a:srgbClr val="4285F4"/>
                </a:solidFill>
                <a:latin typeface="Lato"/>
                <a:ea typeface="Lato"/>
                <a:cs typeface="Lato"/>
                <a:sym typeface="Lato"/>
              </a:rPr>
              <a:t>Subject-matter Committees:</a:t>
            </a:r>
            <a:endParaRPr b="1" sz="1800">
              <a:solidFill>
                <a:srgbClr val="4285F4"/>
              </a:solidFill>
              <a:latin typeface="Lato"/>
              <a:ea typeface="Lato"/>
              <a:cs typeface="Lato"/>
              <a:sym typeface="Lato"/>
            </a:endParaRPr>
          </a:p>
          <a:p>
            <a:pPr indent="0" lvl="0" marL="0" marR="0" rtl="0" algn="l">
              <a:spcBef>
                <a:spcPts val="1000"/>
              </a:spcBef>
              <a:spcAft>
                <a:spcPts val="0"/>
              </a:spcAft>
              <a:buNone/>
            </a:pPr>
            <a:r>
              <a:rPr b="0" i="0" lang="en" sz="1800" u="none" cap="none" strike="noStrike">
                <a:solidFill>
                  <a:srgbClr val="304D80"/>
                </a:solidFill>
                <a:latin typeface="Lato"/>
                <a:ea typeface="Lato"/>
                <a:cs typeface="Lato"/>
                <a:sym typeface="Lato"/>
              </a:rPr>
              <a:t>·  Transportation  ·  Parks  ·  SLA</a:t>
            </a:r>
            <a:endParaRPr sz="1800"/>
          </a:p>
          <a:p>
            <a:pPr indent="0" lvl="0" marL="0" marR="0" rtl="0" algn="l">
              <a:spcBef>
                <a:spcPts val="600"/>
              </a:spcBef>
              <a:spcAft>
                <a:spcPts val="0"/>
              </a:spcAft>
              <a:buNone/>
            </a:pPr>
            <a:r>
              <a:rPr b="0" i="0" lang="en" sz="1800" u="none" cap="none" strike="noStrike">
                <a:solidFill>
                  <a:srgbClr val="304D80"/>
                </a:solidFill>
                <a:latin typeface="Lato"/>
                <a:ea typeface="Lato"/>
                <a:cs typeface="Lato"/>
                <a:sym typeface="Lato"/>
              </a:rPr>
              <a:t>·  Land Use  ·  Landmarks  ·  Housing</a:t>
            </a:r>
            <a:endParaRPr sz="1800"/>
          </a:p>
          <a:p>
            <a:pPr indent="0" lvl="0" marL="0" marR="0" rtl="0" algn="l">
              <a:spcBef>
                <a:spcPts val="600"/>
              </a:spcBef>
              <a:spcAft>
                <a:spcPts val="0"/>
              </a:spcAft>
              <a:buNone/>
            </a:pPr>
            <a:r>
              <a:rPr b="0" i="0" lang="en" sz="1800" u="none" cap="none" strike="noStrike">
                <a:solidFill>
                  <a:srgbClr val="304D80"/>
                </a:solidFill>
                <a:latin typeface="Lato"/>
                <a:ea typeface="Lato"/>
                <a:cs typeface="Lato"/>
                <a:sym typeface="Lato"/>
              </a:rPr>
              <a:t>·  Health  ·  Youth &amp; Education</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97" name="Shape 297"/>
        <p:cNvGrpSpPr/>
        <p:nvPr/>
      </p:nvGrpSpPr>
      <p:grpSpPr>
        <a:xfrm>
          <a:off x="0" y="0"/>
          <a:ext cx="0" cy="0"/>
          <a:chOff x="0" y="0"/>
          <a:chExt cx="0" cy="0"/>
        </a:xfrm>
      </p:grpSpPr>
      <p:sp>
        <p:nvSpPr>
          <p:cNvPr id="298" name="Google Shape;298;p36"/>
          <p:cNvSpPr txBox="1"/>
          <p:nvPr/>
        </p:nvSpPr>
        <p:spPr>
          <a:xfrm>
            <a:off x="301752" y="182880"/>
            <a:ext cx="7772400" cy="477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 sz="2500" u="none" cap="none" strike="noStrike">
                <a:solidFill>
                  <a:srgbClr val="212121"/>
                </a:solidFill>
                <a:latin typeface="Lato"/>
                <a:ea typeface="Lato"/>
                <a:cs typeface="Lato"/>
                <a:sym typeface="Lato"/>
              </a:rPr>
              <a:t>What Is a Resolution?</a:t>
            </a:r>
            <a:endParaRPr sz="1700"/>
          </a:p>
        </p:txBody>
      </p:sp>
      <p:sp>
        <p:nvSpPr>
          <p:cNvPr id="299" name="Google Shape;299;p36"/>
          <p:cNvSpPr/>
          <p:nvPr/>
        </p:nvSpPr>
        <p:spPr>
          <a:xfrm>
            <a:off x="0" y="841248"/>
            <a:ext cx="9144000" cy="41100"/>
          </a:xfrm>
          <a:prstGeom prst="rect">
            <a:avLst/>
          </a:prstGeom>
          <a:solidFill>
            <a:srgbClr val="4285F4"/>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100" u="none" cap="none" strike="noStrike">
              <a:solidFill>
                <a:schemeClr val="dk1"/>
              </a:solidFill>
              <a:latin typeface="Calibri"/>
              <a:ea typeface="Calibri"/>
              <a:cs typeface="Calibri"/>
              <a:sym typeface="Calibri"/>
            </a:endParaRPr>
          </a:p>
        </p:txBody>
      </p:sp>
      <p:sp>
        <p:nvSpPr>
          <p:cNvPr id="300" name="Google Shape;300;p36"/>
          <p:cNvSpPr txBox="1"/>
          <p:nvPr/>
        </p:nvSpPr>
        <p:spPr>
          <a:xfrm>
            <a:off x="301750" y="987549"/>
            <a:ext cx="8540400" cy="3693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 sz="1800" u="none" cap="none" strike="noStrike">
                <a:solidFill>
                  <a:srgbClr val="304D80"/>
                </a:solidFill>
                <a:latin typeface="Lato"/>
                <a:ea typeface="Lato"/>
                <a:cs typeface="Lato"/>
                <a:sym typeface="Lato"/>
              </a:rPr>
              <a:t>Resolutions are official, written, public positions on a local issue.</a:t>
            </a:r>
            <a:endParaRPr sz="1800"/>
          </a:p>
        </p:txBody>
      </p:sp>
      <p:sp>
        <p:nvSpPr>
          <p:cNvPr id="301" name="Google Shape;301;p36"/>
          <p:cNvSpPr/>
          <p:nvPr/>
        </p:nvSpPr>
        <p:spPr>
          <a:xfrm>
            <a:off x="301750" y="1620081"/>
            <a:ext cx="4983600" cy="4805100"/>
          </a:xfrm>
          <a:prstGeom prst="rect">
            <a:avLst/>
          </a:prstGeom>
          <a:solidFill>
            <a:srgbClr val="F5F5F5"/>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100" u="none" cap="none" strike="noStrike">
              <a:solidFill>
                <a:schemeClr val="dk1"/>
              </a:solidFill>
              <a:latin typeface="Calibri"/>
              <a:ea typeface="Calibri"/>
              <a:cs typeface="Calibri"/>
              <a:sym typeface="Calibri"/>
            </a:endParaRPr>
          </a:p>
        </p:txBody>
      </p:sp>
      <p:sp>
        <p:nvSpPr>
          <p:cNvPr id="302" name="Google Shape;302;p36"/>
          <p:cNvSpPr txBox="1"/>
          <p:nvPr/>
        </p:nvSpPr>
        <p:spPr>
          <a:xfrm>
            <a:off x="484630" y="1766050"/>
            <a:ext cx="4663500" cy="354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 sz="1700" u="none" cap="none" strike="noStrike">
                <a:solidFill>
                  <a:schemeClr val="dk1"/>
                </a:solidFill>
                <a:latin typeface="Lato"/>
                <a:ea typeface="Lato"/>
                <a:cs typeface="Lato"/>
                <a:sym typeface="Lato"/>
              </a:rPr>
              <a:t>Standard resolution format:</a:t>
            </a:r>
            <a:endParaRPr sz="2000">
              <a:solidFill>
                <a:schemeClr val="dk1"/>
              </a:solidFill>
            </a:endParaRPr>
          </a:p>
        </p:txBody>
      </p:sp>
      <p:sp>
        <p:nvSpPr>
          <p:cNvPr id="303" name="Google Shape;303;p36"/>
          <p:cNvSpPr txBox="1"/>
          <p:nvPr/>
        </p:nvSpPr>
        <p:spPr>
          <a:xfrm>
            <a:off x="484630" y="2252613"/>
            <a:ext cx="4663500" cy="2475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 sz="1600" u="none" cap="none" strike="noStrike">
                <a:solidFill>
                  <a:srgbClr val="4285F4"/>
                </a:solidFill>
                <a:latin typeface="Roboto Mono"/>
                <a:ea typeface="Roboto Mono"/>
                <a:cs typeface="Roboto Mono"/>
                <a:sym typeface="Roboto Mono"/>
              </a:rPr>
              <a:t>TITLE:      One-sentence summary</a:t>
            </a:r>
            <a:endParaRPr sz="1800"/>
          </a:p>
          <a:p>
            <a:pPr indent="0" lvl="0" marL="0" marR="0" rtl="0" algn="l">
              <a:spcBef>
                <a:spcPts val="0"/>
              </a:spcBef>
              <a:spcAft>
                <a:spcPts val="0"/>
              </a:spcAft>
              <a:buNone/>
            </a:pPr>
            <a:r>
              <a:t/>
            </a:r>
            <a:endParaRPr b="1" sz="1600">
              <a:solidFill>
                <a:srgbClr val="4285F4"/>
              </a:solidFill>
              <a:latin typeface="Roboto Mono"/>
              <a:ea typeface="Roboto Mono"/>
              <a:cs typeface="Roboto Mono"/>
              <a:sym typeface="Roboto Mono"/>
            </a:endParaRPr>
          </a:p>
          <a:p>
            <a:pPr indent="0" lvl="0" marL="0" marR="0" rtl="0" algn="l">
              <a:spcBef>
                <a:spcPts val="0"/>
              </a:spcBef>
              <a:spcAft>
                <a:spcPts val="0"/>
              </a:spcAft>
              <a:buNone/>
            </a:pPr>
            <a:r>
              <a:t/>
            </a:r>
            <a:endParaRPr b="1" sz="1600">
              <a:solidFill>
                <a:srgbClr val="4285F4"/>
              </a:solidFill>
              <a:latin typeface="Roboto Mono"/>
              <a:ea typeface="Roboto Mono"/>
              <a:cs typeface="Roboto Mono"/>
              <a:sym typeface="Roboto Mono"/>
            </a:endParaRPr>
          </a:p>
          <a:p>
            <a:pPr indent="0" lvl="0" marL="0" marR="0" rtl="0" algn="l">
              <a:spcBef>
                <a:spcPts val="400"/>
              </a:spcBef>
              <a:spcAft>
                <a:spcPts val="0"/>
              </a:spcAft>
              <a:buNone/>
            </a:pPr>
            <a:r>
              <a:rPr b="0" i="0" lang="en" sz="1600" u="none" cap="none" strike="noStrike">
                <a:solidFill>
                  <a:srgbClr val="212121"/>
                </a:solidFill>
                <a:latin typeface="Roboto Mono"/>
                <a:ea typeface="Roboto Mono"/>
                <a:cs typeface="Roboto Mono"/>
                <a:sym typeface="Roboto Mono"/>
              </a:rPr>
              <a:t>WHEREAS,  [context and reasoning]...</a:t>
            </a:r>
            <a:endParaRPr sz="1800"/>
          </a:p>
          <a:p>
            <a:pPr indent="0" lvl="0" marL="0" marR="0" rtl="0" algn="l">
              <a:spcBef>
                <a:spcPts val="300"/>
              </a:spcBef>
              <a:spcAft>
                <a:spcPts val="0"/>
              </a:spcAft>
              <a:buNone/>
            </a:pPr>
            <a:r>
              <a:rPr b="0" i="0" lang="en" sz="1600" u="none" cap="none" strike="noStrike">
                <a:solidFill>
                  <a:srgbClr val="212121"/>
                </a:solidFill>
                <a:latin typeface="Roboto Mono"/>
                <a:ea typeface="Roboto Mono"/>
                <a:cs typeface="Roboto Mono"/>
                <a:sym typeface="Roboto Mono"/>
              </a:rPr>
              <a:t>WHEREAS,  [additional context]...</a:t>
            </a:r>
            <a:endParaRPr sz="1800"/>
          </a:p>
          <a:p>
            <a:pPr indent="0" lvl="0" marL="0" marR="0" rtl="0" algn="l">
              <a:spcBef>
                <a:spcPts val="0"/>
              </a:spcBef>
              <a:spcAft>
                <a:spcPts val="0"/>
              </a:spcAft>
              <a:buNone/>
            </a:pPr>
            <a:r>
              <a:t/>
            </a:r>
            <a:endParaRPr sz="1600">
              <a:solidFill>
                <a:srgbClr val="212121"/>
              </a:solidFill>
              <a:latin typeface="Roboto Mono"/>
              <a:ea typeface="Roboto Mono"/>
              <a:cs typeface="Roboto Mono"/>
              <a:sym typeface="Roboto Mono"/>
            </a:endParaRPr>
          </a:p>
          <a:p>
            <a:pPr indent="0" lvl="0" marL="0" marR="0" rtl="0" algn="l">
              <a:spcBef>
                <a:spcPts val="0"/>
              </a:spcBef>
              <a:spcAft>
                <a:spcPts val="0"/>
              </a:spcAft>
              <a:buNone/>
            </a:pPr>
            <a:r>
              <a:t/>
            </a:r>
            <a:endParaRPr sz="1600">
              <a:solidFill>
                <a:srgbClr val="212121"/>
              </a:solidFill>
              <a:latin typeface="Roboto Mono"/>
              <a:ea typeface="Roboto Mono"/>
              <a:cs typeface="Roboto Mono"/>
              <a:sym typeface="Roboto Mono"/>
            </a:endParaRPr>
          </a:p>
          <a:p>
            <a:pPr indent="0" lvl="0" marL="0" marR="0" rtl="0" algn="l">
              <a:spcBef>
                <a:spcPts val="600"/>
              </a:spcBef>
              <a:spcAft>
                <a:spcPts val="0"/>
              </a:spcAft>
              <a:buNone/>
            </a:pPr>
            <a:r>
              <a:rPr b="1" i="0" lang="en" sz="1600" u="none" cap="none" strike="noStrike">
                <a:solidFill>
                  <a:srgbClr val="7C3AED"/>
                </a:solidFill>
                <a:latin typeface="Roboto Mono"/>
                <a:ea typeface="Roboto Mono"/>
                <a:cs typeface="Roboto Mono"/>
                <a:sym typeface="Roboto Mono"/>
              </a:rPr>
              <a:t>THEREFORE, BE IT RESOLVED,</a:t>
            </a:r>
            <a:endParaRPr sz="1800"/>
          </a:p>
          <a:p>
            <a:pPr indent="0" lvl="0" marL="0" marR="0" rtl="0" algn="l">
              <a:spcBef>
                <a:spcPts val="0"/>
              </a:spcBef>
              <a:spcAft>
                <a:spcPts val="0"/>
              </a:spcAft>
              <a:buNone/>
            </a:pPr>
            <a:r>
              <a:rPr b="0" i="0" lang="en" sz="1600" u="none" cap="none" strike="noStrike">
                <a:solidFill>
                  <a:srgbClr val="7C3AED"/>
                </a:solidFill>
                <a:latin typeface="Roboto Mono"/>
                <a:ea typeface="Roboto Mono"/>
                <a:cs typeface="Roboto Mono"/>
                <a:sym typeface="Roboto Mono"/>
              </a:rPr>
              <a:t>  that Community Board 3 [action]...</a:t>
            </a:r>
            <a:endParaRPr sz="1800"/>
          </a:p>
        </p:txBody>
      </p:sp>
      <p:sp>
        <p:nvSpPr>
          <p:cNvPr id="304" name="Google Shape;304;p36"/>
          <p:cNvSpPr txBox="1"/>
          <p:nvPr/>
        </p:nvSpPr>
        <p:spPr>
          <a:xfrm>
            <a:off x="5532122" y="1620081"/>
            <a:ext cx="3337500" cy="3849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 sz="1900" u="none" cap="none" strike="noStrike">
                <a:solidFill>
                  <a:srgbClr val="4285F4"/>
                </a:solidFill>
                <a:latin typeface="Lato"/>
                <a:ea typeface="Lato"/>
                <a:cs typeface="Lato"/>
                <a:sym typeface="Lato"/>
              </a:rPr>
              <a:t>MCB3 votes on:</a:t>
            </a:r>
            <a:endParaRPr sz="1900"/>
          </a:p>
        </p:txBody>
      </p:sp>
      <p:sp>
        <p:nvSpPr>
          <p:cNvPr id="305" name="Google Shape;305;p36"/>
          <p:cNvSpPr txBox="1"/>
          <p:nvPr/>
        </p:nvSpPr>
        <p:spPr>
          <a:xfrm>
            <a:off x="5532122" y="2203957"/>
            <a:ext cx="3337500" cy="23397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 sz="1800" u="none" cap="none" strike="noStrike">
                <a:solidFill>
                  <a:srgbClr val="304D80"/>
                </a:solidFill>
                <a:latin typeface="Lato"/>
                <a:ea typeface="Lato"/>
                <a:cs typeface="Lato"/>
                <a:sym typeface="Lato"/>
              </a:rPr>
              <a:t>·  Bar &amp; restaurant liquor licenses</a:t>
            </a:r>
            <a:endParaRPr sz="1900"/>
          </a:p>
          <a:p>
            <a:pPr indent="0" lvl="0" marL="0" marR="0" rtl="0" algn="l">
              <a:spcBef>
                <a:spcPts val="600"/>
              </a:spcBef>
              <a:spcAft>
                <a:spcPts val="0"/>
              </a:spcAft>
              <a:buNone/>
            </a:pPr>
            <a:r>
              <a:rPr b="0" i="0" lang="en" sz="1800" u="none" cap="none" strike="noStrike">
                <a:solidFill>
                  <a:srgbClr val="304D80"/>
                </a:solidFill>
                <a:latin typeface="Lato"/>
                <a:ea typeface="Lato"/>
                <a:cs typeface="Lato"/>
                <a:sym typeface="Lato"/>
              </a:rPr>
              <a:t>·  Traffic safety improvements</a:t>
            </a:r>
            <a:endParaRPr sz="1900"/>
          </a:p>
          <a:p>
            <a:pPr indent="0" lvl="0" marL="0" marR="0" rtl="0" algn="l">
              <a:spcBef>
                <a:spcPts val="600"/>
              </a:spcBef>
              <a:spcAft>
                <a:spcPts val="0"/>
              </a:spcAft>
              <a:buNone/>
            </a:pPr>
            <a:r>
              <a:rPr b="0" i="0" lang="en" sz="1800" u="none" cap="none" strike="noStrike">
                <a:solidFill>
                  <a:srgbClr val="304D80"/>
                </a:solidFill>
                <a:latin typeface="Lato"/>
                <a:ea typeface="Lato"/>
                <a:cs typeface="Lato"/>
                <a:sym typeface="Lato"/>
              </a:rPr>
              <a:t>·  Real estate developments</a:t>
            </a:r>
            <a:endParaRPr sz="1900"/>
          </a:p>
          <a:p>
            <a:pPr indent="0" lvl="0" marL="0" marR="0" rtl="0" algn="l">
              <a:spcBef>
                <a:spcPts val="600"/>
              </a:spcBef>
              <a:spcAft>
                <a:spcPts val="0"/>
              </a:spcAft>
              <a:buNone/>
            </a:pPr>
            <a:r>
              <a:rPr b="0" i="0" lang="en" sz="1800" u="none" cap="none" strike="noStrike">
                <a:solidFill>
                  <a:srgbClr val="304D80"/>
                </a:solidFill>
                <a:latin typeface="Lato"/>
                <a:ea typeface="Lato"/>
                <a:cs typeface="Lato"/>
                <a:sym typeface="Lato"/>
              </a:rPr>
              <a:t>·  City agency requests</a:t>
            </a:r>
            <a:br>
              <a:rPr b="0" i="0" lang="en" sz="1800" u="none" cap="none" strike="noStrike">
                <a:solidFill>
                  <a:srgbClr val="304D80"/>
                </a:solidFill>
                <a:latin typeface="Lato"/>
                <a:ea typeface="Lato"/>
                <a:cs typeface="Lato"/>
                <a:sym typeface="Lato"/>
              </a:rPr>
            </a:br>
            <a:r>
              <a:rPr b="0" i="0" lang="en" sz="1800" u="none" cap="none" strike="noStrike">
                <a:solidFill>
                  <a:srgbClr val="304D80"/>
                </a:solidFill>
                <a:latin typeface="Lato"/>
                <a:ea typeface="Lato"/>
                <a:cs typeface="Lato"/>
                <a:sym typeface="Lato"/>
              </a:rPr>
              <a:t>      (repaving, tree planting…)</a:t>
            </a:r>
            <a:endParaRPr sz="1900"/>
          </a:p>
          <a:p>
            <a:pPr indent="0" lvl="0" marL="0" marR="0" rtl="0" algn="l">
              <a:spcBef>
                <a:spcPts val="600"/>
              </a:spcBef>
              <a:spcAft>
                <a:spcPts val="0"/>
              </a:spcAft>
              <a:buNone/>
            </a:pPr>
            <a:r>
              <a:rPr b="0" i="0" lang="en" sz="1800" u="none" cap="none" strike="noStrike">
                <a:solidFill>
                  <a:srgbClr val="304D80"/>
                </a:solidFill>
                <a:latin typeface="Lato"/>
                <a:ea typeface="Lato"/>
                <a:cs typeface="Lato"/>
                <a:sym typeface="Lato"/>
              </a:rPr>
              <a:t>·  City-wide policy positions</a:t>
            </a:r>
            <a:endParaRPr sz="19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pic>
        <p:nvPicPr>
          <p:cNvPr id="310" name="Google Shape;310;p37"/>
          <p:cNvPicPr preferRelativeResize="0"/>
          <p:nvPr/>
        </p:nvPicPr>
        <p:blipFill>
          <a:blip r:embed="rId3">
            <a:alphaModFix/>
          </a:blip>
          <a:stretch>
            <a:fillRect/>
          </a:stretch>
        </p:blipFill>
        <p:spPr>
          <a:xfrm>
            <a:off x="152400" y="152400"/>
            <a:ext cx="8839199" cy="4567995"/>
          </a:xfrm>
          <a:prstGeom prst="rect">
            <a:avLst/>
          </a:prstGeom>
          <a:noFill/>
          <a:ln>
            <a:noFill/>
          </a:ln>
        </p:spPr>
      </p:pic>
      <p:sp>
        <p:nvSpPr>
          <p:cNvPr id="311" name="Google Shape;311;p37"/>
          <p:cNvSpPr txBox="1"/>
          <p:nvPr/>
        </p:nvSpPr>
        <p:spPr>
          <a:xfrm>
            <a:off x="1117025" y="5091550"/>
            <a:ext cx="6606900" cy="1536900"/>
          </a:xfrm>
          <a:prstGeom prst="rect">
            <a:avLst/>
          </a:prstGeom>
          <a:noFill/>
          <a:ln cap="flat" cmpd="sng" w="9525">
            <a:solidFill>
              <a:srgbClr val="ED315D"/>
            </a:solidFill>
            <a:prstDash val="dash"/>
            <a:round/>
            <a:headEnd len="sm" w="sm" type="none"/>
            <a:tailEnd len="sm" w="sm" type="none"/>
          </a:ln>
        </p:spPr>
        <p:txBody>
          <a:bodyPr anchorCtr="0" anchor="t" bIns="91425" lIns="91425" spcFirstLastPara="1" rIns="91425" wrap="square" tIns="91425">
            <a:noAutofit/>
          </a:bodyPr>
          <a:lstStyle/>
          <a:p>
            <a:pPr indent="0" lvl="0" marL="0" rtl="0" algn="l">
              <a:lnSpc>
                <a:spcPct val="115000"/>
              </a:lnSpc>
              <a:spcBef>
                <a:spcPts val="2400"/>
              </a:spcBef>
              <a:spcAft>
                <a:spcPts val="2400"/>
              </a:spcAft>
              <a:buNone/>
            </a:pPr>
            <a:r>
              <a:rPr lang="en" sz="1850">
                <a:solidFill>
                  <a:schemeClr val="dk1"/>
                </a:solidFill>
                <a:highlight>
                  <a:srgbClr val="FFFFFF"/>
                </a:highlight>
                <a:latin typeface="Lato Light"/>
                <a:ea typeface="Lato Light"/>
                <a:cs typeface="Lato Light"/>
                <a:sym typeface="Lato Light"/>
              </a:rPr>
              <a:t>Partial text of a Manhattan CB3 resolution from the Transportation Committee. Note the succinct title and series of WHEREAS clauses (which continue past the end of this image). [</a:t>
            </a:r>
            <a:r>
              <a:rPr lang="en" sz="1850" u="sng">
                <a:solidFill>
                  <a:schemeClr val="dk1"/>
                </a:solidFill>
                <a:highlight>
                  <a:srgbClr val="FFFFFF"/>
                </a:highlight>
                <a:latin typeface="Lato Light"/>
                <a:ea typeface="Lato Light"/>
                <a:cs typeface="Lato Light"/>
                <a:sym typeface="Lato Light"/>
                <a:hlinkClick r:id="rId4">
                  <a:extLst>
                    <a:ext uri="{A12FA001-AC4F-418D-AE19-62706E023703}">
                      <ahyp:hlinkClr val="tx"/>
                    </a:ext>
                  </a:extLst>
                </a:hlinkClick>
              </a:rPr>
              <a:t>source</a:t>
            </a:r>
            <a:r>
              <a:rPr lang="en" sz="1850">
                <a:solidFill>
                  <a:schemeClr val="dk1"/>
                </a:solidFill>
                <a:highlight>
                  <a:srgbClr val="FFFFFF"/>
                </a:highlight>
                <a:latin typeface="Lato Light"/>
                <a:ea typeface="Lato Light"/>
                <a:cs typeface="Lato Light"/>
                <a:sym typeface="Lato Light"/>
              </a:rPr>
              <a:t>]</a:t>
            </a:r>
            <a:endParaRPr sz="2600">
              <a:solidFill>
                <a:schemeClr val="dk1"/>
              </a:solidFill>
              <a:latin typeface="Lato Light"/>
              <a:ea typeface="Lato Light"/>
              <a:cs typeface="Lato Light"/>
              <a:sym typeface="Lato Light"/>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5" name="Shape 315"/>
        <p:cNvGrpSpPr/>
        <p:nvPr/>
      </p:nvGrpSpPr>
      <p:grpSpPr>
        <a:xfrm>
          <a:off x="0" y="0"/>
          <a:ext cx="0" cy="0"/>
          <a:chOff x="0" y="0"/>
          <a:chExt cx="0" cy="0"/>
        </a:xfrm>
      </p:grpSpPr>
      <p:sp>
        <p:nvSpPr>
          <p:cNvPr id="316" name="Google Shape;316;p38"/>
          <p:cNvSpPr txBox="1"/>
          <p:nvPr/>
        </p:nvSpPr>
        <p:spPr>
          <a:xfrm>
            <a:off x="301752" y="182880"/>
            <a:ext cx="7772400" cy="430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 sz="2200" u="none" cap="none" strike="noStrike">
                <a:solidFill>
                  <a:srgbClr val="212121"/>
                </a:solidFill>
                <a:latin typeface="Lato"/>
                <a:ea typeface="Lato"/>
                <a:cs typeface="Lato"/>
                <a:sym typeface="Lato"/>
              </a:rPr>
              <a:t>Two Kinds of Community Boar</a:t>
            </a:r>
            <a:r>
              <a:rPr b="1" lang="en" sz="2200">
                <a:solidFill>
                  <a:srgbClr val="212121"/>
                </a:solidFill>
                <a:latin typeface="Lato"/>
                <a:ea typeface="Lato"/>
                <a:cs typeface="Lato"/>
                <a:sym typeface="Lato"/>
              </a:rPr>
              <a:t>d </a:t>
            </a:r>
            <a:r>
              <a:rPr b="1" i="0" lang="en" sz="2200" u="none" cap="none" strike="noStrike">
                <a:solidFill>
                  <a:srgbClr val="212121"/>
                </a:solidFill>
                <a:latin typeface="Lato"/>
                <a:ea typeface="Lato"/>
                <a:cs typeface="Lato"/>
                <a:sym typeface="Lato"/>
              </a:rPr>
              <a:t>Meetings</a:t>
            </a:r>
            <a:endParaRPr/>
          </a:p>
        </p:txBody>
      </p:sp>
      <p:sp>
        <p:nvSpPr>
          <p:cNvPr id="317" name="Google Shape;317;p38"/>
          <p:cNvSpPr/>
          <p:nvPr/>
        </p:nvSpPr>
        <p:spPr>
          <a:xfrm>
            <a:off x="0" y="841248"/>
            <a:ext cx="9144000" cy="41100"/>
          </a:xfrm>
          <a:prstGeom prst="rect">
            <a:avLst/>
          </a:prstGeom>
          <a:solidFill>
            <a:srgbClr val="4285F4"/>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18" name="Google Shape;318;p38"/>
          <p:cNvSpPr/>
          <p:nvPr/>
        </p:nvSpPr>
        <p:spPr>
          <a:xfrm>
            <a:off x="4772952" y="1053890"/>
            <a:ext cx="4069200" cy="4617600"/>
          </a:xfrm>
          <a:prstGeom prst="rect">
            <a:avLst/>
          </a:prstGeom>
          <a:solidFill>
            <a:srgbClr val="E8F0FE"/>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19" name="Google Shape;319;p38"/>
          <p:cNvSpPr/>
          <p:nvPr/>
        </p:nvSpPr>
        <p:spPr>
          <a:xfrm>
            <a:off x="4772952" y="1053890"/>
            <a:ext cx="63900" cy="4617600"/>
          </a:xfrm>
          <a:prstGeom prst="rect">
            <a:avLst/>
          </a:prstGeom>
          <a:solidFill>
            <a:srgbClr val="00BBEA"/>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20" name="Google Shape;320;p38"/>
          <p:cNvSpPr txBox="1"/>
          <p:nvPr/>
        </p:nvSpPr>
        <p:spPr>
          <a:xfrm>
            <a:off x="4974120" y="1145330"/>
            <a:ext cx="3749100" cy="3849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 sz="1900" u="none" cap="none" strike="noStrike">
                <a:solidFill>
                  <a:srgbClr val="304D80"/>
                </a:solidFill>
                <a:latin typeface="Lato"/>
                <a:ea typeface="Lato"/>
                <a:cs typeface="Lato"/>
                <a:sym typeface="Lato"/>
              </a:rPr>
              <a:t>Full Board Meetings</a:t>
            </a:r>
            <a:endParaRPr sz="1800">
              <a:solidFill>
                <a:srgbClr val="304D80"/>
              </a:solidFill>
            </a:endParaRPr>
          </a:p>
        </p:txBody>
      </p:sp>
      <p:sp>
        <p:nvSpPr>
          <p:cNvPr id="321" name="Google Shape;321;p38"/>
          <p:cNvSpPr txBox="1"/>
          <p:nvPr/>
        </p:nvSpPr>
        <p:spPr>
          <a:xfrm>
            <a:off x="4974120" y="1575097"/>
            <a:ext cx="3749100" cy="3231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 sz="1500" u="none" cap="none" strike="noStrike">
                <a:solidFill>
                  <a:srgbClr val="757575"/>
                </a:solidFill>
                <a:latin typeface="Lato"/>
                <a:ea typeface="Lato"/>
                <a:cs typeface="Lato"/>
                <a:sym typeface="Lato"/>
              </a:rPr>
              <a:t>Monthly · Open to the public</a:t>
            </a:r>
            <a:endParaRPr sz="1700"/>
          </a:p>
        </p:txBody>
      </p:sp>
      <p:sp>
        <p:nvSpPr>
          <p:cNvPr id="322" name="Google Shape;322;p38"/>
          <p:cNvSpPr txBox="1"/>
          <p:nvPr/>
        </p:nvSpPr>
        <p:spPr>
          <a:xfrm>
            <a:off x="4974120" y="1986578"/>
            <a:ext cx="3749100" cy="26937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 sz="1800" u="none" cap="none" strike="noStrike">
                <a:solidFill>
                  <a:srgbClr val="304D80"/>
                </a:solidFill>
                <a:latin typeface="Lato"/>
                <a:ea typeface="Lato"/>
                <a:cs typeface="Lato"/>
                <a:sym typeface="Lato"/>
              </a:rPr>
              <a:t>·  Public comment period (~2 min per person)</a:t>
            </a:r>
            <a:endParaRPr b="0" i="0" sz="1800" u="none" cap="none" strike="noStrike">
              <a:solidFill>
                <a:srgbClr val="304D80"/>
              </a:solidFill>
              <a:latin typeface="Lato"/>
              <a:ea typeface="Lato"/>
              <a:cs typeface="Lato"/>
              <a:sym typeface="Lato"/>
            </a:endParaRPr>
          </a:p>
          <a:p>
            <a:pPr indent="0" lvl="0" marL="0" marR="0" rtl="0" algn="l">
              <a:spcBef>
                <a:spcPts val="0"/>
              </a:spcBef>
              <a:spcAft>
                <a:spcPts val="0"/>
              </a:spcAft>
              <a:buNone/>
            </a:pPr>
            <a:r>
              <a:t/>
            </a:r>
            <a:endParaRPr sz="1800">
              <a:solidFill>
                <a:srgbClr val="304D80"/>
              </a:solidFill>
              <a:latin typeface="Lato"/>
              <a:ea typeface="Lato"/>
              <a:cs typeface="Lato"/>
              <a:sym typeface="Lato"/>
            </a:endParaRPr>
          </a:p>
          <a:p>
            <a:pPr indent="0" lvl="0" marL="0" marR="0" rtl="0" algn="l">
              <a:spcBef>
                <a:spcPts val="600"/>
              </a:spcBef>
              <a:spcAft>
                <a:spcPts val="0"/>
              </a:spcAft>
              <a:buNone/>
            </a:pPr>
            <a:r>
              <a:rPr b="0" i="0" lang="en" sz="1800" u="none" cap="none" strike="noStrike">
                <a:solidFill>
                  <a:srgbClr val="304D80"/>
                </a:solidFill>
                <a:latin typeface="Lato"/>
                <a:ea typeface="Lato"/>
                <a:cs typeface="Lato"/>
                <a:sym typeface="Lato"/>
              </a:rPr>
              <a:t>·  Elected officials give reports</a:t>
            </a:r>
            <a:endParaRPr b="0" i="0" sz="1800" u="none" cap="none" strike="noStrike">
              <a:solidFill>
                <a:srgbClr val="304D80"/>
              </a:solidFill>
              <a:latin typeface="Lato"/>
              <a:ea typeface="Lato"/>
              <a:cs typeface="Lato"/>
              <a:sym typeface="Lato"/>
            </a:endParaRPr>
          </a:p>
          <a:p>
            <a:pPr indent="0" lvl="0" marL="0" marR="0" rtl="0" algn="l">
              <a:spcBef>
                <a:spcPts val="600"/>
              </a:spcBef>
              <a:spcAft>
                <a:spcPts val="0"/>
              </a:spcAft>
              <a:buNone/>
            </a:pPr>
            <a:r>
              <a:t/>
            </a:r>
            <a:endParaRPr sz="1800">
              <a:solidFill>
                <a:srgbClr val="304D80"/>
              </a:solidFill>
              <a:latin typeface="Lato"/>
              <a:ea typeface="Lato"/>
              <a:cs typeface="Lato"/>
              <a:sym typeface="Lato"/>
            </a:endParaRPr>
          </a:p>
          <a:p>
            <a:pPr indent="0" lvl="0" marL="0" marR="0" rtl="0" algn="l">
              <a:spcBef>
                <a:spcPts val="600"/>
              </a:spcBef>
              <a:spcAft>
                <a:spcPts val="0"/>
              </a:spcAft>
              <a:buNone/>
            </a:pPr>
            <a:r>
              <a:rPr i="0" lang="en" sz="1800" u="none" cap="none" strike="noStrike">
                <a:solidFill>
                  <a:srgbClr val="304D80"/>
                </a:solidFill>
                <a:latin typeface="Lato"/>
                <a:ea typeface="Lato"/>
                <a:cs typeface="Lato"/>
                <a:sym typeface="Lato"/>
              </a:rPr>
              <a:t>·  Committees report </a:t>
            </a:r>
            <a:r>
              <a:rPr lang="en" sz="1800">
                <a:solidFill>
                  <a:srgbClr val="304D80"/>
                </a:solidFill>
                <a:latin typeface="Lato"/>
                <a:ea typeface="Lato"/>
                <a:cs typeface="Lato"/>
                <a:sym typeface="Lato"/>
              </a:rPr>
              <a:t>resolutions</a:t>
            </a:r>
            <a:endParaRPr sz="1800">
              <a:solidFill>
                <a:srgbClr val="304D80"/>
              </a:solidFill>
              <a:latin typeface="Lato"/>
              <a:ea typeface="Lato"/>
              <a:cs typeface="Lato"/>
              <a:sym typeface="Lato"/>
            </a:endParaRPr>
          </a:p>
          <a:p>
            <a:pPr indent="0" lvl="0" marL="0" marR="0" rtl="0" algn="l">
              <a:spcBef>
                <a:spcPts val="600"/>
              </a:spcBef>
              <a:spcAft>
                <a:spcPts val="0"/>
              </a:spcAft>
              <a:buNone/>
            </a:pPr>
            <a:r>
              <a:t/>
            </a:r>
            <a:endParaRPr b="1" sz="1800">
              <a:solidFill>
                <a:srgbClr val="304D80"/>
              </a:solidFill>
              <a:latin typeface="Lato"/>
              <a:ea typeface="Lato"/>
              <a:cs typeface="Lato"/>
              <a:sym typeface="Lato"/>
            </a:endParaRPr>
          </a:p>
          <a:p>
            <a:pPr indent="0" lvl="0" marL="0" marR="0" rtl="0" algn="l">
              <a:spcBef>
                <a:spcPts val="600"/>
              </a:spcBef>
              <a:spcAft>
                <a:spcPts val="0"/>
              </a:spcAft>
              <a:buNone/>
            </a:pPr>
            <a:r>
              <a:rPr b="1" i="0" lang="en" sz="1800" u="none" cap="none" strike="noStrike">
                <a:solidFill>
                  <a:srgbClr val="304D80"/>
                </a:solidFill>
                <a:latin typeface="Lato"/>
                <a:ea typeface="Lato"/>
                <a:cs typeface="Lato"/>
                <a:sym typeface="Lato"/>
              </a:rPr>
              <a:t>·  Full Board votes on resolutions</a:t>
            </a:r>
            <a:endParaRPr b="1" sz="1800"/>
          </a:p>
        </p:txBody>
      </p:sp>
      <p:sp>
        <p:nvSpPr>
          <p:cNvPr id="323" name="Google Shape;323;p38"/>
          <p:cNvSpPr/>
          <p:nvPr/>
        </p:nvSpPr>
        <p:spPr>
          <a:xfrm>
            <a:off x="301743" y="1053890"/>
            <a:ext cx="4069200" cy="4617600"/>
          </a:xfrm>
          <a:prstGeom prst="rect">
            <a:avLst/>
          </a:prstGeom>
          <a:solidFill>
            <a:srgbClr val="E8F5E9"/>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24" name="Google Shape;324;p38"/>
          <p:cNvSpPr/>
          <p:nvPr/>
        </p:nvSpPr>
        <p:spPr>
          <a:xfrm>
            <a:off x="301743" y="1053890"/>
            <a:ext cx="63900" cy="4617600"/>
          </a:xfrm>
          <a:prstGeom prst="rect">
            <a:avLst/>
          </a:prstGeom>
          <a:solidFill>
            <a:srgbClr val="00E09D"/>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25" name="Google Shape;325;p38"/>
          <p:cNvSpPr txBox="1"/>
          <p:nvPr/>
        </p:nvSpPr>
        <p:spPr>
          <a:xfrm>
            <a:off x="502911" y="1145330"/>
            <a:ext cx="3749100" cy="3849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 sz="1900" u="none" cap="none" strike="noStrike">
                <a:solidFill>
                  <a:srgbClr val="38761D"/>
                </a:solidFill>
                <a:latin typeface="Lato"/>
                <a:ea typeface="Lato"/>
                <a:cs typeface="Lato"/>
                <a:sym typeface="Lato"/>
              </a:rPr>
              <a:t>Committee Meetings</a:t>
            </a:r>
            <a:endParaRPr sz="1800">
              <a:solidFill>
                <a:srgbClr val="38761D"/>
              </a:solidFill>
            </a:endParaRPr>
          </a:p>
        </p:txBody>
      </p:sp>
      <p:sp>
        <p:nvSpPr>
          <p:cNvPr id="326" name="Google Shape;326;p38"/>
          <p:cNvSpPr txBox="1"/>
          <p:nvPr/>
        </p:nvSpPr>
        <p:spPr>
          <a:xfrm>
            <a:off x="502911" y="1575097"/>
            <a:ext cx="3749100" cy="5541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 sz="1500">
                <a:solidFill>
                  <a:srgbClr val="757575"/>
                </a:solidFill>
                <a:latin typeface="Lato"/>
                <a:ea typeface="Lato"/>
                <a:cs typeface="Lato"/>
                <a:sym typeface="Lato"/>
              </a:rPr>
              <a:t>(Usually) </a:t>
            </a:r>
            <a:r>
              <a:rPr b="0" i="0" lang="en" sz="1500" u="none" cap="none" strike="noStrike">
                <a:solidFill>
                  <a:srgbClr val="757575"/>
                </a:solidFill>
                <a:latin typeface="Lato"/>
                <a:ea typeface="Lato"/>
                <a:cs typeface="Lato"/>
                <a:sym typeface="Lato"/>
              </a:rPr>
              <a:t>Monthly</a:t>
            </a:r>
            <a:r>
              <a:rPr b="0" i="0" lang="en" sz="1500" u="none" cap="none" strike="noStrike">
                <a:solidFill>
                  <a:srgbClr val="757575"/>
                </a:solidFill>
                <a:latin typeface="Lato"/>
                <a:ea typeface="Lato"/>
                <a:cs typeface="Lato"/>
                <a:sym typeface="Lato"/>
              </a:rPr>
              <a:t> · (Usually) Open to the public</a:t>
            </a:r>
            <a:endParaRPr sz="1700"/>
          </a:p>
        </p:txBody>
      </p:sp>
      <p:sp>
        <p:nvSpPr>
          <p:cNvPr id="327" name="Google Shape;327;p38"/>
          <p:cNvSpPr txBox="1"/>
          <p:nvPr/>
        </p:nvSpPr>
        <p:spPr>
          <a:xfrm>
            <a:off x="502911" y="1986578"/>
            <a:ext cx="3749100" cy="26937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 sz="1800" u="none" cap="none" strike="noStrike">
                <a:solidFill>
                  <a:srgbClr val="274E13"/>
                </a:solidFill>
                <a:latin typeface="Lato"/>
                <a:ea typeface="Lato"/>
                <a:cs typeface="Lato"/>
                <a:sym typeface="Lato"/>
              </a:rPr>
              <a:t>·  Agencies present project details</a:t>
            </a:r>
            <a:endParaRPr b="0" i="0" sz="1800" u="none" cap="none" strike="noStrike">
              <a:solidFill>
                <a:srgbClr val="274E13"/>
              </a:solidFill>
              <a:latin typeface="Lato"/>
              <a:ea typeface="Lato"/>
              <a:cs typeface="Lato"/>
              <a:sym typeface="Lato"/>
            </a:endParaRPr>
          </a:p>
          <a:p>
            <a:pPr indent="0" lvl="0" marL="0" marR="0" rtl="0" algn="l">
              <a:spcBef>
                <a:spcPts val="0"/>
              </a:spcBef>
              <a:spcAft>
                <a:spcPts val="0"/>
              </a:spcAft>
              <a:buNone/>
            </a:pPr>
            <a:r>
              <a:t/>
            </a:r>
            <a:endParaRPr sz="1800">
              <a:solidFill>
                <a:srgbClr val="274E13"/>
              </a:solidFill>
              <a:latin typeface="Lato"/>
              <a:ea typeface="Lato"/>
              <a:cs typeface="Lato"/>
              <a:sym typeface="Lato"/>
            </a:endParaRPr>
          </a:p>
          <a:p>
            <a:pPr indent="0" lvl="0" marL="0" marR="0" rtl="0" algn="l">
              <a:spcBef>
                <a:spcPts val="600"/>
              </a:spcBef>
              <a:spcAft>
                <a:spcPts val="0"/>
              </a:spcAft>
              <a:buNone/>
            </a:pPr>
            <a:r>
              <a:rPr b="1" i="0" lang="en" sz="1800" u="none" cap="none" strike="noStrike">
                <a:solidFill>
                  <a:srgbClr val="274E13"/>
                </a:solidFill>
                <a:latin typeface="Lato"/>
                <a:ea typeface="Lato"/>
                <a:cs typeface="Lato"/>
                <a:sym typeface="Lato"/>
              </a:rPr>
              <a:t>·  Resolutions drafted and debated by committees</a:t>
            </a:r>
            <a:endParaRPr b="1" i="0" sz="1800" u="none" cap="none" strike="noStrike">
              <a:solidFill>
                <a:srgbClr val="274E13"/>
              </a:solidFill>
              <a:latin typeface="Lato"/>
              <a:ea typeface="Lato"/>
              <a:cs typeface="Lato"/>
              <a:sym typeface="Lato"/>
            </a:endParaRPr>
          </a:p>
          <a:p>
            <a:pPr indent="0" lvl="0" marL="0" marR="0" rtl="0" algn="l">
              <a:spcBef>
                <a:spcPts val="600"/>
              </a:spcBef>
              <a:spcAft>
                <a:spcPts val="0"/>
              </a:spcAft>
              <a:buNone/>
            </a:pPr>
            <a:r>
              <a:t/>
            </a:r>
            <a:endParaRPr sz="1800">
              <a:solidFill>
                <a:srgbClr val="274E13"/>
              </a:solidFill>
              <a:latin typeface="Lato"/>
              <a:ea typeface="Lato"/>
              <a:cs typeface="Lato"/>
              <a:sym typeface="Lato"/>
            </a:endParaRPr>
          </a:p>
          <a:p>
            <a:pPr indent="0" lvl="0" marL="0" marR="0" rtl="0" algn="l">
              <a:spcBef>
                <a:spcPts val="600"/>
              </a:spcBef>
              <a:spcAft>
                <a:spcPts val="0"/>
              </a:spcAft>
              <a:buNone/>
            </a:pPr>
            <a:r>
              <a:rPr b="0" i="0" lang="en" sz="1800" u="none" cap="none" strike="noStrike">
                <a:solidFill>
                  <a:srgbClr val="274E13"/>
                </a:solidFill>
                <a:latin typeface="Lato"/>
                <a:ea typeface="Lato"/>
                <a:cs typeface="Lato"/>
                <a:sym typeface="Lato"/>
              </a:rPr>
              <a:t>·  Where advocacy is most effective</a:t>
            </a:r>
            <a:endParaRPr b="0" i="0" sz="1800" u="none" cap="none" strike="noStrike">
              <a:solidFill>
                <a:srgbClr val="274E13"/>
              </a:solidFill>
              <a:latin typeface="Lato"/>
              <a:ea typeface="Lato"/>
              <a:cs typeface="Lato"/>
              <a:sym typeface="Lato"/>
            </a:endParaRPr>
          </a:p>
          <a:p>
            <a:pPr indent="0" lvl="0" marL="0" marR="0" rtl="0" algn="l">
              <a:spcBef>
                <a:spcPts val="600"/>
              </a:spcBef>
              <a:spcAft>
                <a:spcPts val="0"/>
              </a:spcAft>
              <a:buNone/>
            </a:pPr>
            <a:r>
              <a:t/>
            </a:r>
            <a:endParaRPr sz="1800">
              <a:solidFill>
                <a:srgbClr val="274E13"/>
              </a:solidFill>
              <a:latin typeface="Lato"/>
              <a:ea typeface="Lato"/>
              <a:cs typeface="Lato"/>
              <a:sym typeface="Lato"/>
            </a:endParaRPr>
          </a:p>
          <a:p>
            <a:pPr indent="0" lvl="0" marL="0" marR="0" rtl="0" algn="l">
              <a:spcBef>
                <a:spcPts val="600"/>
              </a:spcBef>
              <a:spcAft>
                <a:spcPts val="0"/>
              </a:spcAft>
              <a:buNone/>
            </a:pPr>
            <a:r>
              <a:rPr b="0" i="0" lang="en" sz="1800" u="none" cap="none" strike="noStrike">
                <a:solidFill>
                  <a:srgbClr val="274E13"/>
                </a:solidFill>
                <a:latin typeface="Lato"/>
                <a:ea typeface="Lato"/>
                <a:cs typeface="Lato"/>
                <a:sym typeface="Lato"/>
              </a:rPr>
              <a:t>·  Where the real work happens</a:t>
            </a:r>
            <a:endParaRPr sz="1800">
              <a:solidFill>
                <a:srgbClr val="274E13"/>
              </a:solidFill>
            </a:endParaRPr>
          </a:p>
        </p:txBody>
      </p:sp>
      <p:sp>
        <p:nvSpPr>
          <p:cNvPr id="328" name="Google Shape;328;p38"/>
          <p:cNvSpPr/>
          <p:nvPr/>
        </p:nvSpPr>
        <p:spPr>
          <a:xfrm>
            <a:off x="301752" y="5733288"/>
            <a:ext cx="8540400" cy="868800"/>
          </a:xfrm>
          <a:prstGeom prst="rect">
            <a:avLst/>
          </a:prstGeom>
          <a:solidFill>
            <a:srgbClr val="FFF3E0"/>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29" name="Google Shape;329;p38"/>
          <p:cNvSpPr/>
          <p:nvPr/>
        </p:nvSpPr>
        <p:spPr>
          <a:xfrm>
            <a:off x="301752" y="5733288"/>
            <a:ext cx="63900" cy="868800"/>
          </a:xfrm>
          <a:prstGeom prst="rect">
            <a:avLst/>
          </a:prstGeom>
          <a:solidFill>
            <a:srgbClr val="FFAB40"/>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30" name="Google Shape;330;p38"/>
          <p:cNvSpPr txBox="1"/>
          <p:nvPr/>
        </p:nvSpPr>
        <p:spPr>
          <a:xfrm>
            <a:off x="484632" y="5843016"/>
            <a:ext cx="82479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 sz="1800" u="none" cap="none" strike="noStrike">
                <a:solidFill>
                  <a:srgbClr val="783500"/>
                </a:solidFill>
                <a:latin typeface="Lato"/>
                <a:ea typeface="Lato"/>
                <a:cs typeface="Lato"/>
                <a:sym typeface="Lato"/>
              </a:rPr>
              <a:t>Advocate insight: By the time a resolution reaches the full board, the debate is mostly over. Show up to committee meetings.</a:t>
            </a:r>
            <a:endParaRPr sz="1900"/>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34" name="Shape 334"/>
        <p:cNvGrpSpPr/>
        <p:nvPr/>
      </p:nvGrpSpPr>
      <p:grpSpPr>
        <a:xfrm>
          <a:off x="0" y="0"/>
          <a:ext cx="0" cy="0"/>
          <a:chOff x="0" y="0"/>
          <a:chExt cx="0" cy="0"/>
        </a:xfrm>
      </p:grpSpPr>
      <p:sp>
        <p:nvSpPr>
          <p:cNvPr id="335" name="Google Shape;335;p39"/>
          <p:cNvSpPr txBox="1"/>
          <p:nvPr/>
        </p:nvSpPr>
        <p:spPr>
          <a:xfrm>
            <a:off x="301752" y="182880"/>
            <a:ext cx="7772400" cy="446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 sz="2300" u="none" cap="none" strike="noStrike">
                <a:solidFill>
                  <a:srgbClr val="212121"/>
                </a:solidFill>
                <a:latin typeface="Lato"/>
                <a:ea typeface="Lato"/>
                <a:cs typeface="Lato"/>
                <a:sym typeface="Lato"/>
              </a:rPr>
              <a:t>The Information Problem</a:t>
            </a:r>
            <a:endParaRPr sz="1500"/>
          </a:p>
        </p:txBody>
      </p:sp>
      <p:sp>
        <p:nvSpPr>
          <p:cNvPr id="336" name="Google Shape;336;p39"/>
          <p:cNvSpPr/>
          <p:nvPr/>
        </p:nvSpPr>
        <p:spPr>
          <a:xfrm>
            <a:off x="0" y="841248"/>
            <a:ext cx="9144000" cy="41100"/>
          </a:xfrm>
          <a:prstGeom prst="rect">
            <a:avLst/>
          </a:prstGeom>
          <a:solidFill>
            <a:srgbClr val="4285F4"/>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900" u="none" cap="none" strike="noStrike">
              <a:solidFill>
                <a:schemeClr val="dk1"/>
              </a:solidFill>
              <a:latin typeface="Calibri"/>
              <a:ea typeface="Calibri"/>
              <a:cs typeface="Calibri"/>
              <a:sym typeface="Calibri"/>
            </a:endParaRPr>
          </a:p>
        </p:txBody>
      </p:sp>
      <p:sp>
        <p:nvSpPr>
          <p:cNvPr id="337" name="Google Shape;337;p39"/>
          <p:cNvSpPr txBox="1"/>
          <p:nvPr/>
        </p:nvSpPr>
        <p:spPr>
          <a:xfrm>
            <a:off x="301752" y="987552"/>
            <a:ext cx="8540400" cy="3387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 sz="1600" u="none" cap="none" strike="noStrike">
                <a:solidFill>
                  <a:srgbClr val="212121"/>
                </a:solidFill>
                <a:latin typeface="Lato"/>
                <a:ea typeface="Lato"/>
                <a:cs typeface="Lato"/>
                <a:sym typeface="Lato"/>
              </a:rPr>
              <a:t>Community boards are officially transparent — but practically opaque.</a:t>
            </a:r>
            <a:endParaRPr sz="1500"/>
          </a:p>
        </p:txBody>
      </p:sp>
      <p:sp>
        <p:nvSpPr>
          <p:cNvPr id="338" name="Google Shape;338;p39"/>
          <p:cNvSpPr/>
          <p:nvPr/>
        </p:nvSpPr>
        <p:spPr>
          <a:xfrm>
            <a:off x="301750" y="1481324"/>
            <a:ext cx="3996000" cy="4978500"/>
          </a:xfrm>
          <a:prstGeom prst="rect">
            <a:avLst/>
          </a:prstGeom>
          <a:solidFill>
            <a:srgbClr val="E8F5E9"/>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900" u="none" cap="none" strike="noStrike">
              <a:solidFill>
                <a:schemeClr val="dk1"/>
              </a:solidFill>
              <a:latin typeface="Calibri"/>
              <a:ea typeface="Calibri"/>
              <a:cs typeface="Calibri"/>
              <a:sym typeface="Calibri"/>
            </a:endParaRPr>
          </a:p>
        </p:txBody>
      </p:sp>
      <p:sp>
        <p:nvSpPr>
          <p:cNvPr id="339" name="Google Shape;339;p39"/>
          <p:cNvSpPr/>
          <p:nvPr/>
        </p:nvSpPr>
        <p:spPr>
          <a:xfrm>
            <a:off x="301750" y="1481324"/>
            <a:ext cx="63900" cy="4978500"/>
          </a:xfrm>
          <a:prstGeom prst="rect">
            <a:avLst/>
          </a:prstGeom>
          <a:solidFill>
            <a:srgbClr val="00E09D"/>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900" u="none" cap="none" strike="noStrike">
              <a:solidFill>
                <a:schemeClr val="dk1"/>
              </a:solidFill>
              <a:latin typeface="Calibri"/>
              <a:ea typeface="Calibri"/>
              <a:cs typeface="Calibri"/>
              <a:sym typeface="Calibri"/>
            </a:endParaRPr>
          </a:p>
        </p:txBody>
      </p:sp>
      <p:sp>
        <p:nvSpPr>
          <p:cNvPr id="340" name="Google Shape;340;p39"/>
          <p:cNvSpPr txBox="1"/>
          <p:nvPr/>
        </p:nvSpPr>
        <p:spPr>
          <a:xfrm>
            <a:off x="502918" y="1612625"/>
            <a:ext cx="3612000" cy="354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 sz="1700" u="none" cap="none" strike="noStrike">
                <a:solidFill>
                  <a:srgbClr val="38761D"/>
                </a:solidFill>
                <a:latin typeface="Lato"/>
                <a:ea typeface="Lato"/>
                <a:cs typeface="Lato"/>
                <a:sym typeface="Lato"/>
              </a:rPr>
              <a:t>✅  What exists</a:t>
            </a:r>
            <a:endParaRPr sz="1700">
              <a:solidFill>
                <a:srgbClr val="38761D"/>
              </a:solidFill>
            </a:endParaRPr>
          </a:p>
        </p:txBody>
      </p:sp>
      <p:sp>
        <p:nvSpPr>
          <p:cNvPr id="341" name="Google Shape;341;p39"/>
          <p:cNvSpPr txBox="1"/>
          <p:nvPr/>
        </p:nvSpPr>
        <p:spPr>
          <a:xfrm>
            <a:off x="502925" y="2137823"/>
            <a:ext cx="3612000" cy="30939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 sz="1700" u="none" cap="none" strike="noStrike">
                <a:solidFill>
                  <a:srgbClr val="274E13"/>
                </a:solidFill>
                <a:latin typeface="Lato"/>
                <a:ea typeface="Lato"/>
                <a:cs typeface="Lato"/>
                <a:sym typeface="Lato"/>
              </a:rPr>
              <a:t>·  All meetings open to the public</a:t>
            </a:r>
            <a:endParaRPr b="0" i="0" sz="1700" u="none" cap="none" strike="noStrike">
              <a:solidFill>
                <a:srgbClr val="274E13"/>
              </a:solidFill>
              <a:latin typeface="Lato"/>
              <a:ea typeface="Lato"/>
              <a:cs typeface="Lato"/>
              <a:sym typeface="Lato"/>
            </a:endParaRPr>
          </a:p>
          <a:p>
            <a:pPr indent="0" lvl="0" marL="0" marR="0" rtl="0" algn="l">
              <a:spcBef>
                <a:spcPts val="0"/>
              </a:spcBef>
              <a:spcAft>
                <a:spcPts val="0"/>
              </a:spcAft>
              <a:buNone/>
            </a:pPr>
            <a:r>
              <a:t/>
            </a:r>
            <a:endParaRPr sz="1700">
              <a:solidFill>
                <a:srgbClr val="274E13"/>
              </a:solidFill>
              <a:latin typeface="Lato"/>
              <a:ea typeface="Lato"/>
              <a:cs typeface="Lato"/>
              <a:sym typeface="Lato"/>
            </a:endParaRPr>
          </a:p>
          <a:p>
            <a:pPr indent="0" lvl="0" marL="0" marR="0" rtl="0" algn="l">
              <a:spcBef>
                <a:spcPts val="600"/>
              </a:spcBef>
              <a:spcAft>
                <a:spcPts val="0"/>
              </a:spcAft>
              <a:buNone/>
            </a:pPr>
            <a:r>
              <a:rPr b="0" i="0" lang="en" sz="1700" u="none" cap="none" strike="noStrike">
                <a:solidFill>
                  <a:srgbClr val="274E13"/>
                </a:solidFill>
                <a:latin typeface="Lato"/>
                <a:ea typeface="Lato"/>
                <a:cs typeface="Lato"/>
                <a:sym typeface="Lato"/>
              </a:rPr>
              <a:t>·  All resolutions and votes recorded publicly</a:t>
            </a:r>
            <a:endParaRPr b="0" i="0" sz="1700" u="none" cap="none" strike="noStrike">
              <a:solidFill>
                <a:srgbClr val="274E13"/>
              </a:solidFill>
              <a:latin typeface="Lato"/>
              <a:ea typeface="Lato"/>
              <a:cs typeface="Lato"/>
              <a:sym typeface="Lato"/>
            </a:endParaRPr>
          </a:p>
          <a:p>
            <a:pPr indent="0" lvl="0" marL="0" marR="0" rtl="0" algn="l">
              <a:spcBef>
                <a:spcPts val="600"/>
              </a:spcBef>
              <a:spcAft>
                <a:spcPts val="0"/>
              </a:spcAft>
              <a:buNone/>
            </a:pPr>
            <a:r>
              <a:t/>
            </a:r>
            <a:endParaRPr sz="1700">
              <a:solidFill>
                <a:srgbClr val="274E13"/>
              </a:solidFill>
              <a:latin typeface="Lato"/>
              <a:ea typeface="Lato"/>
              <a:cs typeface="Lato"/>
              <a:sym typeface="Lato"/>
            </a:endParaRPr>
          </a:p>
          <a:p>
            <a:pPr indent="0" lvl="0" marL="0" marR="0" rtl="0" algn="l">
              <a:spcBef>
                <a:spcPts val="600"/>
              </a:spcBef>
              <a:spcAft>
                <a:spcPts val="0"/>
              </a:spcAft>
              <a:buNone/>
            </a:pPr>
            <a:r>
              <a:rPr b="0" i="0" lang="en" sz="1700" u="none" cap="none" strike="noStrike">
                <a:solidFill>
                  <a:srgbClr val="274E13"/>
                </a:solidFill>
                <a:latin typeface="Lato"/>
                <a:ea typeface="Lato"/>
                <a:cs typeface="Lato"/>
                <a:sym typeface="Lato"/>
              </a:rPr>
              <a:t>·  Minutes posted as PDFs or on Airtable on</a:t>
            </a:r>
            <a:r>
              <a:rPr lang="en" sz="1700">
                <a:solidFill>
                  <a:srgbClr val="274E13"/>
                </a:solidFill>
                <a:latin typeface="Lato"/>
                <a:ea typeface="Lato"/>
                <a:cs typeface="Lato"/>
                <a:sym typeface="Lato"/>
              </a:rPr>
              <a:t> individual community board websites</a:t>
            </a:r>
            <a:endParaRPr b="0" i="0" sz="1700" u="none" cap="none" strike="noStrike">
              <a:solidFill>
                <a:srgbClr val="274E13"/>
              </a:solidFill>
              <a:latin typeface="Lato"/>
              <a:ea typeface="Lato"/>
              <a:cs typeface="Lato"/>
              <a:sym typeface="Lato"/>
            </a:endParaRPr>
          </a:p>
          <a:p>
            <a:pPr indent="0" lvl="0" marL="0" marR="0" rtl="0" algn="l">
              <a:spcBef>
                <a:spcPts val="600"/>
              </a:spcBef>
              <a:spcAft>
                <a:spcPts val="0"/>
              </a:spcAft>
              <a:buNone/>
            </a:pPr>
            <a:r>
              <a:t/>
            </a:r>
            <a:endParaRPr sz="1700">
              <a:solidFill>
                <a:srgbClr val="274E13"/>
              </a:solidFill>
              <a:latin typeface="Lato"/>
              <a:ea typeface="Lato"/>
              <a:cs typeface="Lato"/>
              <a:sym typeface="Lato"/>
            </a:endParaRPr>
          </a:p>
          <a:p>
            <a:pPr indent="0" lvl="0" marL="0" marR="0" rtl="0" algn="l">
              <a:spcBef>
                <a:spcPts val="600"/>
              </a:spcBef>
              <a:spcAft>
                <a:spcPts val="0"/>
              </a:spcAft>
              <a:buNone/>
            </a:pPr>
            <a:r>
              <a:rPr b="0" i="0" lang="en" sz="1700" u="none" cap="none" strike="noStrike">
                <a:solidFill>
                  <a:srgbClr val="274E13"/>
                </a:solidFill>
                <a:latin typeface="Lato"/>
                <a:ea typeface="Lato"/>
                <a:cs typeface="Lato"/>
                <a:sym typeface="Lato"/>
              </a:rPr>
              <a:t>·  PDFs (for MCB3) go back to 2002</a:t>
            </a:r>
            <a:endParaRPr sz="1700">
              <a:solidFill>
                <a:srgbClr val="274E13"/>
              </a:solidFill>
            </a:endParaRPr>
          </a:p>
        </p:txBody>
      </p:sp>
      <p:sp>
        <p:nvSpPr>
          <p:cNvPr id="342" name="Google Shape;342;p39"/>
          <p:cNvSpPr/>
          <p:nvPr/>
        </p:nvSpPr>
        <p:spPr>
          <a:xfrm>
            <a:off x="4846322" y="1481324"/>
            <a:ext cx="3996000" cy="4978500"/>
          </a:xfrm>
          <a:prstGeom prst="rect">
            <a:avLst/>
          </a:prstGeom>
          <a:solidFill>
            <a:srgbClr val="FFEBEE"/>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900" u="none" cap="none" strike="noStrike">
              <a:solidFill>
                <a:schemeClr val="dk1"/>
              </a:solidFill>
              <a:latin typeface="Calibri"/>
              <a:ea typeface="Calibri"/>
              <a:cs typeface="Calibri"/>
              <a:sym typeface="Calibri"/>
            </a:endParaRPr>
          </a:p>
        </p:txBody>
      </p:sp>
      <p:sp>
        <p:nvSpPr>
          <p:cNvPr id="343" name="Google Shape;343;p39"/>
          <p:cNvSpPr/>
          <p:nvPr/>
        </p:nvSpPr>
        <p:spPr>
          <a:xfrm>
            <a:off x="4846322" y="1481324"/>
            <a:ext cx="63900" cy="4978500"/>
          </a:xfrm>
          <a:prstGeom prst="rect">
            <a:avLst/>
          </a:prstGeom>
          <a:solidFill>
            <a:srgbClr val="C62828"/>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900" u="none" cap="none" strike="noStrike">
              <a:solidFill>
                <a:schemeClr val="dk1"/>
              </a:solidFill>
              <a:latin typeface="Calibri"/>
              <a:ea typeface="Calibri"/>
              <a:cs typeface="Calibri"/>
              <a:sym typeface="Calibri"/>
            </a:endParaRPr>
          </a:p>
        </p:txBody>
      </p:sp>
      <p:sp>
        <p:nvSpPr>
          <p:cNvPr id="344" name="Google Shape;344;p39"/>
          <p:cNvSpPr txBox="1"/>
          <p:nvPr/>
        </p:nvSpPr>
        <p:spPr>
          <a:xfrm>
            <a:off x="5047490" y="1612625"/>
            <a:ext cx="3612000" cy="354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 sz="1700" u="none" cap="none" strike="noStrike">
                <a:solidFill>
                  <a:srgbClr val="C62828"/>
                </a:solidFill>
                <a:latin typeface="Lato"/>
                <a:ea typeface="Lato"/>
                <a:cs typeface="Lato"/>
                <a:sym typeface="Lato"/>
              </a:rPr>
              <a:t>❌  What’s missing</a:t>
            </a:r>
            <a:endParaRPr sz="1700"/>
          </a:p>
        </p:txBody>
      </p:sp>
      <p:sp>
        <p:nvSpPr>
          <p:cNvPr id="345" name="Google Shape;345;p39"/>
          <p:cNvSpPr txBox="1"/>
          <p:nvPr/>
        </p:nvSpPr>
        <p:spPr>
          <a:xfrm>
            <a:off x="5047490" y="2137829"/>
            <a:ext cx="3612000" cy="3509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 sz="1700" u="none" cap="none" strike="noStrike">
                <a:solidFill>
                  <a:srgbClr val="C62828"/>
                </a:solidFill>
                <a:latin typeface="Lato"/>
                <a:ea typeface="Lato"/>
                <a:cs typeface="Lato"/>
                <a:sym typeface="Lato"/>
              </a:rPr>
              <a:t>·  No structured database</a:t>
            </a:r>
            <a:endParaRPr b="0" i="0" sz="1700" u="none" cap="none" strike="noStrike">
              <a:solidFill>
                <a:srgbClr val="C62828"/>
              </a:solidFill>
              <a:latin typeface="Lato"/>
              <a:ea typeface="Lato"/>
              <a:cs typeface="Lato"/>
              <a:sym typeface="Lato"/>
            </a:endParaRPr>
          </a:p>
          <a:p>
            <a:pPr indent="0" lvl="0" marL="0" marR="0" rtl="0" algn="l">
              <a:spcBef>
                <a:spcPts val="0"/>
              </a:spcBef>
              <a:spcAft>
                <a:spcPts val="0"/>
              </a:spcAft>
              <a:buNone/>
            </a:pPr>
            <a:r>
              <a:t/>
            </a:r>
            <a:endParaRPr sz="1700">
              <a:solidFill>
                <a:srgbClr val="C62828"/>
              </a:solidFill>
              <a:latin typeface="Lato"/>
              <a:ea typeface="Lato"/>
              <a:cs typeface="Lato"/>
              <a:sym typeface="Lato"/>
            </a:endParaRPr>
          </a:p>
          <a:p>
            <a:pPr indent="0" lvl="0" marL="0" marR="0" rtl="0" algn="l">
              <a:spcBef>
                <a:spcPts val="600"/>
              </a:spcBef>
              <a:spcAft>
                <a:spcPts val="0"/>
              </a:spcAft>
              <a:buNone/>
            </a:pPr>
            <a:r>
              <a:rPr b="0" i="0" lang="en" sz="1700" u="none" cap="none" strike="noStrike">
                <a:solidFill>
                  <a:srgbClr val="C62828"/>
                </a:solidFill>
                <a:latin typeface="Lato"/>
                <a:ea typeface="Lato"/>
                <a:cs typeface="Lato"/>
                <a:sym typeface="Lato"/>
              </a:rPr>
              <a:t>·  No search across resolutions</a:t>
            </a:r>
            <a:endParaRPr b="0" i="0" sz="1700" u="none" cap="none" strike="noStrike">
              <a:solidFill>
                <a:srgbClr val="C62828"/>
              </a:solidFill>
              <a:latin typeface="Lato"/>
              <a:ea typeface="Lato"/>
              <a:cs typeface="Lato"/>
              <a:sym typeface="Lato"/>
            </a:endParaRPr>
          </a:p>
          <a:p>
            <a:pPr indent="0" lvl="0" marL="0" marR="0" rtl="0" algn="l">
              <a:spcBef>
                <a:spcPts val="600"/>
              </a:spcBef>
              <a:spcAft>
                <a:spcPts val="0"/>
              </a:spcAft>
              <a:buNone/>
            </a:pPr>
            <a:r>
              <a:t/>
            </a:r>
            <a:endParaRPr sz="1700">
              <a:solidFill>
                <a:srgbClr val="C62828"/>
              </a:solidFill>
              <a:latin typeface="Lato"/>
              <a:ea typeface="Lato"/>
              <a:cs typeface="Lato"/>
              <a:sym typeface="Lato"/>
            </a:endParaRPr>
          </a:p>
          <a:p>
            <a:pPr indent="0" lvl="0" marL="0" marR="0" rtl="0" algn="l">
              <a:spcBef>
                <a:spcPts val="600"/>
              </a:spcBef>
              <a:spcAft>
                <a:spcPts val="0"/>
              </a:spcAft>
              <a:buNone/>
            </a:pPr>
            <a:r>
              <a:rPr b="0" i="0" lang="en" sz="1700" u="none" cap="none" strike="noStrike">
                <a:solidFill>
                  <a:srgbClr val="C62828"/>
                </a:solidFill>
                <a:latin typeface="Lato"/>
                <a:ea typeface="Lato"/>
                <a:cs typeface="Lato"/>
                <a:sym typeface="Lato"/>
              </a:rPr>
              <a:t>·  No way to track a</a:t>
            </a:r>
            <a:r>
              <a:rPr lang="en" sz="1700">
                <a:solidFill>
                  <a:srgbClr val="C62828"/>
                </a:solidFill>
                <a:latin typeface="Lato"/>
                <a:ea typeface="Lato"/>
                <a:cs typeface="Lato"/>
                <a:sym typeface="Lato"/>
              </a:rPr>
              <a:t> topic or location</a:t>
            </a:r>
            <a:br>
              <a:rPr b="0" i="0" lang="en" sz="1700" u="none" cap="none" strike="noStrike">
                <a:solidFill>
                  <a:srgbClr val="C62828"/>
                </a:solidFill>
                <a:latin typeface="Lato"/>
                <a:ea typeface="Lato"/>
                <a:cs typeface="Lato"/>
                <a:sym typeface="Lato"/>
              </a:rPr>
            </a:br>
            <a:r>
              <a:rPr b="0" i="0" lang="en" sz="1700" u="none" cap="none" strike="noStrike">
                <a:solidFill>
                  <a:srgbClr val="C62828"/>
                </a:solidFill>
                <a:latin typeface="Lato"/>
                <a:ea typeface="Lato"/>
                <a:cs typeface="Lato"/>
                <a:sym typeface="Lato"/>
              </a:rPr>
              <a:t>      across 20 years of minutes</a:t>
            </a:r>
            <a:endParaRPr b="0" i="0" sz="1700" u="none" cap="none" strike="noStrike">
              <a:solidFill>
                <a:srgbClr val="C62828"/>
              </a:solidFill>
              <a:latin typeface="Lato"/>
              <a:ea typeface="Lato"/>
              <a:cs typeface="Lato"/>
              <a:sym typeface="Lato"/>
            </a:endParaRPr>
          </a:p>
          <a:p>
            <a:pPr indent="0" lvl="0" marL="0" marR="0" rtl="0" algn="l">
              <a:spcBef>
                <a:spcPts val="600"/>
              </a:spcBef>
              <a:spcAft>
                <a:spcPts val="0"/>
              </a:spcAft>
              <a:buNone/>
            </a:pPr>
            <a:r>
              <a:t/>
            </a:r>
            <a:endParaRPr sz="1700">
              <a:solidFill>
                <a:srgbClr val="C62828"/>
              </a:solidFill>
              <a:latin typeface="Lato"/>
              <a:ea typeface="Lato"/>
              <a:cs typeface="Lato"/>
              <a:sym typeface="Lato"/>
            </a:endParaRPr>
          </a:p>
          <a:p>
            <a:pPr indent="0" lvl="0" marL="0" marR="0" rtl="0" algn="l">
              <a:spcBef>
                <a:spcPts val="600"/>
              </a:spcBef>
              <a:spcAft>
                <a:spcPts val="0"/>
              </a:spcAft>
              <a:buNone/>
            </a:pPr>
            <a:r>
              <a:rPr b="0" i="0" lang="en" sz="1700" u="none" cap="none" strike="noStrike">
                <a:solidFill>
                  <a:srgbClr val="C62828"/>
                </a:solidFill>
                <a:latin typeface="Lato"/>
                <a:ea typeface="Lato"/>
                <a:cs typeface="Lato"/>
                <a:sym typeface="Lato"/>
              </a:rPr>
              <a:t>·  No way to identify contested issues</a:t>
            </a:r>
            <a:endParaRPr b="0" i="0" sz="1700" u="none" cap="none" strike="noStrike">
              <a:solidFill>
                <a:srgbClr val="C62828"/>
              </a:solidFill>
              <a:latin typeface="Lato"/>
              <a:ea typeface="Lato"/>
              <a:cs typeface="Lato"/>
              <a:sym typeface="Lato"/>
            </a:endParaRPr>
          </a:p>
          <a:p>
            <a:pPr indent="0" lvl="0" marL="0" marR="0" rtl="0" algn="l">
              <a:spcBef>
                <a:spcPts val="600"/>
              </a:spcBef>
              <a:spcAft>
                <a:spcPts val="0"/>
              </a:spcAft>
              <a:buNone/>
            </a:pPr>
            <a:r>
              <a:t/>
            </a:r>
            <a:endParaRPr sz="1700">
              <a:solidFill>
                <a:srgbClr val="C62828"/>
              </a:solidFill>
              <a:latin typeface="Lato"/>
              <a:ea typeface="Lato"/>
              <a:cs typeface="Lato"/>
              <a:sym typeface="Lato"/>
            </a:endParaRPr>
          </a:p>
          <a:p>
            <a:pPr indent="0" lvl="0" marL="0" marR="0" rtl="0" algn="l">
              <a:spcBef>
                <a:spcPts val="600"/>
              </a:spcBef>
              <a:spcAft>
                <a:spcPts val="0"/>
              </a:spcAft>
              <a:buNone/>
            </a:pPr>
            <a:r>
              <a:rPr b="0" i="0" lang="en" sz="1700" u="none" cap="none" strike="noStrike">
                <a:solidFill>
                  <a:srgbClr val="C62828"/>
                </a:solidFill>
                <a:latin typeface="Lato"/>
                <a:ea typeface="Lato"/>
                <a:cs typeface="Lato"/>
                <a:sym typeface="Lato"/>
              </a:rPr>
              <a:t>·  268 siloed PDFs (for MCB3)</a:t>
            </a:r>
            <a:endParaRPr sz="17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9" name="Shape 349"/>
        <p:cNvGrpSpPr/>
        <p:nvPr/>
      </p:nvGrpSpPr>
      <p:grpSpPr>
        <a:xfrm>
          <a:off x="0" y="0"/>
          <a:ext cx="0" cy="0"/>
          <a:chOff x="0" y="0"/>
          <a:chExt cx="0" cy="0"/>
        </a:xfrm>
      </p:grpSpPr>
      <p:pic>
        <p:nvPicPr>
          <p:cNvPr id="350" name="Google Shape;350;p40"/>
          <p:cNvPicPr preferRelativeResize="0"/>
          <p:nvPr/>
        </p:nvPicPr>
        <p:blipFill>
          <a:blip r:embed="rId3">
            <a:alphaModFix/>
          </a:blip>
          <a:stretch>
            <a:fillRect/>
          </a:stretch>
        </p:blipFill>
        <p:spPr>
          <a:xfrm>
            <a:off x="365650" y="1136938"/>
            <a:ext cx="4192100" cy="4261678"/>
          </a:xfrm>
          <a:prstGeom prst="rect">
            <a:avLst/>
          </a:prstGeom>
          <a:noFill/>
          <a:ln cap="flat" cmpd="sng" w="38100">
            <a:solidFill>
              <a:srgbClr val="00E09D"/>
            </a:solidFill>
            <a:prstDash val="solid"/>
            <a:round/>
            <a:headEnd len="sm" w="sm" type="none"/>
            <a:tailEnd len="sm" w="sm" type="none"/>
          </a:ln>
        </p:spPr>
      </p:pic>
      <p:sp>
        <p:nvSpPr>
          <p:cNvPr id="351" name="Google Shape;351;p40"/>
          <p:cNvSpPr txBox="1"/>
          <p:nvPr/>
        </p:nvSpPr>
        <p:spPr>
          <a:xfrm>
            <a:off x="4650125" y="1603100"/>
            <a:ext cx="4192200" cy="2373600"/>
          </a:xfrm>
          <a:prstGeom prst="rect">
            <a:avLst/>
          </a:prstGeom>
          <a:noFill/>
          <a:ln>
            <a:noFill/>
          </a:ln>
        </p:spPr>
        <p:txBody>
          <a:bodyPr anchorCtr="0" anchor="t" bIns="91425" lIns="91425" spcFirstLastPara="1" rIns="91425" wrap="square" tIns="91425">
            <a:spAutoFit/>
          </a:bodyPr>
          <a:lstStyle/>
          <a:p>
            <a:pPr indent="0" lvl="0" marL="0" marR="0" rtl="0" algn="ctr">
              <a:lnSpc>
                <a:spcPct val="115000"/>
              </a:lnSpc>
              <a:spcBef>
                <a:spcPts val="0"/>
              </a:spcBef>
              <a:spcAft>
                <a:spcPts val="0"/>
              </a:spcAft>
              <a:buNone/>
            </a:pPr>
            <a:r>
              <a:rPr b="1" lang="en" sz="1800">
                <a:latin typeface="Lato"/>
                <a:ea typeface="Lato"/>
                <a:cs typeface="Lato"/>
                <a:sym typeface="Lato"/>
              </a:rPr>
              <a:t>Table from the Office of the Manhattan Borough President</a:t>
            </a:r>
            <a:endParaRPr b="1" sz="1800">
              <a:latin typeface="Lato"/>
              <a:ea typeface="Lato"/>
              <a:cs typeface="Lato"/>
              <a:sym typeface="Lato"/>
            </a:endParaRPr>
          </a:p>
          <a:p>
            <a:pPr indent="0" lvl="0" marL="0" marR="0" rtl="0" algn="ctr">
              <a:lnSpc>
                <a:spcPct val="115000"/>
              </a:lnSpc>
              <a:spcBef>
                <a:spcPts val="0"/>
              </a:spcBef>
              <a:spcAft>
                <a:spcPts val="0"/>
              </a:spcAft>
              <a:buNone/>
            </a:pPr>
            <a:r>
              <a:t/>
            </a:r>
            <a:endParaRPr sz="1800">
              <a:latin typeface="Lato"/>
              <a:ea typeface="Lato"/>
              <a:cs typeface="Lato"/>
              <a:sym typeface="Lato"/>
            </a:endParaRPr>
          </a:p>
          <a:p>
            <a:pPr indent="0" lvl="0" marL="0" marR="0" rtl="0" algn="ctr">
              <a:lnSpc>
                <a:spcPct val="115000"/>
              </a:lnSpc>
              <a:spcBef>
                <a:spcPts val="0"/>
              </a:spcBef>
              <a:spcAft>
                <a:spcPts val="0"/>
              </a:spcAft>
              <a:buNone/>
            </a:pPr>
            <a:r>
              <a:rPr lang="en" sz="1800">
                <a:latin typeface="Lato"/>
                <a:ea typeface="Lato"/>
                <a:cs typeface="Lato"/>
                <a:sym typeface="Lato"/>
              </a:rPr>
              <a:t>Community Board member term limits begin in 2027 - is local government prepared for the significant loss of institutional knowledge?</a:t>
            </a:r>
            <a:endParaRPr sz="1800">
              <a:latin typeface="Lato"/>
              <a:ea typeface="Lato"/>
              <a:cs typeface="Lato"/>
              <a:sym typeface="Lato"/>
            </a:endParaRPr>
          </a:p>
        </p:txBody>
      </p:sp>
      <p:sp>
        <p:nvSpPr>
          <p:cNvPr id="352" name="Google Shape;352;p40"/>
          <p:cNvSpPr txBox="1"/>
          <p:nvPr/>
        </p:nvSpPr>
        <p:spPr>
          <a:xfrm>
            <a:off x="230018" y="283330"/>
            <a:ext cx="7772400" cy="430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 sz="2200">
                <a:solidFill>
                  <a:srgbClr val="212121"/>
                </a:solidFill>
                <a:latin typeface="Lato"/>
                <a:ea typeface="Lato"/>
                <a:cs typeface="Lato"/>
                <a:sym typeface="Lato"/>
              </a:rPr>
              <a:t>Community Board Term Limits</a:t>
            </a:r>
            <a:endParaRPr/>
          </a:p>
        </p:txBody>
      </p:sp>
      <p:sp>
        <p:nvSpPr>
          <p:cNvPr id="353" name="Google Shape;353;p40"/>
          <p:cNvSpPr/>
          <p:nvPr/>
        </p:nvSpPr>
        <p:spPr>
          <a:xfrm>
            <a:off x="0" y="841248"/>
            <a:ext cx="9144000" cy="41100"/>
          </a:xfrm>
          <a:prstGeom prst="rect">
            <a:avLst/>
          </a:prstGeom>
          <a:solidFill>
            <a:srgbClr val="4285F4"/>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54" name="Google Shape;354;p40"/>
          <p:cNvSpPr/>
          <p:nvPr/>
        </p:nvSpPr>
        <p:spPr>
          <a:xfrm>
            <a:off x="301802" y="5760720"/>
            <a:ext cx="8540400" cy="804600"/>
          </a:xfrm>
          <a:prstGeom prst="rect">
            <a:avLst/>
          </a:prstGeom>
          <a:solidFill>
            <a:srgbClr val="E8F0FE"/>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900" u="none" cap="none" strike="noStrike">
              <a:solidFill>
                <a:schemeClr val="dk1"/>
              </a:solidFill>
              <a:latin typeface="Calibri"/>
              <a:ea typeface="Calibri"/>
              <a:cs typeface="Calibri"/>
              <a:sym typeface="Calibri"/>
            </a:endParaRPr>
          </a:p>
        </p:txBody>
      </p:sp>
      <p:sp>
        <p:nvSpPr>
          <p:cNvPr id="355" name="Google Shape;355;p40"/>
          <p:cNvSpPr txBox="1"/>
          <p:nvPr/>
        </p:nvSpPr>
        <p:spPr>
          <a:xfrm>
            <a:off x="594307" y="5970573"/>
            <a:ext cx="8247900" cy="3849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 sz="1900" u="none" cap="none" strike="noStrike">
                <a:solidFill>
                  <a:srgbClr val="00BBEA"/>
                </a:solidFill>
                <a:latin typeface="Lato"/>
                <a:ea typeface="Lato"/>
                <a:cs typeface="Lato"/>
                <a:sym typeface="Lato"/>
              </a:rPr>
              <a:t>This is </a:t>
            </a:r>
            <a:r>
              <a:rPr b="1" lang="en" sz="1900">
                <a:solidFill>
                  <a:srgbClr val="00BBEA"/>
                </a:solidFill>
                <a:latin typeface="Lato"/>
                <a:ea typeface="Lato"/>
                <a:cs typeface="Lato"/>
                <a:sym typeface="Lato"/>
              </a:rPr>
              <a:t>a</a:t>
            </a:r>
            <a:r>
              <a:rPr b="1" i="0" lang="en" sz="1900" u="none" cap="none" strike="noStrike">
                <a:solidFill>
                  <a:srgbClr val="00BBEA"/>
                </a:solidFill>
                <a:latin typeface="Lato"/>
                <a:ea typeface="Lato"/>
                <a:cs typeface="Lato"/>
                <a:sym typeface="Lato"/>
              </a:rPr>
              <a:t> problem </a:t>
            </a:r>
            <a:r>
              <a:rPr b="1" lang="en" sz="1900">
                <a:solidFill>
                  <a:srgbClr val="00BBEA"/>
                </a:solidFill>
                <a:latin typeface="Lato"/>
                <a:ea typeface="Lato"/>
                <a:cs typeface="Lato"/>
                <a:sym typeface="Lato"/>
              </a:rPr>
              <a:t>Block Party</a:t>
            </a:r>
            <a:r>
              <a:rPr b="1" i="0" lang="en" sz="1900" u="none" cap="none" strike="noStrike">
                <a:solidFill>
                  <a:srgbClr val="00BBEA"/>
                </a:solidFill>
                <a:latin typeface="Lato"/>
                <a:ea typeface="Lato"/>
                <a:cs typeface="Lato"/>
                <a:sym typeface="Lato"/>
              </a:rPr>
              <a:t> can help</a:t>
            </a:r>
            <a:r>
              <a:rPr b="1" lang="en" sz="1900">
                <a:solidFill>
                  <a:srgbClr val="00BBEA"/>
                </a:solidFill>
                <a:latin typeface="Lato"/>
                <a:ea typeface="Lato"/>
                <a:cs typeface="Lato"/>
                <a:sym typeface="Lato"/>
              </a:rPr>
              <a:t> </a:t>
            </a:r>
            <a:r>
              <a:rPr b="1" i="0" lang="en" sz="1900" u="none" cap="none" strike="noStrike">
                <a:solidFill>
                  <a:srgbClr val="00BBEA"/>
                </a:solidFill>
                <a:latin typeface="Lato"/>
                <a:ea typeface="Lato"/>
                <a:cs typeface="Lato"/>
                <a:sym typeface="Lato"/>
              </a:rPr>
              <a:t>solve.</a:t>
            </a:r>
            <a:endParaRPr sz="1700">
              <a:solidFill>
                <a:srgbClr val="00BBEA"/>
              </a:solidFill>
            </a:endParaRPr>
          </a:p>
        </p:txBody>
      </p:sp>
      <p:sp>
        <p:nvSpPr>
          <p:cNvPr id="356" name="Google Shape;356;p40"/>
          <p:cNvSpPr/>
          <p:nvPr/>
        </p:nvSpPr>
        <p:spPr>
          <a:xfrm>
            <a:off x="301752" y="5760720"/>
            <a:ext cx="63900" cy="804600"/>
          </a:xfrm>
          <a:prstGeom prst="rect">
            <a:avLst/>
          </a:prstGeom>
          <a:solidFill>
            <a:srgbClr val="00BBEA"/>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900" u="none" cap="none" strike="noStrike">
              <a:solidFill>
                <a:schemeClr val="dk1"/>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BBEA"/>
        </a:solidFill>
      </p:bgPr>
    </p:bg>
    <p:spTree>
      <p:nvGrpSpPr>
        <p:cNvPr id="360" name="Shape 360"/>
        <p:cNvGrpSpPr/>
        <p:nvPr/>
      </p:nvGrpSpPr>
      <p:grpSpPr>
        <a:xfrm>
          <a:off x="0" y="0"/>
          <a:ext cx="0" cy="0"/>
          <a:chOff x="0" y="0"/>
          <a:chExt cx="0" cy="0"/>
        </a:xfrm>
      </p:grpSpPr>
      <p:sp>
        <p:nvSpPr>
          <p:cNvPr id="361" name="Google Shape;361;p41"/>
          <p:cNvSpPr txBox="1"/>
          <p:nvPr/>
        </p:nvSpPr>
        <p:spPr>
          <a:xfrm>
            <a:off x="457200" y="1737360"/>
            <a:ext cx="8229600" cy="4002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 sz="2000" u="none" cap="none" strike="noStrike">
                <a:solidFill>
                  <a:srgbClr val="FFC847"/>
                </a:solidFill>
                <a:latin typeface="Lato"/>
                <a:ea typeface="Lato"/>
                <a:cs typeface="Lato"/>
                <a:sym typeface="Lato"/>
              </a:rPr>
              <a:t>PART TWO</a:t>
            </a:r>
            <a:endParaRPr sz="2000">
              <a:solidFill>
                <a:srgbClr val="FFC847"/>
              </a:solidFill>
            </a:endParaRPr>
          </a:p>
        </p:txBody>
      </p:sp>
      <p:sp>
        <p:nvSpPr>
          <p:cNvPr id="362" name="Google Shape;362;p41"/>
          <p:cNvSpPr txBox="1"/>
          <p:nvPr/>
        </p:nvSpPr>
        <p:spPr>
          <a:xfrm>
            <a:off x="457200" y="2240280"/>
            <a:ext cx="8229600" cy="10773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en" sz="3200">
                <a:solidFill>
                  <a:srgbClr val="FFFFFF"/>
                </a:solidFill>
                <a:latin typeface="Lato"/>
                <a:ea typeface="Lato"/>
                <a:cs typeface="Lato"/>
                <a:sym typeface="Lato"/>
              </a:rPr>
              <a:t>What is the Opportunity for Civic</a:t>
            </a:r>
            <a:r>
              <a:rPr b="1" lang="en" sz="3200">
                <a:solidFill>
                  <a:srgbClr val="FFFFFF"/>
                </a:solidFill>
                <a:latin typeface="Lato"/>
                <a:ea typeface="Lato"/>
                <a:cs typeface="Lato"/>
                <a:sym typeface="Lato"/>
              </a:rPr>
              <a:t> Technology</a:t>
            </a:r>
            <a:r>
              <a:rPr b="1" lang="en" sz="3200">
                <a:solidFill>
                  <a:srgbClr val="FFFFFF"/>
                </a:solidFill>
                <a:latin typeface="Lato"/>
                <a:ea typeface="Lato"/>
                <a:cs typeface="Lato"/>
                <a:sym typeface="Lato"/>
              </a:rPr>
              <a:t>?</a:t>
            </a:r>
            <a:endParaRPr/>
          </a:p>
        </p:txBody>
      </p:sp>
      <p:sp>
        <p:nvSpPr>
          <p:cNvPr id="363" name="Google Shape;363;p41"/>
          <p:cNvSpPr/>
          <p:nvPr/>
        </p:nvSpPr>
        <p:spPr>
          <a:xfrm>
            <a:off x="3200400" y="4069080"/>
            <a:ext cx="2743200" cy="41100"/>
          </a:xfrm>
          <a:prstGeom prst="rect">
            <a:avLst/>
          </a:prstGeom>
          <a:solidFill>
            <a:srgbClr val="4285F4"/>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7" name="Shape 367"/>
        <p:cNvGrpSpPr/>
        <p:nvPr/>
      </p:nvGrpSpPr>
      <p:grpSpPr>
        <a:xfrm>
          <a:off x="0" y="0"/>
          <a:ext cx="0" cy="0"/>
          <a:chOff x="0" y="0"/>
          <a:chExt cx="0" cy="0"/>
        </a:xfrm>
      </p:grpSpPr>
      <p:pic>
        <p:nvPicPr>
          <p:cNvPr id="368" name="Google Shape;368;p42"/>
          <p:cNvPicPr preferRelativeResize="0"/>
          <p:nvPr/>
        </p:nvPicPr>
        <p:blipFill>
          <a:blip r:embed="rId3">
            <a:alphaModFix/>
          </a:blip>
          <a:stretch>
            <a:fillRect/>
          </a:stretch>
        </p:blipFill>
        <p:spPr>
          <a:xfrm>
            <a:off x="0" y="-14500"/>
            <a:ext cx="9144000" cy="5530859"/>
          </a:xfrm>
          <a:prstGeom prst="rect">
            <a:avLst/>
          </a:prstGeom>
          <a:noFill/>
          <a:ln>
            <a:noFill/>
          </a:ln>
        </p:spPr>
      </p:pic>
      <p:sp>
        <p:nvSpPr>
          <p:cNvPr id="369" name="Google Shape;369;p42"/>
          <p:cNvSpPr/>
          <p:nvPr/>
        </p:nvSpPr>
        <p:spPr>
          <a:xfrm>
            <a:off x="-59000" y="-406500"/>
            <a:ext cx="9203100" cy="7374300"/>
          </a:xfrm>
          <a:prstGeom prst="rect">
            <a:avLst/>
          </a:prstGeom>
          <a:solidFill>
            <a:srgbClr val="FFFFFF">
              <a:alpha val="77530"/>
            </a:srgbClr>
          </a:solidFill>
          <a:ln>
            <a:noFill/>
          </a:ln>
        </p:spPr>
        <p:txBody>
          <a:bodyPr anchorCtr="0" anchor="ctr" bIns="91425" lIns="91425" spcFirstLastPara="1" rIns="91425" wrap="square" tIns="91425">
            <a:noAutofit/>
          </a:bodyPr>
          <a:lstStyle/>
          <a:p>
            <a:pPr indent="0" lvl="0" marL="0" marR="0" rtl="0" algn="l">
              <a:lnSpc>
                <a:spcPct val="115000"/>
              </a:lnSpc>
              <a:spcBef>
                <a:spcPts val="0"/>
              </a:spcBef>
              <a:spcAft>
                <a:spcPts val="0"/>
              </a:spcAft>
              <a:buNone/>
            </a:pPr>
            <a:r>
              <a:t/>
            </a:r>
            <a:endParaRPr b="1" sz="1800">
              <a:latin typeface="Roboto Mono"/>
              <a:ea typeface="Roboto Mono"/>
              <a:cs typeface="Roboto Mono"/>
              <a:sym typeface="Roboto Mono"/>
            </a:endParaRPr>
          </a:p>
        </p:txBody>
      </p:sp>
      <p:sp>
        <p:nvSpPr>
          <p:cNvPr id="370" name="Google Shape;370;p42"/>
          <p:cNvSpPr txBox="1"/>
          <p:nvPr/>
        </p:nvSpPr>
        <p:spPr>
          <a:xfrm>
            <a:off x="0" y="3121200"/>
            <a:ext cx="9144000" cy="492600"/>
          </a:xfrm>
          <a:prstGeom prst="rect">
            <a:avLst/>
          </a:prstGeom>
          <a:noFill/>
          <a:ln>
            <a:noFill/>
          </a:ln>
        </p:spPr>
        <p:txBody>
          <a:bodyPr anchorCtr="0" anchor="t" bIns="91425" lIns="91425" spcFirstLastPara="1" rIns="91425" wrap="square" tIns="91425">
            <a:spAutoFit/>
          </a:bodyPr>
          <a:lstStyle/>
          <a:p>
            <a:pPr indent="0" lvl="0" marL="0" marR="0" rtl="0" algn="ctr">
              <a:lnSpc>
                <a:spcPct val="115000"/>
              </a:lnSpc>
              <a:spcBef>
                <a:spcPts val="0"/>
              </a:spcBef>
              <a:spcAft>
                <a:spcPts val="0"/>
              </a:spcAft>
              <a:buNone/>
            </a:pPr>
            <a:r>
              <a:rPr b="1" lang="en" sz="2000">
                <a:latin typeface="Lato"/>
                <a:ea typeface="Lato"/>
                <a:cs typeface="Lato"/>
                <a:sym typeface="Lato"/>
              </a:rPr>
              <a:t>Community Board Meetings can be inaccessible.</a:t>
            </a:r>
            <a:endParaRPr b="1" sz="2000">
              <a:latin typeface="Lato"/>
              <a:ea typeface="Lato"/>
              <a:cs typeface="Lato"/>
              <a:sym typeface="Lato"/>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4" name="Shape 374"/>
        <p:cNvGrpSpPr/>
        <p:nvPr/>
      </p:nvGrpSpPr>
      <p:grpSpPr>
        <a:xfrm>
          <a:off x="0" y="0"/>
          <a:ext cx="0" cy="0"/>
          <a:chOff x="0" y="0"/>
          <a:chExt cx="0" cy="0"/>
        </a:xfrm>
      </p:grpSpPr>
      <p:pic>
        <p:nvPicPr>
          <p:cNvPr id="375" name="Google Shape;375;p43"/>
          <p:cNvPicPr preferRelativeResize="0"/>
          <p:nvPr/>
        </p:nvPicPr>
        <p:blipFill>
          <a:blip r:embed="rId3">
            <a:alphaModFix/>
          </a:blip>
          <a:stretch>
            <a:fillRect/>
          </a:stretch>
        </p:blipFill>
        <p:spPr>
          <a:xfrm>
            <a:off x="0" y="-14500"/>
            <a:ext cx="9144000" cy="5530859"/>
          </a:xfrm>
          <a:prstGeom prst="rect">
            <a:avLst/>
          </a:prstGeom>
          <a:noFill/>
          <a:ln>
            <a:noFill/>
          </a:ln>
        </p:spPr>
      </p:pic>
      <p:sp>
        <p:nvSpPr>
          <p:cNvPr id="376" name="Google Shape;376;p43"/>
          <p:cNvSpPr/>
          <p:nvPr/>
        </p:nvSpPr>
        <p:spPr>
          <a:xfrm>
            <a:off x="0" y="0"/>
            <a:ext cx="9144000" cy="7374300"/>
          </a:xfrm>
          <a:prstGeom prst="rect">
            <a:avLst/>
          </a:prstGeom>
          <a:solidFill>
            <a:srgbClr val="FFFFFF">
              <a:alpha val="775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7" name="Google Shape;377;p43"/>
          <p:cNvSpPr txBox="1"/>
          <p:nvPr/>
        </p:nvSpPr>
        <p:spPr>
          <a:xfrm>
            <a:off x="0" y="2352133"/>
            <a:ext cx="9144000" cy="1980900"/>
          </a:xfrm>
          <a:prstGeom prst="rect">
            <a:avLst/>
          </a:prstGeom>
          <a:noFill/>
          <a:ln>
            <a:noFill/>
          </a:ln>
        </p:spPr>
        <p:txBody>
          <a:bodyPr anchorCtr="0" anchor="t" bIns="91425" lIns="91425" spcFirstLastPara="1" rIns="91425" wrap="square" tIns="91425">
            <a:spAutoFit/>
          </a:bodyPr>
          <a:lstStyle/>
          <a:p>
            <a:pPr indent="0" lvl="0" marL="0" rtl="0" algn="ctr">
              <a:lnSpc>
                <a:spcPct val="115000"/>
              </a:lnSpc>
              <a:spcBef>
                <a:spcPts val="0"/>
              </a:spcBef>
              <a:spcAft>
                <a:spcPts val="0"/>
              </a:spcAft>
              <a:buNone/>
            </a:pPr>
            <a:r>
              <a:rPr b="1" lang="en" sz="1800">
                <a:latin typeface="Lato"/>
                <a:ea typeface="Lato"/>
                <a:cs typeface="Lato"/>
                <a:sym typeface="Lato"/>
              </a:rPr>
              <a:t>Community Board 3 meetings on average last </a:t>
            </a:r>
            <a:r>
              <a:rPr b="1" lang="en" sz="9600">
                <a:solidFill>
                  <a:srgbClr val="04D99D"/>
                </a:solidFill>
                <a:latin typeface="Lato"/>
                <a:ea typeface="Lato"/>
                <a:cs typeface="Lato"/>
                <a:sym typeface="Lato"/>
              </a:rPr>
              <a:t>02:07:38</a:t>
            </a:r>
            <a:endParaRPr b="1" sz="1800">
              <a:solidFill>
                <a:srgbClr val="304D80"/>
              </a:solidFill>
              <a:latin typeface="Lato"/>
              <a:ea typeface="Lato"/>
              <a:cs typeface="Lato"/>
              <a:sym typeface="Lato"/>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1" name="Shape 381"/>
        <p:cNvGrpSpPr/>
        <p:nvPr/>
      </p:nvGrpSpPr>
      <p:grpSpPr>
        <a:xfrm>
          <a:off x="0" y="0"/>
          <a:ext cx="0" cy="0"/>
          <a:chOff x="0" y="0"/>
          <a:chExt cx="0" cy="0"/>
        </a:xfrm>
      </p:grpSpPr>
      <p:pic>
        <p:nvPicPr>
          <p:cNvPr id="382" name="Google Shape;382;p44"/>
          <p:cNvPicPr preferRelativeResize="0"/>
          <p:nvPr/>
        </p:nvPicPr>
        <p:blipFill>
          <a:blip r:embed="rId3">
            <a:alphaModFix/>
          </a:blip>
          <a:stretch>
            <a:fillRect/>
          </a:stretch>
        </p:blipFill>
        <p:spPr>
          <a:xfrm>
            <a:off x="0" y="-14500"/>
            <a:ext cx="9144000" cy="5530859"/>
          </a:xfrm>
          <a:prstGeom prst="rect">
            <a:avLst/>
          </a:prstGeom>
          <a:noFill/>
          <a:ln>
            <a:noFill/>
          </a:ln>
        </p:spPr>
      </p:pic>
      <p:sp>
        <p:nvSpPr>
          <p:cNvPr id="383" name="Google Shape;383;p44"/>
          <p:cNvSpPr/>
          <p:nvPr/>
        </p:nvSpPr>
        <p:spPr>
          <a:xfrm>
            <a:off x="0" y="0"/>
            <a:ext cx="9144000" cy="7374300"/>
          </a:xfrm>
          <a:prstGeom prst="rect">
            <a:avLst/>
          </a:prstGeom>
          <a:solidFill>
            <a:srgbClr val="FFFFFF">
              <a:alpha val="775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4" name="Google Shape;384;p44"/>
          <p:cNvSpPr txBox="1"/>
          <p:nvPr/>
        </p:nvSpPr>
        <p:spPr>
          <a:xfrm>
            <a:off x="0" y="2352133"/>
            <a:ext cx="9144000" cy="1980900"/>
          </a:xfrm>
          <a:prstGeom prst="rect">
            <a:avLst/>
          </a:prstGeom>
          <a:noFill/>
          <a:ln>
            <a:noFill/>
          </a:ln>
        </p:spPr>
        <p:txBody>
          <a:bodyPr anchorCtr="0" anchor="t" bIns="91425" lIns="91425" spcFirstLastPara="1" rIns="91425" wrap="square" tIns="91425">
            <a:spAutoFit/>
          </a:bodyPr>
          <a:lstStyle/>
          <a:p>
            <a:pPr indent="0" lvl="0" marL="0" rtl="0" algn="ctr">
              <a:lnSpc>
                <a:spcPct val="115000"/>
              </a:lnSpc>
              <a:spcBef>
                <a:spcPts val="0"/>
              </a:spcBef>
              <a:spcAft>
                <a:spcPts val="0"/>
              </a:spcAft>
              <a:buNone/>
            </a:pPr>
            <a:r>
              <a:rPr b="1" lang="en" sz="1800">
                <a:latin typeface="Lato"/>
                <a:ea typeface="Lato"/>
                <a:cs typeface="Lato"/>
                <a:sym typeface="Lato"/>
              </a:rPr>
              <a:t>The longest community board meeting in our archive lasted</a:t>
            </a:r>
            <a:r>
              <a:rPr b="1" lang="en" sz="1800">
                <a:solidFill>
                  <a:srgbClr val="304D80"/>
                </a:solidFill>
                <a:latin typeface="Lato"/>
                <a:ea typeface="Lato"/>
                <a:cs typeface="Lato"/>
                <a:sym typeface="Lato"/>
              </a:rPr>
              <a:t> </a:t>
            </a:r>
            <a:r>
              <a:rPr b="1" lang="en" sz="9600">
                <a:solidFill>
                  <a:srgbClr val="04D99D"/>
                </a:solidFill>
                <a:latin typeface="Lato"/>
                <a:ea typeface="Lato"/>
                <a:cs typeface="Lato"/>
                <a:sym typeface="Lato"/>
              </a:rPr>
              <a:t>07</a:t>
            </a:r>
            <a:r>
              <a:rPr b="1" lang="en" sz="9600">
                <a:solidFill>
                  <a:srgbClr val="04D99D"/>
                </a:solidFill>
                <a:latin typeface="Lato"/>
                <a:ea typeface="Lato"/>
                <a:cs typeface="Lato"/>
                <a:sym typeface="Lato"/>
              </a:rPr>
              <a:t>:22:17</a:t>
            </a:r>
            <a:endParaRPr b="1" sz="1800">
              <a:solidFill>
                <a:srgbClr val="304D80"/>
              </a:solidFill>
              <a:latin typeface="Lato"/>
              <a:ea typeface="Lato"/>
              <a:cs typeface="Lato"/>
              <a:sym typeface="Lato"/>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2"/>
        </a:solidFill>
      </p:bgPr>
    </p:bg>
    <p:spTree>
      <p:nvGrpSpPr>
        <p:cNvPr id="388" name="Shape 388"/>
        <p:cNvGrpSpPr/>
        <p:nvPr/>
      </p:nvGrpSpPr>
      <p:grpSpPr>
        <a:xfrm>
          <a:off x="0" y="0"/>
          <a:ext cx="0" cy="0"/>
          <a:chOff x="0" y="0"/>
          <a:chExt cx="0" cy="0"/>
        </a:xfrm>
      </p:grpSpPr>
      <p:pic>
        <p:nvPicPr>
          <p:cNvPr id="389" name="Google Shape;389;p45"/>
          <p:cNvPicPr preferRelativeResize="0"/>
          <p:nvPr/>
        </p:nvPicPr>
        <p:blipFill>
          <a:blip r:embed="rId3">
            <a:alphaModFix/>
          </a:blip>
          <a:stretch>
            <a:fillRect/>
          </a:stretch>
        </p:blipFill>
        <p:spPr>
          <a:xfrm>
            <a:off x="560825" y="0"/>
            <a:ext cx="8022351" cy="6858001"/>
          </a:xfrm>
          <a:prstGeom prst="rect">
            <a:avLst/>
          </a:prstGeom>
          <a:noFill/>
          <a:ln>
            <a:noFill/>
          </a:ln>
        </p:spPr>
      </p:pic>
      <p:pic>
        <p:nvPicPr>
          <p:cNvPr id="390" name="Google Shape;390;p45"/>
          <p:cNvPicPr preferRelativeResize="0"/>
          <p:nvPr/>
        </p:nvPicPr>
        <p:blipFill>
          <a:blip r:embed="rId4">
            <a:alphaModFix/>
          </a:blip>
          <a:stretch>
            <a:fillRect/>
          </a:stretch>
        </p:blipFill>
        <p:spPr>
          <a:xfrm>
            <a:off x="7308135" y="53425"/>
            <a:ext cx="1230512" cy="307647"/>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2"/>
        </a:solidFill>
      </p:bgPr>
    </p:bg>
    <p:spTree>
      <p:nvGrpSpPr>
        <p:cNvPr id="394" name="Shape 394"/>
        <p:cNvGrpSpPr/>
        <p:nvPr/>
      </p:nvGrpSpPr>
      <p:grpSpPr>
        <a:xfrm>
          <a:off x="0" y="0"/>
          <a:ext cx="0" cy="0"/>
          <a:chOff x="0" y="0"/>
          <a:chExt cx="0" cy="0"/>
        </a:xfrm>
      </p:grpSpPr>
      <p:pic>
        <p:nvPicPr>
          <p:cNvPr id="395" name="Google Shape;395;p46"/>
          <p:cNvPicPr preferRelativeResize="0"/>
          <p:nvPr/>
        </p:nvPicPr>
        <p:blipFill>
          <a:blip r:embed="rId3">
            <a:alphaModFix/>
          </a:blip>
          <a:stretch>
            <a:fillRect/>
          </a:stretch>
        </p:blipFill>
        <p:spPr>
          <a:xfrm>
            <a:off x="311538" y="0"/>
            <a:ext cx="8520923" cy="6200175"/>
          </a:xfrm>
          <a:prstGeom prst="rect">
            <a:avLst/>
          </a:prstGeom>
          <a:noFill/>
          <a:ln>
            <a:noFill/>
          </a:ln>
        </p:spPr>
      </p:pic>
      <p:sp>
        <p:nvSpPr>
          <p:cNvPr id="396" name="Google Shape;396;p46"/>
          <p:cNvSpPr txBox="1"/>
          <p:nvPr/>
        </p:nvSpPr>
        <p:spPr>
          <a:xfrm>
            <a:off x="-12" y="6336150"/>
            <a:ext cx="9144000" cy="4002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dk1"/>
                </a:solidFill>
                <a:latin typeface="Lato"/>
                <a:ea typeface="Lato"/>
                <a:cs typeface="Lato"/>
                <a:sym typeface="Lato"/>
              </a:rPr>
              <a:t>Block Party’s Archive has</a:t>
            </a:r>
            <a:r>
              <a:rPr lang="en">
                <a:latin typeface="Lato"/>
                <a:ea typeface="Lato"/>
                <a:cs typeface="Lato"/>
                <a:sym typeface="Lato"/>
              </a:rPr>
              <a:t> 11,986 Community Board Meeting Transcripts dating from 2015 to yesterday</a:t>
            </a:r>
            <a:endParaRPr>
              <a:latin typeface="Lato"/>
              <a:ea typeface="Lato"/>
              <a:cs typeface="Lato"/>
              <a:sym typeface="Lato"/>
            </a:endParaRPr>
          </a:p>
        </p:txBody>
      </p:sp>
      <p:pic>
        <p:nvPicPr>
          <p:cNvPr id="397" name="Google Shape;397;p46"/>
          <p:cNvPicPr preferRelativeResize="0"/>
          <p:nvPr/>
        </p:nvPicPr>
        <p:blipFill>
          <a:blip r:embed="rId4">
            <a:alphaModFix/>
          </a:blip>
          <a:stretch>
            <a:fillRect/>
          </a:stretch>
        </p:blipFill>
        <p:spPr>
          <a:xfrm>
            <a:off x="354085" y="62350"/>
            <a:ext cx="1230512" cy="307647"/>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1" name="Shape 401"/>
        <p:cNvGrpSpPr/>
        <p:nvPr/>
      </p:nvGrpSpPr>
      <p:grpSpPr>
        <a:xfrm>
          <a:off x="0" y="0"/>
          <a:ext cx="0" cy="0"/>
          <a:chOff x="0" y="0"/>
          <a:chExt cx="0" cy="0"/>
        </a:xfrm>
      </p:grpSpPr>
      <p:pic>
        <p:nvPicPr>
          <p:cNvPr id="402" name="Google Shape;402;p47"/>
          <p:cNvPicPr preferRelativeResize="0"/>
          <p:nvPr/>
        </p:nvPicPr>
        <p:blipFill>
          <a:blip r:embed="rId3">
            <a:alphaModFix/>
          </a:blip>
          <a:stretch>
            <a:fillRect/>
          </a:stretch>
        </p:blipFill>
        <p:spPr>
          <a:xfrm>
            <a:off x="0" y="721000"/>
            <a:ext cx="4138907" cy="6137000"/>
          </a:xfrm>
          <a:prstGeom prst="rect">
            <a:avLst/>
          </a:prstGeom>
          <a:noFill/>
          <a:ln>
            <a:noFill/>
          </a:ln>
        </p:spPr>
      </p:pic>
      <p:pic>
        <p:nvPicPr>
          <p:cNvPr id="403" name="Google Shape;403;p47"/>
          <p:cNvPicPr preferRelativeResize="0"/>
          <p:nvPr/>
        </p:nvPicPr>
        <p:blipFill>
          <a:blip r:embed="rId4">
            <a:alphaModFix/>
          </a:blip>
          <a:stretch>
            <a:fillRect/>
          </a:stretch>
        </p:blipFill>
        <p:spPr>
          <a:xfrm>
            <a:off x="3735154" y="0"/>
            <a:ext cx="4536543" cy="6858001"/>
          </a:xfrm>
          <a:prstGeom prst="rect">
            <a:avLst/>
          </a:prstGeom>
          <a:noFill/>
          <a:ln>
            <a:noFill/>
          </a:ln>
        </p:spPr>
      </p:pic>
      <p:pic>
        <p:nvPicPr>
          <p:cNvPr id="404" name="Google Shape;404;p47"/>
          <p:cNvPicPr preferRelativeResize="0"/>
          <p:nvPr/>
        </p:nvPicPr>
        <p:blipFill>
          <a:blip r:embed="rId5">
            <a:alphaModFix/>
          </a:blip>
          <a:stretch>
            <a:fillRect/>
          </a:stretch>
        </p:blipFill>
        <p:spPr>
          <a:xfrm>
            <a:off x="5658579" y="0"/>
            <a:ext cx="4561543" cy="6858001"/>
          </a:xfrm>
          <a:prstGeom prst="rect">
            <a:avLst/>
          </a:prstGeom>
          <a:noFill/>
          <a:ln>
            <a:noFill/>
          </a:ln>
        </p:spPr>
      </p:pic>
      <p:sp>
        <p:nvSpPr>
          <p:cNvPr id="405" name="Google Shape;405;p47"/>
          <p:cNvSpPr/>
          <p:nvPr/>
        </p:nvSpPr>
        <p:spPr>
          <a:xfrm>
            <a:off x="1969225" y="2390500"/>
            <a:ext cx="4487100" cy="274200"/>
          </a:xfrm>
          <a:prstGeom prst="roundRect">
            <a:avLst>
              <a:gd fmla="val 16667" name="adj"/>
            </a:avLst>
          </a:prstGeom>
          <a:noFill/>
          <a:ln cap="flat" cmpd="sng" w="9525">
            <a:solidFill>
              <a:schemeClr val="lt1"/>
            </a:solidFill>
            <a:prstDash val="dot"/>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406" name="Google Shape;406;p47"/>
          <p:cNvSpPr txBox="1"/>
          <p:nvPr/>
        </p:nvSpPr>
        <p:spPr>
          <a:xfrm>
            <a:off x="301752" y="182880"/>
            <a:ext cx="7772400" cy="430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 sz="2200" u="none" cap="none" strike="noStrike">
                <a:solidFill>
                  <a:srgbClr val="212121"/>
                </a:solidFill>
                <a:latin typeface="Lato"/>
                <a:ea typeface="Lato"/>
                <a:cs typeface="Lato"/>
                <a:sym typeface="Lato"/>
              </a:rPr>
              <a:t>The Information Problem</a:t>
            </a:r>
            <a:endParaRPr/>
          </a:p>
        </p:txBody>
      </p:sp>
      <p:pic>
        <p:nvPicPr>
          <p:cNvPr id="407" name="Google Shape;407;p47"/>
          <p:cNvPicPr preferRelativeResize="0"/>
          <p:nvPr/>
        </p:nvPicPr>
        <p:blipFill rotWithShape="1">
          <a:blip r:embed="rId6">
            <a:alphaModFix/>
          </a:blip>
          <a:srcRect b="61144" l="0" r="0" t="0"/>
          <a:stretch/>
        </p:blipFill>
        <p:spPr>
          <a:xfrm>
            <a:off x="3204863" y="2096650"/>
            <a:ext cx="2734275" cy="2664699"/>
          </a:xfrm>
          <a:prstGeom prst="rect">
            <a:avLst/>
          </a:prstGeom>
          <a:noFill/>
          <a:ln cap="flat" cmpd="sng" w="114300">
            <a:solidFill>
              <a:srgbClr val="00BBEA"/>
            </a:solidFill>
            <a:prstDash val="solid"/>
            <a:round/>
            <a:headEnd len="sm" w="sm" type="none"/>
            <a:tailEnd len="sm" w="sm" type="none"/>
          </a:ln>
        </p:spPr>
      </p:pic>
      <p:pic>
        <p:nvPicPr>
          <p:cNvPr id="408" name="Google Shape;408;p47"/>
          <p:cNvPicPr preferRelativeResize="0"/>
          <p:nvPr/>
        </p:nvPicPr>
        <p:blipFill rotWithShape="1">
          <a:blip r:embed="rId7">
            <a:alphaModFix/>
          </a:blip>
          <a:srcRect b="0" l="0" r="39423" t="0"/>
          <a:stretch/>
        </p:blipFill>
        <p:spPr>
          <a:xfrm>
            <a:off x="7719075" y="0"/>
            <a:ext cx="2817299" cy="6857999"/>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12" name="Shape 412"/>
        <p:cNvGrpSpPr/>
        <p:nvPr/>
      </p:nvGrpSpPr>
      <p:grpSpPr>
        <a:xfrm>
          <a:off x="0" y="0"/>
          <a:ext cx="0" cy="0"/>
          <a:chOff x="0" y="0"/>
          <a:chExt cx="0" cy="0"/>
        </a:xfrm>
      </p:grpSpPr>
      <p:sp>
        <p:nvSpPr>
          <p:cNvPr id="413" name="Google Shape;413;p48"/>
          <p:cNvSpPr txBox="1"/>
          <p:nvPr/>
        </p:nvSpPr>
        <p:spPr>
          <a:xfrm>
            <a:off x="301752" y="182880"/>
            <a:ext cx="7772400" cy="430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 sz="2200" u="none" cap="none" strike="noStrike">
                <a:solidFill>
                  <a:srgbClr val="212121"/>
                </a:solidFill>
                <a:latin typeface="Lato"/>
                <a:ea typeface="Lato"/>
                <a:cs typeface="Lato"/>
                <a:sym typeface="Lato"/>
              </a:rPr>
              <a:t>Database Overview — </a:t>
            </a:r>
            <a:r>
              <a:rPr b="1" lang="en" sz="2200">
                <a:solidFill>
                  <a:schemeClr val="accent2"/>
                </a:solidFill>
                <a:latin typeface="Lato"/>
                <a:ea typeface="Lato"/>
                <a:cs typeface="Lato"/>
                <a:sym typeface="Lato"/>
              </a:rPr>
              <a:t>What Does MCB3 Vote On?</a:t>
            </a:r>
            <a:endParaRPr b="1">
              <a:latin typeface="Lato"/>
              <a:ea typeface="Lato"/>
              <a:cs typeface="Lato"/>
              <a:sym typeface="Lato"/>
            </a:endParaRPr>
          </a:p>
        </p:txBody>
      </p:sp>
      <p:sp>
        <p:nvSpPr>
          <p:cNvPr id="414" name="Google Shape;414;p48"/>
          <p:cNvSpPr/>
          <p:nvPr/>
        </p:nvSpPr>
        <p:spPr>
          <a:xfrm>
            <a:off x="0" y="841248"/>
            <a:ext cx="9144000" cy="41100"/>
          </a:xfrm>
          <a:prstGeom prst="rect">
            <a:avLst/>
          </a:prstGeom>
          <a:solidFill>
            <a:srgbClr val="4285F4"/>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15" name="Google Shape;415;p48"/>
          <p:cNvSpPr txBox="1"/>
          <p:nvPr/>
        </p:nvSpPr>
        <p:spPr>
          <a:xfrm>
            <a:off x="3246120" y="1051560"/>
            <a:ext cx="2788800" cy="7080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i="0" lang="en" sz="4000" u="none" cap="none" strike="noStrike">
                <a:solidFill>
                  <a:srgbClr val="4285F4"/>
                </a:solidFill>
                <a:latin typeface="Lato"/>
                <a:ea typeface="Lato"/>
                <a:cs typeface="Lato"/>
                <a:sym typeface="Lato"/>
              </a:rPr>
              <a:t>6,511</a:t>
            </a:r>
            <a:endParaRPr sz="2000">
              <a:latin typeface="Lato"/>
              <a:ea typeface="Lato"/>
              <a:cs typeface="Lato"/>
              <a:sym typeface="Lato"/>
            </a:endParaRPr>
          </a:p>
        </p:txBody>
      </p:sp>
      <p:sp>
        <p:nvSpPr>
          <p:cNvPr id="416" name="Google Shape;416;p48"/>
          <p:cNvSpPr txBox="1"/>
          <p:nvPr/>
        </p:nvSpPr>
        <p:spPr>
          <a:xfrm>
            <a:off x="3246120" y="1802662"/>
            <a:ext cx="2788800" cy="3540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i="0" lang="en" sz="1700" u="none" cap="none" strike="noStrike">
                <a:solidFill>
                  <a:srgbClr val="757575"/>
                </a:solidFill>
                <a:latin typeface="Lato"/>
                <a:ea typeface="Lato"/>
                <a:cs typeface="Lato"/>
                <a:sym typeface="Lato"/>
              </a:rPr>
              <a:t>Total resolutions</a:t>
            </a:r>
            <a:endParaRPr sz="2000">
              <a:latin typeface="Lato"/>
              <a:ea typeface="Lato"/>
              <a:cs typeface="Lato"/>
              <a:sym typeface="Lato"/>
            </a:endParaRPr>
          </a:p>
        </p:txBody>
      </p:sp>
      <p:sp>
        <p:nvSpPr>
          <p:cNvPr id="417" name="Google Shape;417;p48"/>
          <p:cNvSpPr txBox="1"/>
          <p:nvPr/>
        </p:nvSpPr>
        <p:spPr>
          <a:xfrm>
            <a:off x="6190488" y="1051560"/>
            <a:ext cx="2788800" cy="7080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 sz="4000">
                <a:solidFill>
                  <a:srgbClr val="4285F4"/>
                </a:solidFill>
                <a:latin typeface="Lato"/>
                <a:ea typeface="Lato"/>
                <a:cs typeface="Lato"/>
                <a:sym typeface="Lato"/>
              </a:rPr>
              <a:t>21,593</a:t>
            </a:r>
            <a:endParaRPr sz="2000">
              <a:latin typeface="Lato"/>
              <a:ea typeface="Lato"/>
              <a:cs typeface="Lato"/>
              <a:sym typeface="Lato"/>
            </a:endParaRPr>
          </a:p>
        </p:txBody>
      </p:sp>
      <p:sp>
        <p:nvSpPr>
          <p:cNvPr id="418" name="Google Shape;418;p48"/>
          <p:cNvSpPr txBox="1"/>
          <p:nvPr/>
        </p:nvSpPr>
        <p:spPr>
          <a:xfrm>
            <a:off x="6190488" y="1802662"/>
            <a:ext cx="2788800" cy="3540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i="0" lang="en" sz="1700" u="none" cap="none" strike="noStrike">
                <a:solidFill>
                  <a:srgbClr val="757575"/>
                </a:solidFill>
                <a:latin typeface="Lato"/>
                <a:ea typeface="Lato"/>
                <a:cs typeface="Lato"/>
                <a:sym typeface="Lato"/>
              </a:rPr>
              <a:t>Paragraph clauses</a:t>
            </a:r>
            <a:endParaRPr sz="2000">
              <a:latin typeface="Lato"/>
              <a:ea typeface="Lato"/>
              <a:cs typeface="Lato"/>
              <a:sym typeface="Lato"/>
            </a:endParaRPr>
          </a:p>
        </p:txBody>
      </p:sp>
      <p:sp>
        <p:nvSpPr>
          <p:cNvPr id="419" name="Google Shape;419;p48"/>
          <p:cNvSpPr/>
          <p:nvPr/>
        </p:nvSpPr>
        <p:spPr>
          <a:xfrm>
            <a:off x="301739" y="2504453"/>
            <a:ext cx="8540400" cy="36600"/>
          </a:xfrm>
          <a:prstGeom prst="rect">
            <a:avLst/>
          </a:prstGeom>
          <a:solidFill>
            <a:srgbClr val="EEEEEE"/>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400" u="none" cap="none" strike="noStrike">
              <a:solidFill>
                <a:schemeClr val="dk1"/>
              </a:solidFill>
              <a:latin typeface="Calibri"/>
              <a:ea typeface="Calibri"/>
              <a:cs typeface="Calibri"/>
              <a:sym typeface="Calibri"/>
            </a:endParaRPr>
          </a:p>
        </p:txBody>
      </p:sp>
      <p:sp>
        <p:nvSpPr>
          <p:cNvPr id="420" name="Google Shape;420;p48"/>
          <p:cNvSpPr txBox="1"/>
          <p:nvPr/>
        </p:nvSpPr>
        <p:spPr>
          <a:xfrm>
            <a:off x="301752" y="1094645"/>
            <a:ext cx="2788800" cy="7080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i="0" lang="en" sz="4000" u="none" cap="none" strike="noStrike">
                <a:solidFill>
                  <a:srgbClr val="4285F4"/>
                </a:solidFill>
                <a:latin typeface="Lato"/>
                <a:ea typeface="Lato"/>
                <a:cs typeface="Lato"/>
                <a:sym typeface="Lato"/>
              </a:rPr>
              <a:t>26.9</a:t>
            </a:r>
            <a:endParaRPr sz="2000">
              <a:latin typeface="Lato"/>
              <a:ea typeface="Lato"/>
              <a:cs typeface="Lato"/>
              <a:sym typeface="Lato"/>
            </a:endParaRPr>
          </a:p>
        </p:txBody>
      </p:sp>
      <p:sp>
        <p:nvSpPr>
          <p:cNvPr id="421" name="Google Shape;421;p48"/>
          <p:cNvSpPr txBox="1"/>
          <p:nvPr/>
        </p:nvSpPr>
        <p:spPr>
          <a:xfrm>
            <a:off x="301752" y="1845746"/>
            <a:ext cx="2788800" cy="6156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i="0" lang="en" sz="1700" u="none" cap="none" strike="noStrike">
                <a:solidFill>
                  <a:srgbClr val="757575"/>
                </a:solidFill>
                <a:latin typeface="Lato"/>
                <a:ea typeface="Lato"/>
                <a:cs typeface="Lato"/>
                <a:sym typeface="Lato"/>
              </a:rPr>
              <a:t>Avg resolutions</a:t>
            </a:r>
            <a:br>
              <a:rPr i="0" lang="en" sz="1700" u="none" cap="none" strike="noStrike">
                <a:solidFill>
                  <a:srgbClr val="757575"/>
                </a:solidFill>
                <a:latin typeface="Lato"/>
                <a:ea typeface="Lato"/>
                <a:cs typeface="Lato"/>
                <a:sym typeface="Lato"/>
              </a:rPr>
            </a:br>
            <a:r>
              <a:rPr i="0" lang="en" sz="1700" u="none" cap="none" strike="noStrike">
                <a:solidFill>
                  <a:srgbClr val="757575"/>
                </a:solidFill>
                <a:latin typeface="Lato"/>
                <a:ea typeface="Lato"/>
                <a:cs typeface="Lato"/>
                <a:sym typeface="Lato"/>
              </a:rPr>
              <a:t>per meeting</a:t>
            </a:r>
            <a:endParaRPr sz="2000">
              <a:latin typeface="Lato"/>
              <a:ea typeface="Lato"/>
              <a:cs typeface="Lato"/>
              <a:sym typeface="Lato"/>
            </a:endParaRPr>
          </a:p>
        </p:txBody>
      </p:sp>
      <p:grpSp>
        <p:nvGrpSpPr>
          <p:cNvPr id="422" name="Google Shape;422;p48"/>
          <p:cNvGrpSpPr/>
          <p:nvPr/>
        </p:nvGrpSpPr>
        <p:grpSpPr>
          <a:xfrm>
            <a:off x="923061" y="2665519"/>
            <a:ext cx="6940783" cy="2801523"/>
            <a:chOff x="301752" y="3009327"/>
            <a:chExt cx="8540400" cy="3447180"/>
          </a:xfrm>
        </p:grpSpPr>
        <p:sp>
          <p:nvSpPr>
            <p:cNvPr id="423" name="Google Shape;423;p48"/>
            <p:cNvSpPr txBox="1"/>
            <p:nvPr/>
          </p:nvSpPr>
          <p:spPr>
            <a:xfrm>
              <a:off x="301752" y="3009327"/>
              <a:ext cx="8540400" cy="307800"/>
            </a:xfrm>
            <a:prstGeom prst="rect">
              <a:avLst/>
            </a:prstGeom>
            <a:noFill/>
            <a:ln>
              <a:noFill/>
            </a:ln>
          </p:spPr>
          <p:txBody>
            <a:bodyPr anchorCtr="0" anchor="t" bIns="37175" lIns="74300" spcFirstLastPara="1" rIns="74300" wrap="square" tIns="37175">
              <a:spAutoFit/>
            </a:bodyPr>
            <a:lstStyle/>
            <a:p>
              <a:pPr indent="0" lvl="0" marL="0" marR="0" rtl="0" algn="l">
                <a:spcBef>
                  <a:spcPts val="0"/>
                </a:spcBef>
                <a:spcAft>
                  <a:spcPts val="0"/>
                </a:spcAft>
                <a:buNone/>
              </a:pPr>
              <a:r>
                <a:rPr i="0" lang="en" sz="1138" u="none" cap="none" strike="noStrike">
                  <a:solidFill>
                    <a:srgbClr val="757575"/>
                  </a:solidFill>
                  <a:latin typeface="Lato"/>
                  <a:ea typeface="Lato"/>
                  <a:cs typeface="Lato"/>
                  <a:sym typeface="Lato"/>
                </a:rPr>
                <a:t>Keyword frequency across 6,511 resolution titles:</a:t>
              </a:r>
              <a:endParaRPr sz="1300">
                <a:latin typeface="Lato"/>
                <a:ea typeface="Lato"/>
                <a:cs typeface="Lato"/>
                <a:sym typeface="Lato"/>
              </a:endParaRPr>
            </a:p>
          </p:txBody>
        </p:sp>
        <p:sp>
          <p:nvSpPr>
            <p:cNvPr id="424" name="Google Shape;424;p48"/>
            <p:cNvSpPr txBox="1"/>
            <p:nvPr/>
          </p:nvSpPr>
          <p:spPr>
            <a:xfrm>
              <a:off x="301752" y="3466527"/>
              <a:ext cx="1783200" cy="323400"/>
            </a:xfrm>
            <a:prstGeom prst="rect">
              <a:avLst/>
            </a:prstGeom>
            <a:noFill/>
            <a:ln>
              <a:noFill/>
            </a:ln>
          </p:spPr>
          <p:txBody>
            <a:bodyPr anchorCtr="0" anchor="t" bIns="37175" lIns="74300" spcFirstLastPara="1" rIns="74300" wrap="square" tIns="37175">
              <a:spAutoFit/>
            </a:bodyPr>
            <a:lstStyle/>
            <a:p>
              <a:pPr indent="0" lvl="0" marL="0" marR="0" rtl="0" algn="l">
                <a:spcBef>
                  <a:spcPts val="0"/>
                </a:spcBef>
                <a:spcAft>
                  <a:spcPts val="0"/>
                </a:spcAft>
                <a:buNone/>
              </a:pPr>
              <a:r>
                <a:rPr i="0" lang="en" sz="1219" u="none" cap="none" strike="noStrike">
                  <a:solidFill>
                    <a:srgbClr val="212121"/>
                  </a:solidFill>
                  <a:latin typeface="Lato"/>
                  <a:ea typeface="Lato"/>
                  <a:cs typeface="Lato"/>
                  <a:sym typeface="Lato"/>
                </a:rPr>
                <a:t>Deny</a:t>
              </a:r>
              <a:endParaRPr sz="1219">
                <a:latin typeface="Lato"/>
                <a:ea typeface="Lato"/>
                <a:cs typeface="Lato"/>
                <a:sym typeface="Lato"/>
              </a:endParaRPr>
            </a:p>
          </p:txBody>
        </p:sp>
        <p:sp>
          <p:nvSpPr>
            <p:cNvPr id="425" name="Google Shape;425;p48"/>
            <p:cNvSpPr/>
            <p:nvPr/>
          </p:nvSpPr>
          <p:spPr>
            <a:xfrm>
              <a:off x="2212848" y="3512247"/>
              <a:ext cx="4767000" cy="292500"/>
            </a:xfrm>
            <a:prstGeom prst="rect">
              <a:avLst/>
            </a:prstGeom>
            <a:solidFill>
              <a:srgbClr val="4285F4"/>
            </a:solidFill>
            <a:ln>
              <a:noFill/>
            </a:ln>
            <a:effectLst>
              <a:outerShdw blurRad="32510" rotWithShape="0" dir="5400000" dist="18693">
                <a:srgbClr val="000000">
                  <a:alpha val="34900"/>
                </a:srgbClr>
              </a:outerShdw>
            </a:effectLst>
          </p:spPr>
          <p:txBody>
            <a:bodyPr anchorCtr="0" anchor="ctr" bIns="37175" lIns="74300" spcFirstLastPara="1" rIns="74300" wrap="square" tIns="37175">
              <a:noAutofit/>
            </a:bodyPr>
            <a:lstStyle/>
            <a:p>
              <a:pPr indent="0" lvl="0" marL="0" marR="0" rtl="0" algn="ctr">
                <a:spcBef>
                  <a:spcPts val="0"/>
                </a:spcBef>
                <a:spcAft>
                  <a:spcPts val="0"/>
                </a:spcAft>
                <a:buNone/>
              </a:pPr>
              <a:r>
                <a:t/>
              </a:r>
              <a:endParaRPr i="0" sz="1544" u="none" cap="none" strike="noStrike">
                <a:solidFill>
                  <a:schemeClr val="dk1"/>
                </a:solidFill>
                <a:latin typeface="Lato"/>
                <a:ea typeface="Lato"/>
                <a:cs typeface="Lato"/>
                <a:sym typeface="Lato"/>
              </a:endParaRPr>
            </a:p>
          </p:txBody>
        </p:sp>
        <p:sp>
          <p:nvSpPr>
            <p:cNvPr id="426" name="Google Shape;426;p48"/>
            <p:cNvSpPr txBox="1"/>
            <p:nvPr/>
          </p:nvSpPr>
          <p:spPr>
            <a:xfrm>
              <a:off x="7107721" y="3515500"/>
              <a:ext cx="1554600" cy="292500"/>
            </a:xfrm>
            <a:prstGeom prst="rect">
              <a:avLst/>
            </a:prstGeom>
            <a:noFill/>
            <a:ln>
              <a:noFill/>
            </a:ln>
          </p:spPr>
          <p:txBody>
            <a:bodyPr anchorCtr="0" anchor="t" bIns="37175" lIns="74300" spcFirstLastPara="1" rIns="74300" wrap="square" tIns="37175">
              <a:spAutoFit/>
            </a:bodyPr>
            <a:lstStyle/>
            <a:p>
              <a:pPr indent="0" lvl="0" marL="0" marR="0" rtl="0" algn="l">
                <a:spcBef>
                  <a:spcPts val="0"/>
                </a:spcBef>
                <a:spcAft>
                  <a:spcPts val="0"/>
                </a:spcAft>
                <a:buNone/>
              </a:pPr>
              <a:r>
                <a:rPr i="0" lang="en" sz="1057" u="none" cap="none" strike="noStrike">
                  <a:solidFill>
                    <a:srgbClr val="212121"/>
                  </a:solidFill>
                  <a:latin typeface="Lato"/>
                  <a:ea typeface="Lato"/>
                  <a:cs typeface="Lato"/>
                  <a:sym typeface="Lato"/>
                </a:rPr>
                <a:t>2,546  (39.1%)</a:t>
              </a:r>
              <a:endParaRPr sz="1219">
                <a:latin typeface="Lato"/>
                <a:ea typeface="Lato"/>
                <a:cs typeface="Lato"/>
                <a:sym typeface="Lato"/>
              </a:endParaRPr>
            </a:p>
          </p:txBody>
        </p:sp>
        <p:sp>
          <p:nvSpPr>
            <p:cNvPr id="427" name="Google Shape;427;p48"/>
            <p:cNvSpPr txBox="1"/>
            <p:nvPr/>
          </p:nvSpPr>
          <p:spPr>
            <a:xfrm>
              <a:off x="301752" y="3996879"/>
              <a:ext cx="1783200" cy="323400"/>
            </a:xfrm>
            <a:prstGeom prst="rect">
              <a:avLst/>
            </a:prstGeom>
            <a:noFill/>
            <a:ln>
              <a:noFill/>
            </a:ln>
          </p:spPr>
          <p:txBody>
            <a:bodyPr anchorCtr="0" anchor="t" bIns="37175" lIns="74300" spcFirstLastPara="1" rIns="74300" wrap="square" tIns="37175">
              <a:spAutoFit/>
            </a:bodyPr>
            <a:lstStyle/>
            <a:p>
              <a:pPr indent="0" lvl="0" marL="0" marR="0" rtl="0" algn="l">
                <a:spcBef>
                  <a:spcPts val="0"/>
                </a:spcBef>
                <a:spcAft>
                  <a:spcPts val="0"/>
                </a:spcAft>
                <a:buNone/>
              </a:pPr>
              <a:r>
                <a:rPr i="0" lang="en" sz="1219" u="none" cap="none" strike="noStrike">
                  <a:solidFill>
                    <a:srgbClr val="212121"/>
                  </a:solidFill>
                  <a:latin typeface="Lato"/>
                  <a:ea typeface="Lato"/>
                  <a:cs typeface="Lato"/>
                  <a:sym typeface="Lato"/>
                </a:rPr>
                <a:t>Approve/Approval</a:t>
              </a:r>
              <a:endParaRPr sz="1219">
                <a:latin typeface="Lato"/>
                <a:ea typeface="Lato"/>
                <a:cs typeface="Lato"/>
                <a:sym typeface="Lato"/>
              </a:endParaRPr>
            </a:p>
          </p:txBody>
        </p:sp>
        <p:sp>
          <p:nvSpPr>
            <p:cNvPr id="428" name="Google Shape;428;p48"/>
            <p:cNvSpPr/>
            <p:nvPr/>
          </p:nvSpPr>
          <p:spPr>
            <a:xfrm>
              <a:off x="2212848" y="4042599"/>
              <a:ext cx="2853000" cy="292500"/>
            </a:xfrm>
            <a:prstGeom prst="rect">
              <a:avLst/>
            </a:prstGeom>
            <a:solidFill>
              <a:srgbClr val="0097A7"/>
            </a:solidFill>
            <a:ln>
              <a:noFill/>
            </a:ln>
            <a:effectLst>
              <a:outerShdw blurRad="32510" rotWithShape="0" dir="5400000" dist="18693">
                <a:srgbClr val="000000">
                  <a:alpha val="34900"/>
                </a:srgbClr>
              </a:outerShdw>
            </a:effectLst>
          </p:spPr>
          <p:txBody>
            <a:bodyPr anchorCtr="0" anchor="ctr" bIns="37175" lIns="74300" spcFirstLastPara="1" rIns="74300" wrap="square" tIns="37175">
              <a:noAutofit/>
            </a:bodyPr>
            <a:lstStyle/>
            <a:p>
              <a:pPr indent="0" lvl="0" marL="0" marR="0" rtl="0" algn="ctr">
                <a:spcBef>
                  <a:spcPts val="0"/>
                </a:spcBef>
                <a:spcAft>
                  <a:spcPts val="0"/>
                </a:spcAft>
                <a:buNone/>
              </a:pPr>
              <a:r>
                <a:t/>
              </a:r>
              <a:endParaRPr i="0" sz="1544" u="none" cap="none" strike="noStrike">
                <a:solidFill>
                  <a:schemeClr val="dk1"/>
                </a:solidFill>
                <a:latin typeface="Lato"/>
                <a:ea typeface="Lato"/>
                <a:cs typeface="Lato"/>
                <a:sym typeface="Lato"/>
              </a:endParaRPr>
            </a:p>
          </p:txBody>
        </p:sp>
        <p:sp>
          <p:nvSpPr>
            <p:cNvPr id="429" name="Google Shape;429;p48"/>
            <p:cNvSpPr txBox="1"/>
            <p:nvPr/>
          </p:nvSpPr>
          <p:spPr>
            <a:xfrm>
              <a:off x="5193729" y="4028302"/>
              <a:ext cx="1554600" cy="292500"/>
            </a:xfrm>
            <a:prstGeom prst="rect">
              <a:avLst/>
            </a:prstGeom>
            <a:noFill/>
            <a:ln>
              <a:noFill/>
            </a:ln>
          </p:spPr>
          <p:txBody>
            <a:bodyPr anchorCtr="0" anchor="t" bIns="37175" lIns="74300" spcFirstLastPara="1" rIns="74300" wrap="square" tIns="37175">
              <a:spAutoFit/>
            </a:bodyPr>
            <a:lstStyle/>
            <a:p>
              <a:pPr indent="0" lvl="0" marL="0" marR="0" rtl="0" algn="l">
                <a:spcBef>
                  <a:spcPts val="0"/>
                </a:spcBef>
                <a:spcAft>
                  <a:spcPts val="0"/>
                </a:spcAft>
                <a:buNone/>
              </a:pPr>
              <a:r>
                <a:rPr i="0" lang="en" sz="1057" u="none" cap="none" strike="noStrike">
                  <a:solidFill>
                    <a:srgbClr val="212121"/>
                  </a:solidFill>
                  <a:latin typeface="Lato"/>
                  <a:ea typeface="Lato"/>
                  <a:cs typeface="Lato"/>
                  <a:sym typeface="Lato"/>
                </a:rPr>
                <a:t>1,526  (23.4%)</a:t>
              </a:r>
              <a:endParaRPr sz="1219">
                <a:latin typeface="Lato"/>
                <a:ea typeface="Lato"/>
                <a:cs typeface="Lato"/>
                <a:sym typeface="Lato"/>
              </a:endParaRPr>
            </a:p>
          </p:txBody>
        </p:sp>
        <p:sp>
          <p:nvSpPr>
            <p:cNvPr id="430" name="Google Shape;430;p48"/>
            <p:cNvSpPr txBox="1"/>
            <p:nvPr/>
          </p:nvSpPr>
          <p:spPr>
            <a:xfrm>
              <a:off x="301752" y="4527231"/>
              <a:ext cx="1783200" cy="323400"/>
            </a:xfrm>
            <a:prstGeom prst="rect">
              <a:avLst/>
            </a:prstGeom>
            <a:noFill/>
            <a:ln>
              <a:noFill/>
            </a:ln>
          </p:spPr>
          <p:txBody>
            <a:bodyPr anchorCtr="0" anchor="t" bIns="37175" lIns="74300" spcFirstLastPara="1" rIns="74300" wrap="square" tIns="37175">
              <a:spAutoFit/>
            </a:bodyPr>
            <a:lstStyle/>
            <a:p>
              <a:pPr indent="0" lvl="0" marL="0" marR="0" rtl="0" algn="l">
                <a:spcBef>
                  <a:spcPts val="0"/>
                </a:spcBef>
                <a:spcAft>
                  <a:spcPts val="0"/>
                </a:spcAft>
                <a:buNone/>
              </a:pPr>
              <a:r>
                <a:rPr i="0" lang="en" sz="1219" u="none" cap="none" strike="noStrike">
                  <a:solidFill>
                    <a:srgbClr val="212121"/>
                  </a:solidFill>
                  <a:latin typeface="Lato"/>
                  <a:ea typeface="Lato"/>
                  <a:cs typeface="Lato"/>
                  <a:sym typeface="Lato"/>
                </a:rPr>
                <a:t>Recommend</a:t>
              </a:r>
              <a:endParaRPr sz="1219">
                <a:latin typeface="Lato"/>
                <a:ea typeface="Lato"/>
                <a:cs typeface="Lato"/>
                <a:sym typeface="Lato"/>
              </a:endParaRPr>
            </a:p>
          </p:txBody>
        </p:sp>
        <p:sp>
          <p:nvSpPr>
            <p:cNvPr id="431" name="Google Shape;431;p48"/>
            <p:cNvSpPr/>
            <p:nvPr/>
          </p:nvSpPr>
          <p:spPr>
            <a:xfrm>
              <a:off x="2212848" y="4572951"/>
              <a:ext cx="2499300" cy="292500"/>
            </a:xfrm>
            <a:prstGeom prst="rect">
              <a:avLst/>
            </a:prstGeom>
            <a:solidFill>
              <a:srgbClr val="7C3AED"/>
            </a:solidFill>
            <a:ln>
              <a:noFill/>
            </a:ln>
            <a:effectLst>
              <a:outerShdw blurRad="32510" rotWithShape="0" dir="5400000" dist="18693">
                <a:srgbClr val="000000">
                  <a:alpha val="34900"/>
                </a:srgbClr>
              </a:outerShdw>
            </a:effectLst>
          </p:spPr>
          <p:txBody>
            <a:bodyPr anchorCtr="0" anchor="ctr" bIns="37175" lIns="74300" spcFirstLastPara="1" rIns="74300" wrap="square" tIns="37175">
              <a:noAutofit/>
            </a:bodyPr>
            <a:lstStyle/>
            <a:p>
              <a:pPr indent="0" lvl="0" marL="0" marR="0" rtl="0" algn="ctr">
                <a:spcBef>
                  <a:spcPts val="0"/>
                </a:spcBef>
                <a:spcAft>
                  <a:spcPts val="0"/>
                </a:spcAft>
                <a:buNone/>
              </a:pPr>
              <a:r>
                <a:t/>
              </a:r>
              <a:endParaRPr i="0" sz="1544" u="none" cap="none" strike="noStrike">
                <a:solidFill>
                  <a:schemeClr val="dk1"/>
                </a:solidFill>
                <a:latin typeface="Lato"/>
                <a:ea typeface="Lato"/>
                <a:cs typeface="Lato"/>
                <a:sym typeface="Lato"/>
              </a:endParaRPr>
            </a:p>
          </p:txBody>
        </p:sp>
        <p:sp>
          <p:nvSpPr>
            <p:cNvPr id="432" name="Google Shape;432;p48"/>
            <p:cNvSpPr txBox="1"/>
            <p:nvPr/>
          </p:nvSpPr>
          <p:spPr>
            <a:xfrm>
              <a:off x="4840039" y="4544381"/>
              <a:ext cx="1554600" cy="292500"/>
            </a:xfrm>
            <a:prstGeom prst="rect">
              <a:avLst/>
            </a:prstGeom>
            <a:noFill/>
            <a:ln>
              <a:noFill/>
            </a:ln>
          </p:spPr>
          <p:txBody>
            <a:bodyPr anchorCtr="0" anchor="t" bIns="37175" lIns="74300" spcFirstLastPara="1" rIns="74300" wrap="square" tIns="37175">
              <a:spAutoFit/>
            </a:bodyPr>
            <a:lstStyle/>
            <a:p>
              <a:pPr indent="0" lvl="0" marL="0" marR="0" rtl="0" algn="l">
                <a:spcBef>
                  <a:spcPts val="0"/>
                </a:spcBef>
                <a:spcAft>
                  <a:spcPts val="0"/>
                </a:spcAft>
                <a:buNone/>
              </a:pPr>
              <a:r>
                <a:rPr i="0" lang="en" sz="1057" u="none" cap="none" strike="noStrike">
                  <a:solidFill>
                    <a:srgbClr val="212121"/>
                  </a:solidFill>
                  <a:latin typeface="Lato"/>
                  <a:ea typeface="Lato"/>
                  <a:cs typeface="Lato"/>
                  <a:sym typeface="Lato"/>
                </a:rPr>
                <a:t>1,336  (20.5%)</a:t>
              </a:r>
              <a:endParaRPr sz="1219">
                <a:latin typeface="Lato"/>
                <a:ea typeface="Lato"/>
                <a:cs typeface="Lato"/>
                <a:sym typeface="Lato"/>
              </a:endParaRPr>
            </a:p>
          </p:txBody>
        </p:sp>
        <p:sp>
          <p:nvSpPr>
            <p:cNvPr id="433" name="Google Shape;433;p48"/>
            <p:cNvSpPr txBox="1"/>
            <p:nvPr/>
          </p:nvSpPr>
          <p:spPr>
            <a:xfrm>
              <a:off x="301752" y="5057583"/>
              <a:ext cx="1783200" cy="323400"/>
            </a:xfrm>
            <a:prstGeom prst="rect">
              <a:avLst/>
            </a:prstGeom>
            <a:noFill/>
            <a:ln>
              <a:noFill/>
            </a:ln>
          </p:spPr>
          <p:txBody>
            <a:bodyPr anchorCtr="0" anchor="t" bIns="37175" lIns="74300" spcFirstLastPara="1" rIns="74300" wrap="square" tIns="37175">
              <a:spAutoFit/>
            </a:bodyPr>
            <a:lstStyle/>
            <a:p>
              <a:pPr indent="0" lvl="0" marL="0" marR="0" rtl="0" algn="l">
                <a:spcBef>
                  <a:spcPts val="0"/>
                </a:spcBef>
                <a:spcAft>
                  <a:spcPts val="0"/>
                </a:spcAft>
                <a:buNone/>
              </a:pPr>
              <a:r>
                <a:rPr i="0" lang="en" sz="1219" u="none" cap="none" strike="noStrike">
                  <a:solidFill>
                    <a:srgbClr val="212121"/>
                  </a:solidFill>
                  <a:latin typeface="Lato"/>
                  <a:ea typeface="Lato"/>
                  <a:cs typeface="Lato"/>
                  <a:sym typeface="Lato"/>
                </a:rPr>
                <a:t>Support</a:t>
              </a:r>
              <a:endParaRPr sz="1219">
                <a:latin typeface="Lato"/>
                <a:ea typeface="Lato"/>
                <a:cs typeface="Lato"/>
                <a:sym typeface="Lato"/>
              </a:endParaRPr>
            </a:p>
          </p:txBody>
        </p:sp>
        <p:sp>
          <p:nvSpPr>
            <p:cNvPr id="434" name="Google Shape;434;p48"/>
            <p:cNvSpPr/>
            <p:nvPr/>
          </p:nvSpPr>
          <p:spPr>
            <a:xfrm>
              <a:off x="2212848" y="5103303"/>
              <a:ext cx="1341000" cy="292500"/>
            </a:xfrm>
            <a:prstGeom prst="rect">
              <a:avLst/>
            </a:prstGeom>
            <a:solidFill>
              <a:srgbClr val="EA580C"/>
            </a:solidFill>
            <a:ln>
              <a:noFill/>
            </a:ln>
            <a:effectLst>
              <a:outerShdw blurRad="32510" rotWithShape="0" dir="5400000" dist="18693">
                <a:srgbClr val="000000">
                  <a:alpha val="34900"/>
                </a:srgbClr>
              </a:outerShdw>
            </a:effectLst>
          </p:spPr>
          <p:txBody>
            <a:bodyPr anchorCtr="0" anchor="ctr" bIns="37175" lIns="74300" spcFirstLastPara="1" rIns="74300" wrap="square" tIns="37175">
              <a:noAutofit/>
            </a:bodyPr>
            <a:lstStyle/>
            <a:p>
              <a:pPr indent="0" lvl="0" marL="0" marR="0" rtl="0" algn="ctr">
                <a:spcBef>
                  <a:spcPts val="0"/>
                </a:spcBef>
                <a:spcAft>
                  <a:spcPts val="0"/>
                </a:spcAft>
                <a:buNone/>
              </a:pPr>
              <a:r>
                <a:t/>
              </a:r>
              <a:endParaRPr i="0" sz="1544" u="none" cap="none" strike="noStrike">
                <a:solidFill>
                  <a:schemeClr val="dk1"/>
                </a:solidFill>
                <a:latin typeface="Lato"/>
                <a:ea typeface="Lato"/>
                <a:cs typeface="Lato"/>
                <a:sym typeface="Lato"/>
              </a:endParaRPr>
            </a:p>
          </p:txBody>
        </p:sp>
        <p:sp>
          <p:nvSpPr>
            <p:cNvPr id="435" name="Google Shape;435;p48"/>
            <p:cNvSpPr txBox="1"/>
            <p:nvPr/>
          </p:nvSpPr>
          <p:spPr>
            <a:xfrm>
              <a:off x="3681737" y="5091882"/>
              <a:ext cx="1554600" cy="292500"/>
            </a:xfrm>
            <a:prstGeom prst="rect">
              <a:avLst/>
            </a:prstGeom>
            <a:noFill/>
            <a:ln>
              <a:noFill/>
            </a:ln>
          </p:spPr>
          <p:txBody>
            <a:bodyPr anchorCtr="0" anchor="t" bIns="37175" lIns="74300" spcFirstLastPara="1" rIns="74300" wrap="square" tIns="37175">
              <a:spAutoFit/>
            </a:bodyPr>
            <a:lstStyle/>
            <a:p>
              <a:pPr indent="0" lvl="0" marL="0" marR="0" rtl="0" algn="l">
                <a:spcBef>
                  <a:spcPts val="0"/>
                </a:spcBef>
                <a:spcAft>
                  <a:spcPts val="0"/>
                </a:spcAft>
                <a:buNone/>
              </a:pPr>
              <a:r>
                <a:rPr i="0" lang="en" sz="1057" u="none" cap="none" strike="noStrike">
                  <a:solidFill>
                    <a:srgbClr val="212121"/>
                  </a:solidFill>
                  <a:latin typeface="Lato"/>
                  <a:ea typeface="Lato"/>
                  <a:cs typeface="Lato"/>
                  <a:sym typeface="Lato"/>
                </a:rPr>
                <a:t>718  (11.0%)</a:t>
              </a:r>
              <a:endParaRPr sz="1219">
                <a:latin typeface="Lato"/>
                <a:ea typeface="Lato"/>
                <a:cs typeface="Lato"/>
                <a:sym typeface="Lato"/>
              </a:endParaRPr>
            </a:p>
          </p:txBody>
        </p:sp>
        <p:sp>
          <p:nvSpPr>
            <p:cNvPr id="436" name="Google Shape;436;p48"/>
            <p:cNvSpPr txBox="1"/>
            <p:nvPr/>
          </p:nvSpPr>
          <p:spPr>
            <a:xfrm>
              <a:off x="301752" y="5587935"/>
              <a:ext cx="1783200" cy="323400"/>
            </a:xfrm>
            <a:prstGeom prst="rect">
              <a:avLst/>
            </a:prstGeom>
            <a:noFill/>
            <a:ln>
              <a:noFill/>
            </a:ln>
          </p:spPr>
          <p:txBody>
            <a:bodyPr anchorCtr="0" anchor="t" bIns="37175" lIns="74300" spcFirstLastPara="1" rIns="74300" wrap="square" tIns="37175">
              <a:spAutoFit/>
            </a:bodyPr>
            <a:lstStyle/>
            <a:p>
              <a:pPr indent="0" lvl="0" marL="0" marR="0" rtl="0" algn="l">
                <a:spcBef>
                  <a:spcPts val="0"/>
                </a:spcBef>
                <a:spcAft>
                  <a:spcPts val="0"/>
                </a:spcAft>
                <a:buNone/>
              </a:pPr>
              <a:r>
                <a:rPr i="0" lang="en" sz="1219" u="none" cap="none" strike="noStrike">
                  <a:solidFill>
                    <a:srgbClr val="212121"/>
                  </a:solidFill>
                  <a:latin typeface="Lato"/>
                  <a:ea typeface="Lato"/>
                  <a:cs typeface="Lato"/>
                  <a:sym typeface="Lato"/>
                </a:rPr>
                <a:t>Request</a:t>
              </a:r>
              <a:endParaRPr sz="1219">
                <a:latin typeface="Lato"/>
                <a:ea typeface="Lato"/>
                <a:cs typeface="Lato"/>
                <a:sym typeface="Lato"/>
              </a:endParaRPr>
            </a:p>
          </p:txBody>
        </p:sp>
        <p:sp>
          <p:nvSpPr>
            <p:cNvPr id="437" name="Google Shape;437;p48"/>
            <p:cNvSpPr/>
            <p:nvPr/>
          </p:nvSpPr>
          <p:spPr>
            <a:xfrm>
              <a:off x="2212848" y="5633655"/>
              <a:ext cx="877800" cy="292500"/>
            </a:xfrm>
            <a:prstGeom prst="rect">
              <a:avLst/>
            </a:prstGeom>
            <a:solidFill>
              <a:srgbClr val="0E90B5"/>
            </a:solidFill>
            <a:ln>
              <a:noFill/>
            </a:ln>
            <a:effectLst>
              <a:outerShdw blurRad="32510" rotWithShape="0" dir="5400000" dist="18693">
                <a:srgbClr val="000000">
                  <a:alpha val="34900"/>
                </a:srgbClr>
              </a:outerShdw>
            </a:effectLst>
          </p:spPr>
          <p:txBody>
            <a:bodyPr anchorCtr="0" anchor="ctr" bIns="37175" lIns="74300" spcFirstLastPara="1" rIns="74300" wrap="square" tIns="37175">
              <a:noAutofit/>
            </a:bodyPr>
            <a:lstStyle/>
            <a:p>
              <a:pPr indent="0" lvl="0" marL="0" marR="0" rtl="0" algn="ctr">
                <a:spcBef>
                  <a:spcPts val="0"/>
                </a:spcBef>
                <a:spcAft>
                  <a:spcPts val="0"/>
                </a:spcAft>
                <a:buNone/>
              </a:pPr>
              <a:r>
                <a:t/>
              </a:r>
              <a:endParaRPr i="0" sz="1544" u="none" cap="none" strike="noStrike">
                <a:solidFill>
                  <a:schemeClr val="dk1"/>
                </a:solidFill>
                <a:latin typeface="Lato"/>
                <a:ea typeface="Lato"/>
                <a:cs typeface="Lato"/>
                <a:sym typeface="Lato"/>
              </a:endParaRPr>
            </a:p>
          </p:txBody>
        </p:sp>
        <p:sp>
          <p:nvSpPr>
            <p:cNvPr id="438" name="Google Shape;438;p48"/>
            <p:cNvSpPr txBox="1"/>
            <p:nvPr/>
          </p:nvSpPr>
          <p:spPr>
            <a:xfrm>
              <a:off x="3218534" y="5610791"/>
              <a:ext cx="1554600" cy="292500"/>
            </a:xfrm>
            <a:prstGeom prst="rect">
              <a:avLst/>
            </a:prstGeom>
            <a:noFill/>
            <a:ln>
              <a:noFill/>
            </a:ln>
          </p:spPr>
          <p:txBody>
            <a:bodyPr anchorCtr="0" anchor="t" bIns="37175" lIns="74300" spcFirstLastPara="1" rIns="74300" wrap="square" tIns="37175">
              <a:spAutoFit/>
            </a:bodyPr>
            <a:lstStyle/>
            <a:p>
              <a:pPr indent="0" lvl="0" marL="0" marR="0" rtl="0" algn="l">
                <a:spcBef>
                  <a:spcPts val="0"/>
                </a:spcBef>
                <a:spcAft>
                  <a:spcPts val="0"/>
                </a:spcAft>
                <a:buNone/>
              </a:pPr>
              <a:r>
                <a:rPr i="0" lang="en" sz="1057" u="none" cap="none" strike="noStrike">
                  <a:solidFill>
                    <a:srgbClr val="212121"/>
                  </a:solidFill>
                  <a:latin typeface="Lato"/>
                  <a:ea typeface="Lato"/>
                  <a:cs typeface="Lato"/>
                  <a:sym typeface="Lato"/>
                </a:rPr>
                <a:t>471  (7.2%)</a:t>
              </a:r>
              <a:endParaRPr sz="1219">
                <a:latin typeface="Lato"/>
                <a:ea typeface="Lato"/>
                <a:cs typeface="Lato"/>
                <a:sym typeface="Lato"/>
              </a:endParaRPr>
            </a:p>
          </p:txBody>
        </p:sp>
        <p:sp>
          <p:nvSpPr>
            <p:cNvPr id="439" name="Google Shape;439;p48"/>
            <p:cNvSpPr txBox="1"/>
            <p:nvPr/>
          </p:nvSpPr>
          <p:spPr>
            <a:xfrm>
              <a:off x="301752" y="6118287"/>
              <a:ext cx="1783200" cy="323400"/>
            </a:xfrm>
            <a:prstGeom prst="rect">
              <a:avLst/>
            </a:prstGeom>
            <a:noFill/>
            <a:ln>
              <a:noFill/>
            </a:ln>
          </p:spPr>
          <p:txBody>
            <a:bodyPr anchorCtr="0" anchor="t" bIns="37175" lIns="74300" spcFirstLastPara="1" rIns="74300" wrap="square" tIns="37175">
              <a:spAutoFit/>
            </a:bodyPr>
            <a:lstStyle/>
            <a:p>
              <a:pPr indent="0" lvl="0" marL="0" marR="0" rtl="0" algn="l">
                <a:spcBef>
                  <a:spcPts val="0"/>
                </a:spcBef>
                <a:spcAft>
                  <a:spcPts val="0"/>
                </a:spcAft>
                <a:buNone/>
              </a:pPr>
              <a:r>
                <a:rPr i="0" lang="en" sz="1219" u="none" cap="none" strike="noStrike">
                  <a:solidFill>
                    <a:srgbClr val="212121"/>
                  </a:solidFill>
                  <a:latin typeface="Lato"/>
                  <a:ea typeface="Lato"/>
                  <a:cs typeface="Lato"/>
                  <a:sym typeface="Lato"/>
                </a:rPr>
                <a:t>Oppose</a:t>
              </a:r>
              <a:endParaRPr sz="1219">
                <a:latin typeface="Lato"/>
                <a:ea typeface="Lato"/>
                <a:cs typeface="Lato"/>
                <a:sym typeface="Lato"/>
              </a:endParaRPr>
            </a:p>
          </p:txBody>
        </p:sp>
        <p:sp>
          <p:nvSpPr>
            <p:cNvPr id="440" name="Google Shape;440;p48"/>
            <p:cNvSpPr/>
            <p:nvPr/>
          </p:nvSpPr>
          <p:spPr>
            <a:xfrm>
              <a:off x="2212848" y="6164007"/>
              <a:ext cx="73200" cy="292500"/>
            </a:xfrm>
            <a:prstGeom prst="rect">
              <a:avLst/>
            </a:prstGeom>
            <a:solidFill>
              <a:srgbClr val="BE123C"/>
            </a:solidFill>
            <a:ln>
              <a:noFill/>
            </a:ln>
            <a:effectLst>
              <a:outerShdw blurRad="32510" rotWithShape="0" dir="5400000" dist="18693">
                <a:srgbClr val="000000">
                  <a:alpha val="34900"/>
                </a:srgbClr>
              </a:outerShdw>
            </a:effectLst>
          </p:spPr>
          <p:txBody>
            <a:bodyPr anchorCtr="0" anchor="ctr" bIns="37175" lIns="74300" spcFirstLastPara="1" rIns="74300" wrap="square" tIns="37175">
              <a:noAutofit/>
            </a:bodyPr>
            <a:lstStyle/>
            <a:p>
              <a:pPr indent="0" lvl="0" marL="0" marR="0" rtl="0" algn="ctr">
                <a:spcBef>
                  <a:spcPts val="0"/>
                </a:spcBef>
                <a:spcAft>
                  <a:spcPts val="0"/>
                </a:spcAft>
                <a:buNone/>
              </a:pPr>
              <a:r>
                <a:t/>
              </a:r>
              <a:endParaRPr i="0" sz="1544" u="none" cap="none" strike="noStrike">
                <a:solidFill>
                  <a:schemeClr val="dk1"/>
                </a:solidFill>
                <a:latin typeface="Lato"/>
                <a:ea typeface="Lato"/>
                <a:cs typeface="Lato"/>
                <a:sym typeface="Lato"/>
              </a:endParaRPr>
            </a:p>
          </p:txBody>
        </p:sp>
        <p:sp>
          <p:nvSpPr>
            <p:cNvPr id="441" name="Google Shape;441;p48"/>
            <p:cNvSpPr txBox="1"/>
            <p:nvPr/>
          </p:nvSpPr>
          <p:spPr>
            <a:xfrm>
              <a:off x="2413924" y="6159277"/>
              <a:ext cx="1554600" cy="292500"/>
            </a:xfrm>
            <a:prstGeom prst="rect">
              <a:avLst/>
            </a:prstGeom>
            <a:noFill/>
            <a:ln>
              <a:noFill/>
            </a:ln>
          </p:spPr>
          <p:txBody>
            <a:bodyPr anchorCtr="0" anchor="t" bIns="37175" lIns="74300" spcFirstLastPara="1" rIns="74300" wrap="square" tIns="37175">
              <a:spAutoFit/>
            </a:bodyPr>
            <a:lstStyle/>
            <a:p>
              <a:pPr indent="0" lvl="0" marL="0" marR="0" rtl="0" algn="l">
                <a:spcBef>
                  <a:spcPts val="0"/>
                </a:spcBef>
                <a:spcAft>
                  <a:spcPts val="0"/>
                </a:spcAft>
                <a:buNone/>
              </a:pPr>
              <a:r>
                <a:rPr i="0" lang="en" sz="1057" u="none" cap="none" strike="noStrike">
                  <a:solidFill>
                    <a:srgbClr val="212121"/>
                  </a:solidFill>
                  <a:latin typeface="Lato"/>
                  <a:ea typeface="Lato"/>
                  <a:cs typeface="Lato"/>
                  <a:sym typeface="Lato"/>
                </a:rPr>
                <a:t>42  (0.6%)</a:t>
              </a:r>
              <a:endParaRPr sz="1219">
                <a:latin typeface="Lato"/>
                <a:ea typeface="Lato"/>
                <a:cs typeface="Lato"/>
                <a:sym typeface="Lato"/>
              </a:endParaRPr>
            </a:p>
          </p:txBody>
        </p:sp>
      </p:grpSp>
      <p:pic>
        <p:nvPicPr>
          <p:cNvPr id="442" name="Google Shape;442;p48"/>
          <p:cNvPicPr preferRelativeResize="0"/>
          <p:nvPr/>
        </p:nvPicPr>
        <p:blipFill>
          <a:blip r:embed="rId3">
            <a:alphaModFix/>
          </a:blip>
          <a:stretch>
            <a:fillRect/>
          </a:stretch>
        </p:blipFill>
        <p:spPr>
          <a:xfrm>
            <a:off x="803450" y="5671222"/>
            <a:ext cx="7537075" cy="941300"/>
          </a:xfrm>
          <a:prstGeom prst="rect">
            <a:avLst/>
          </a:prstGeom>
          <a:noFill/>
          <a:ln cap="flat" cmpd="sng" w="9525">
            <a:solidFill>
              <a:schemeClr val="dk2"/>
            </a:solidFill>
            <a:prstDash val="solid"/>
            <a:round/>
            <a:headEnd len="sm" w="sm" type="none"/>
            <a:tailEnd len="sm" w="sm" type="none"/>
          </a:ln>
        </p:spPr>
      </p:pic>
      <p:sp>
        <p:nvSpPr>
          <p:cNvPr id="443" name="Google Shape;443;p48"/>
          <p:cNvSpPr/>
          <p:nvPr/>
        </p:nvSpPr>
        <p:spPr>
          <a:xfrm>
            <a:off x="5294350" y="4631925"/>
            <a:ext cx="3046200" cy="790200"/>
          </a:xfrm>
          <a:prstGeom prst="flowChartAlternateProcess">
            <a:avLst/>
          </a:prstGeom>
          <a:solidFill>
            <a:srgbClr val="00BBEA"/>
          </a:solid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b="1" lang="en">
                <a:solidFill>
                  <a:schemeClr val="lt1"/>
                </a:solidFill>
                <a:latin typeface="Lato"/>
                <a:ea typeface="Lato"/>
                <a:cs typeface="Lato"/>
                <a:sym typeface="Lato"/>
              </a:rPr>
              <a:t>Typically they Deny!</a:t>
            </a:r>
            <a:endParaRPr b="1">
              <a:solidFill>
                <a:schemeClr val="lt1"/>
              </a:solidFill>
              <a:latin typeface="Lato"/>
              <a:ea typeface="Lato"/>
              <a:cs typeface="Lato"/>
              <a:sym typeface="Lato"/>
            </a:endParaRPr>
          </a:p>
          <a:p>
            <a:pPr indent="0" lvl="0" marL="0" rtl="0" algn="ctr">
              <a:spcBef>
                <a:spcPts val="0"/>
              </a:spcBef>
              <a:spcAft>
                <a:spcPts val="0"/>
              </a:spcAft>
              <a:buNone/>
            </a:pPr>
            <a:r>
              <a:rPr b="1" i="1" lang="en">
                <a:solidFill>
                  <a:schemeClr val="lt1"/>
                </a:solidFill>
                <a:latin typeface="Lato"/>
                <a:ea typeface="Lato"/>
                <a:cs typeface="Lato"/>
                <a:sym typeface="Lato"/>
              </a:rPr>
              <a:t>(unless stipulations agreed to)</a:t>
            </a:r>
            <a:endParaRPr b="1" i="1">
              <a:solidFill>
                <a:schemeClr val="lt1"/>
              </a:solidFill>
              <a:latin typeface="Lato"/>
              <a:ea typeface="Lato"/>
              <a:cs typeface="Lato"/>
              <a:sym typeface="Lato"/>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7" name="Shape 447"/>
        <p:cNvGrpSpPr/>
        <p:nvPr/>
      </p:nvGrpSpPr>
      <p:grpSpPr>
        <a:xfrm>
          <a:off x="0" y="0"/>
          <a:ext cx="0" cy="0"/>
          <a:chOff x="0" y="0"/>
          <a:chExt cx="0" cy="0"/>
        </a:xfrm>
      </p:grpSpPr>
      <p:sp>
        <p:nvSpPr>
          <p:cNvPr id="448" name="Google Shape;448;p49"/>
          <p:cNvSpPr txBox="1"/>
          <p:nvPr/>
        </p:nvSpPr>
        <p:spPr>
          <a:xfrm>
            <a:off x="301752" y="182880"/>
            <a:ext cx="7772400" cy="430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 sz="2200">
                <a:solidFill>
                  <a:srgbClr val="212121"/>
                </a:solidFill>
                <a:latin typeface="Lato"/>
                <a:ea typeface="Lato"/>
                <a:cs typeface="Lato"/>
                <a:sym typeface="Lato"/>
              </a:rPr>
              <a:t>When Key Community Decisions Become More Accessible</a:t>
            </a:r>
            <a:endParaRPr/>
          </a:p>
        </p:txBody>
      </p:sp>
      <p:sp>
        <p:nvSpPr>
          <p:cNvPr id="449" name="Google Shape;449;p49"/>
          <p:cNvSpPr/>
          <p:nvPr/>
        </p:nvSpPr>
        <p:spPr>
          <a:xfrm>
            <a:off x="0" y="841248"/>
            <a:ext cx="9144000" cy="41100"/>
          </a:xfrm>
          <a:prstGeom prst="rect">
            <a:avLst/>
          </a:prstGeom>
          <a:solidFill>
            <a:srgbClr val="4285F4"/>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50" name="Google Shape;450;p49"/>
          <p:cNvSpPr/>
          <p:nvPr/>
        </p:nvSpPr>
        <p:spPr>
          <a:xfrm>
            <a:off x="210152" y="987552"/>
            <a:ext cx="2798100" cy="5577900"/>
          </a:xfrm>
          <a:prstGeom prst="rect">
            <a:avLst/>
          </a:prstGeom>
          <a:solidFill>
            <a:srgbClr val="F5F5F5"/>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200" u="none" cap="none" strike="noStrike">
              <a:solidFill>
                <a:schemeClr val="dk1"/>
              </a:solidFill>
              <a:latin typeface="Calibri"/>
              <a:ea typeface="Calibri"/>
              <a:cs typeface="Calibri"/>
              <a:sym typeface="Calibri"/>
            </a:endParaRPr>
          </a:p>
        </p:txBody>
      </p:sp>
      <p:sp>
        <p:nvSpPr>
          <p:cNvPr id="451" name="Google Shape;451;p49"/>
          <p:cNvSpPr/>
          <p:nvPr/>
        </p:nvSpPr>
        <p:spPr>
          <a:xfrm>
            <a:off x="210152" y="987552"/>
            <a:ext cx="2798100" cy="749700"/>
          </a:xfrm>
          <a:prstGeom prst="rect">
            <a:avLst/>
          </a:prstGeom>
          <a:solidFill>
            <a:srgbClr val="00BBEA"/>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200" u="none" cap="none" strike="noStrike">
              <a:solidFill>
                <a:schemeClr val="dk1"/>
              </a:solidFill>
              <a:latin typeface="Calibri"/>
              <a:ea typeface="Calibri"/>
              <a:cs typeface="Calibri"/>
              <a:sym typeface="Calibri"/>
            </a:endParaRPr>
          </a:p>
        </p:txBody>
      </p:sp>
      <p:sp>
        <p:nvSpPr>
          <p:cNvPr id="452" name="Google Shape;452;p49"/>
          <p:cNvSpPr txBox="1"/>
          <p:nvPr/>
        </p:nvSpPr>
        <p:spPr>
          <a:xfrm>
            <a:off x="319943" y="1169421"/>
            <a:ext cx="2578500" cy="354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 sz="1700">
                <a:solidFill>
                  <a:srgbClr val="FFFFFF"/>
                </a:solidFill>
                <a:latin typeface="Lato"/>
                <a:ea typeface="Lato"/>
                <a:cs typeface="Lato"/>
                <a:sym typeface="Lato"/>
              </a:rPr>
              <a:t>A</a:t>
            </a:r>
            <a:r>
              <a:rPr b="1" i="0" lang="en" sz="1700" u="none" cap="none" strike="noStrike">
                <a:solidFill>
                  <a:srgbClr val="FFFFFF"/>
                </a:solidFill>
                <a:latin typeface="Lato"/>
                <a:ea typeface="Lato"/>
                <a:cs typeface="Lato"/>
                <a:sym typeface="Lato"/>
              </a:rPr>
              <a:t>nalytic</a:t>
            </a:r>
            <a:r>
              <a:rPr b="1" lang="en" sz="1700">
                <a:solidFill>
                  <a:srgbClr val="FFFFFF"/>
                </a:solidFill>
                <a:latin typeface="Lato"/>
                <a:ea typeface="Lato"/>
                <a:cs typeface="Lato"/>
                <a:sym typeface="Lato"/>
              </a:rPr>
              <a:t>s Opportunity</a:t>
            </a:r>
            <a:endParaRPr b="1" sz="1800">
              <a:latin typeface="Lato"/>
              <a:ea typeface="Lato"/>
              <a:cs typeface="Lato"/>
              <a:sym typeface="Lato"/>
            </a:endParaRPr>
          </a:p>
        </p:txBody>
      </p:sp>
      <p:sp>
        <p:nvSpPr>
          <p:cNvPr id="453" name="Google Shape;453;p49"/>
          <p:cNvSpPr txBox="1"/>
          <p:nvPr/>
        </p:nvSpPr>
        <p:spPr>
          <a:xfrm>
            <a:off x="210150" y="1810500"/>
            <a:ext cx="2798100" cy="3878700"/>
          </a:xfrm>
          <a:prstGeom prst="rect">
            <a:avLst/>
          </a:prstGeom>
          <a:noFill/>
          <a:ln>
            <a:noFill/>
          </a:ln>
        </p:spPr>
        <p:txBody>
          <a:bodyPr anchorCtr="0" anchor="t" bIns="45700" lIns="91425" spcFirstLastPara="1" rIns="91425" wrap="square" tIns="45700">
            <a:spAutoFit/>
          </a:bodyPr>
          <a:lstStyle/>
          <a:p>
            <a:pPr indent="-336550" lvl="0" marL="457200" marR="0" rtl="0" algn="l">
              <a:spcBef>
                <a:spcPts val="1000"/>
              </a:spcBef>
              <a:spcAft>
                <a:spcPts val="0"/>
              </a:spcAft>
              <a:buClr>
                <a:srgbClr val="304D80"/>
              </a:buClr>
              <a:buSzPts val="1700"/>
              <a:buFont typeface="Lato"/>
              <a:buChar char="●"/>
            </a:pPr>
            <a:r>
              <a:rPr b="0" i="0" lang="en" sz="1700" u="none" cap="none" strike="noStrike">
                <a:solidFill>
                  <a:srgbClr val="304D80"/>
                </a:solidFill>
                <a:latin typeface="Lato"/>
                <a:ea typeface="Lato"/>
                <a:cs typeface="Lato"/>
                <a:sym typeface="Lato"/>
              </a:rPr>
              <a:t>Search </a:t>
            </a:r>
            <a:r>
              <a:rPr lang="en" sz="1700">
                <a:solidFill>
                  <a:srgbClr val="304D80"/>
                </a:solidFill>
                <a:latin typeface="Lato"/>
                <a:ea typeface="Lato"/>
                <a:cs typeface="Lato"/>
                <a:sym typeface="Lato"/>
              </a:rPr>
              <a:t>thousands of </a:t>
            </a:r>
            <a:r>
              <a:rPr b="0" i="0" lang="en" sz="1700" u="none" cap="none" strike="noStrike">
                <a:solidFill>
                  <a:srgbClr val="304D80"/>
                </a:solidFill>
                <a:latin typeface="Lato"/>
                <a:ea typeface="Lato"/>
                <a:cs typeface="Lato"/>
                <a:sym typeface="Lato"/>
              </a:rPr>
              <a:t>resolutions by address,</a:t>
            </a:r>
            <a:r>
              <a:rPr lang="en" sz="1700">
                <a:solidFill>
                  <a:srgbClr val="304D80"/>
                </a:solidFill>
                <a:latin typeface="Lato"/>
                <a:ea typeface="Lato"/>
                <a:cs typeface="Lato"/>
                <a:sym typeface="Lato"/>
              </a:rPr>
              <a:t> </a:t>
            </a:r>
            <a:r>
              <a:rPr b="0" i="0" lang="en" sz="1700" u="none" cap="none" strike="noStrike">
                <a:solidFill>
                  <a:srgbClr val="304D80"/>
                </a:solidFill>
                <a:latin typeface="Lato"/>
                <a:ea typeface="Lato"/>
                <a:cs typeface="Lato"/>
                <a:sym typeface="Lato"/>
              </a:rPr>
              <a:t>business name, or topic</a:t>
            </a:r>
            <a:endParaRPr sz="1700">
              <a:solidFill>
                <a:srgbClr val="304D80"/>
              </a:solidFill>
              <a:latin typeface="Lato"/>
              <a:ea typeface="Lato"/>
              <a:cs typeface="Lato"/>
              <a:sym typeface="Lato"/>
            </a:endParaRPr>
          </a:p>
          <a:p>
            <a:pPr indent="-336550" lvl="0" marL="457200" marR="0" rtl="0" algn="l">
              <a:spcBef>
                <a:spcPts val="1000"/>
              </a:spcBef>
              <a:spcAft>
                <a:spcPts val="0"/>
              </a:spcAft>
              <a:buClr>
                <a:srgbClr val="304D80"/>
              </a:buClr>
              <a:buSzPts val="1700"/>
              <a:buFont typeface="Lato"/>
              <a:buChar char="●"/>
            </a:pPr>
            <a:r>
              <a:rPr b="0" i="0" lang="en" sz="1700" u="none" cap="none" strike="noStrike">
                <a:solidFill>
                  <a:srgbClr val="304D80"/>
                </a:solidFill>
                <a:latin typeface="Lato"/>
                <a:ea typeface="Lato"/>
                <a:cs typeface="Lato"/>
                <a:sym typeface="Lato"/>
              </a:rPr>
              <a:t>Track </a:t>
            </a:r>
            <a:r>
              <a:rPr lang="en" sz="1700">
                <a:solidFill>
                  <a:srgbClr val="304D80"/>
                </a:solidFill>
                <a:latin typeface="Lato"/>
                <a:ea typeface="Lato"/>
                <a:cs typeface="Lato"/>
                <a:sym typeface="Lato"/>
              </a:rPr>
              <a:t>a community board’s</a:t>
            </a:r>
            <a:r>
              <a:rPr b="0" i="0" lang="en" sz="1700" u="none" cap="none" strike="noStrike">
                <a:solidFill>
                  <a:srgbClr val="304D80"/>
                </a:solidFill>
                <a:latin typeface="Lato"/>
                <a:ea typeface="Lato"/>
                <a:cs typeface="Lato"/>
                <a:sym typeface="Lato"/>
              </a:rPr>
              <a:t> position on recurring issues over 20+ years</a:t>
            </a:r>
            <a:endParaRPr b="0" i="0" sz="1700" u="none" cap="none" strike="noStrike">
              <a:solidFill>
                <a:srgbClr val="304D80"/>
              </a:solidFill>
              <a:latin typeface="Lato"/>
              <a:ea typeface="Lato"/>
              <a:cs typeface="Lato"/>
              <a:sym typeface="Lato"/>
            </a:endParaRPr>
          </a:p>
          <a:p>
            <a:pPr indent="-336550" lvl="0" marL="457200" marR="0" rtl="0" algn="l">
              <a:spcBef>
                <a:spcPts val="1000"/>
              </a:spcBef>
              <a:spcAft>
                <a:spcPts val="0"/>
              </a:spcAft>
              <a:buClr>
                <a:srgbClr val="304D80"/>
              </a:buClr>
              <a:buSzPts val="1700"/>
              <a:buFont typeface="Lato"/>
              <a:buChar char="●"/>
            </a:pPr>
            <a:r>
              <a:rPr b="0" i="0" lang="en" sz="1700" u="none" cap="none" strike="noStrike">
                <a:solidFill>
                  <a:srgbClr val="304D80"/>
                </a:solidFill>
                <a:latin typeface="Lato"/>
                <a:ea typeface="Lato"/>
                <a:cs typeface="Lato"/>
                <a:sym typeface="Lato"/>
              </a:rPr>
              <a:t>Compare contested vs. unanimous</a:t>
            </a:r>
            <a:r>
              <a:rPr lang="en" sz="1700">
                <a:solidFill>
                  <a:srgbClr val="304D80"/>
                </a:solidFill>
                <a:latin typeface="Lato"/>
                <a:ea typeface="Lato"/>
                <a:cs typeface="Lato"/>
                <a:sym typeface="Lato"/>
              </a:rPr>
              <a:t> </a:t>
            </a:r>
            <a:r>
              <a:rPr b="0" i="0" lang="en" sz="1700" u="none" cap="none" strike="noStrike">
                <a:solidFill>
                  <a:srgbClr val="304D80"/>
                </a:solidFill>
                <a:latin typeface="Lato"/>
                <a:ea typeface="Lato"/>
                <a:cs typeface="Lato"/>
                <a:sym typeface="Lato"/>
              </a:rPr>
              <a:t>votes by topic area</a:t>
            </a:r>
            <a:endParaRPr sz="1700">
              <a:solidFill>
                <a:srgbClr val="304D80"/>
              </a:solidFill>
              <a:latin typeface="Lato"/>
              <a:ea typeface="Lato"/>
              <a:cs typeface="Lato"/>
              <a:sym typeface="Lato"/>
            </a:endParaRPr>
          </a:p>
          <a:p>
            <a:pPr indent="-336550" lvl="0" marL="457200" marR="0" rtl="0" algn="l">
              <a:spcBef>
                <a:spcPts val="1000"/>
              </a:spcBef>
              <a:spcAft>
                <a:spcPts val="0"/>
              </a:spcAft>
              <a:buClr>
                <a:srgbClr val="304D80"/>
              </a:buClr>
              <a:buSzPts val="1700"/>
              <a:buFont typeface="Lato"/>
              <a:buChar char="●"/>
            </a:pPr>
            <a:r>
              <a:rPr b="0" i="0" lang="en" sz="1700" u="none" cap="none" strike="noStrike">
                <a:solidFill>
                  <a:srgbClr val="304D80"/>
                </a:solidFill>
                <a:latin typeface="Lato"/>
                <a:ea typeface="Lato"/>
                <a:cs typeface="Lato"/>
                <a:sym typeface="Lato"/>
              </a:rPr>
              <a:t>Identify patterns on</a:t>
            </a:r>
            <a:r>
              <a:rPr lang="en" sz="1700">
                <a:solidFill>
                  <a:srgbClr val="304D80"/>
                </a:solidFill>
                <a:latin typeface="Lato"/>
                <a:ea typeface="Lato"/>
                <a:cs typeface="Lato"/>
                <a:sym typeface="Lato"/>
              </a:rPr>
              <a:t> </a:t>
            </a:r>
            <a:r>
              <a:rPr b="0" i="0" lang="en" sz="1700" u="none" cap="none" strike="noStrike">
                <a:solidFill>
                  <a:srgbClr val="304D80"/>
                </a:solidFill>
                <a:latin typeface="Lato"/>
                <a:ea typeface="Lato"/>
                <a:cs typeface="Lato"/>
                <a:sym typeface="Lato"/>
              </a:rPr>
              <a:t>controversial issues</a:t>
            </a:r>
            <a:endParaRPr sz="1800"/>
          </a:p>
        </p:txBody>
      </p:sp>
      <p:sp>
        <p:nvSpPr>
          <p:cNvPr id="454" name="Google Shape;454;p49"/>
          <p:cNvSpPr/>
          <p:nvPr/>
        </p:nvSpPr>
        <p:spPr>
          <a:xfrm>
            <a:off x="6117070" y="987552"/>
            <a:ext cx="2798100" cy="5577900"/>
          </a:xfrm>
          <a:prstGeom prst="rect">
            <a:avLst/>
          </a:prstGeom>
          <a:solidFill>
            <a:srgbClr val="F5F5F5"/>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200" u="none" cap="none" strike="noStrike">
              <a:solidFill>
                <a:schemeClr val="dk1"/>
              </a:solidFill>
              <a:latin typeface="Calibri"/>
              <a:ea typeface="Calibri"/>
              <a:cs typeface="Calibri"/>
              <a:sym typeface="Calibri"/>
            </a:endParaRPr>
          </a:p>
        </p:txBody>
      </p:sp>
      <p:sp>
        <p:nvSpPr>
          <p:cNvPr id="455" name="Google Shape;455;p49"/>
          <p:cNvSpPr/>
          <p:nvPr/>
        </p:nvSpPr>
        <p:spPr>
          <a:xfrm>
            <a:off x="6098895" y="987552"/>
            <a:ext cx="2798100" cy="749700"/>
          </a:xfrm>
          <a:prstGeom prst="rect">
            <a:avLst/>
          </a:prstGeom>
          <a:solidFill>
            <a:srgbClr val="604CEF"/>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rtl="0" algn="l">
              <a:spcBef>
                <a:spcPts val="0"/>
              </a:spcBef>
              <a:spcAft>
                <a:spcPts val="0"/>
              </a:spcAft>
              <a:buClr>
                <a:schemeClr val="dk1"/>
              </a:buClr>
              <a:buFont typeface="Arial"/>
              <a:buNone/>
            </a:pPr>
            <a:r>
              <a:t/>
            </a:r>
            <a:endParaRPr b="0" i="0" sz="2200" u="none" cap="none" strike="noStrike">
              <a:solidFill>
                <a:schemeClr val="dk1"/>
              </a:solidFill>
              <a:latin typeface="Calibri"/>
              <a:ea typeface="Calibri"/>
              <a:cs typeface="Calibri"/>
              <a:sym typeface="Calibri"/>
            </a:endParaRPr>
          </a:p>
        </p:txBody>
      </p:sp>
      <p:sp>
        <p:nvSpPr>
          <p:cNvPr id="456" name="Google Shape;456;p49"/>
          <p:cNvSpPr txBox="1"/>
          <p:nvPr/>
        </p:nvSpPr>
        <p:spPr>
          <a:xfrm>
            <a:off x="3355936" y="1169421"/>
            <a:ext cx="2578500" cy="354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 sz="1700" u="none" cap="none" strike="noStrike">
                <a:solidFill>
                  <a:srgbClr val="FFFFFF"/>
                </a:solidFill>
                <a:latin typeface="Lato"/>
                <a:ea typeface="Lato"/>
                <a:cs typeface="Lato"/>
                <a:sym typeface="Lato"/>
              </a:rPr>
              <a:t>With NLP / </a:t>
            </a:r>
            <a:r>
              <a:rPr b="1" lang="en" sz="1700">
                <a:solidFill>
                  <a:srgbClr val="FFFFFF"/>
                </a:solidFill>
                <a:latin typeface="Lato"/>
                <a:ea typeface="Lato"/>
                <a:cs typeface="Lato"/>
                <a:sym typeface="Lato"/>
              </a:rPr>
              <a:t>E</a:t>
            </a:r>
            <a:r>
              <a:rPr b="1" i="0" lang="en" sz="1700" u="none" cap="none" strike="noStrike">
                <a:solidFill>
                  <a:srgbClr val="FFFFFF"/>
                </a:solidFill>
                <a:latin typeface="Lato"/>
                <a:ea typeface="Lato"/>
                <a:cs typeface="Lato"/>
                <a:sym typeface="Lato"/>
              </a:rPr>
              <a:t>mbeddings</a:t>
            </a:r>
            <a:endParaRPr sz="1800"/>
          </a:p>
        </p:txBody>
      </p:sp>
      <p:sp>
        <p:nvSpPr>
          <p:cNvPr id="457" name="Google Shape;457;p49"/>
          <p:cNvSpPr txBox="1"/>
          <p:nvPr/>
        </p:nvSpPr>
        <p:spPr>
          <a:xfrm>
            <a:off x="6098900" y="1842450"/>
            <a:ext cx="2816400" cy="3355500"/>
          </a:xfrm>
          <a:prstGeom prst="rect">
            <a:avLst/>
          </a:prstGeom>
          <a:noFill/>
          <a:ln>
            <a:noFill/>
          </a:ln>
        </p:spPr>
        <p:txBody>
          <a:bodyPr anchorCtr="0" anchor="t" bIns="45700" lIns="91425" spcFirstLastPara="1" rIns="91425" wrap="square" tIns="45700">
            <a:spAutoFit/>
          </a:bodyPr>
          <a:lstStyle/>
          <a:p>
            <a:pPr indent="-336550" lvl="0" marL="457200" marR="0" rtl="0" algn="l">
              <a:spcBef>
                <a:spcPts val="1000"/>
              </a:spcBef>
              <a:spcAft>
                <a:spcPts val="0"/>
              </a:spcAft>
              <a:buClr>
                <a:srgbClr val="304D80"/>
              </a:buClr>
              <a:buSzPts val="1700"/>
              <a:buFont typeface="Lato"/>
              <a:buChar char="●"/>
            </a:pPr>
            <a:r>
              <a:rPr b="0" i="0" lang="en" sz="1700" u="none" cap="none" strike="noStrike">
                <a:solidFill>
                  <a:srgbClr val="304D80"/>
                </a:solidFill>
                <a:latin typeface="Lato"/>
                <a:ea typeface="Lato"/>
                <a:cs typeface="Lato"/>
                <a:sym typeface="Lato"/>
              </a:rPr>
              <a:t>Semantic search: ‘Find all resolutions</a:t>
            </a:r>
            <a:r>
              <a:rPr lang="en" sz="1700">
                <a:solidFill>
                  <a:srgbClr val="304D80"/>
                </a:solidFill>
                <a:latin typeface="Lato"/>
                <a:ea typeface="Lato"/>
                <a:cs typeface="Lato"/>
                <a:sym typeface="Lato"/>
              </a:rPr>
              <a:t> </a:t>
            </a:r>
            <a:r>
              <a:rPr b="0" i="0" lang="en" sz="1700" u="none" cap="none" strike="noStrike">
                <a:solidFill>
                  <a:srgbClr val="304D80"/>
                </a:solidFill>
                <a:latin typeface="Lato"/>
                <a:ea typeface="Lato"/>
                <a:cs typeface="Lato"/>
                <a:sym typeface="Lato"/>
              </a:rPr>
              <a:t>about outdoor dining</a:t>
            </a:r>
            <a:r>
              <a:rPr lang="en" sz="1700">
                <a:solidFill>
                  <a:srgbClr val="304D80"/>
                </a:solidFill>
                <a:latin typeface="Lato"/>
                <a:ea typeface="Lato"/>
                <a:cs typeface="Lato"/>
                <a:sym typeface="Lato"/>
              </a:rPr>
              <a:t>’</a:t>
            </a:r>
            <a:endParaRPr sz="1700">
              <a:solidFill>
                <a:srgbClr val="304D80"/>
              </a:solidFill>
              <a:latin typeface="Lato"/>
              <a:ea typeface="Lato"/>
              <a:cs typeface="Lato"/>
              <a:sym typeface="Lato"/>
            </a:endParaRPr>
          </a:p>
          <a:p>
            <a:pPr indent="-336550" lvl="0" marL="457200" marR="0" rtl="0" algn="l">
              <a:spcBef>
                <a:spcPts val="1000"/>
              </a:spcBef>
              <a:spcAft>
                <a:spcPts val="0"/>
              </a:spcAft>
              <a:buClr>
                <a:srgbClr val="304D80"/>
              </a:buClr>
              <a:buSzPts val="1700"/>
              <a:buFont typeface="Lato"/>
              <a:buChar char="●"/>
            </a:pPr>
            <a:r>
              <a:rPr lang="en" sz="1700">
                <a:solidFill>
                  <a:srgbClr val="304D80"/>
                </a:solidFill>
                <a:latin typeface="Lato"/>
                <a:ea typeface="Lato"/>
                <a:cs typeface="Lato"/>
                <a:sym typeface="Lato"/>
              </a:rPr>
              <a:t>C</a:t>
            </a:r>
            <a:r>
              <a:rPr b="0" i="0" lang="en" sz="1700" u="none" cap="none" strike="noStrike">
                <a:solidFill>
                  <a:srgbClr val="304D80"/>
                </a:solidFill>
                <a:latin typeface="Lato"/>
                <a:ea typeface="Lato"/>
                <a:cs typeface="Lato"/>
                <a:sym typeface="Lato"/>
              </a:rPr>
              <a:t>luster resolutions by topic or location</a:t>
            </a:r>
            <a:endParaRPr sz="1700">
              <a:solidFill>
                <a:srgbClr val="304D80"/>
              </a:solidFill>
              <a:latin typeface="Lato"/>
              <a:ea typeface="Lato"/>
              <a:cs typeface="Lato"/>
              <a:sym typeface="Lato"/>
            </a:endParaRPr>
          </a:p>
          <a:p>
            <a:pPr indent="-336550" lvl="0" marL="457200" marR="0" rtl="0" algn="l">
              <a:spcBef>
                <a:spcPts val="1000"/>
              </a:spcBef>
              <a:spcAft>
                <a:spcPts val="0"/>
              </a:spcAft>
              <a:buClr>
                <a:srgbClr val="304D80"/>
              </a:buClr>
              <a:buSzPts val="1700"/>
              <a:buFont typeface="Lato"/>
              <a:buChar char="●"/>
            </a:pPr>
            <a:r>
              <a:rPr b="0" i="0" lang="en" sz="1700" u="none" cap="none" strike="noStrike">
                <a:solidFill>
                  <a:srgbClr val="304D80"/>
                </a:solidFill>
                <a:latin typeface="Lato"/>
                <a:ea typeface="Lato"/>
                <a:cs typeface="Lato"/>
                <a:sym typeface="Lato"/>
              </a:rPr>
              <a:t>Detect shifts in </a:t>
            </a:r>
            <a:r>
              <a:rPr lang="en" sz="1700">
                <a:solidFill>
                  <a:srgbClr val="304D80"/>
                </a:solidFill>
                <a:latin typeface="Lato"/>
                <a:ea typeface="Lato"/>
                <a:cs typeface="Lato"/>
                <a:sym typeface="Lato"/>
              </a:rPr>
              <a:t>sentiment and </a:t>
            </a:r>
            <a:r>
              <a:rPr b="0" i="0" lang="en" sz="1700" u="none" cap="none" strike="noStrike">
                <a:solidFill>
                  <a:srgbClr val="304D80"/>
                </a:solidFill>
                <a:latin typeface="Lato"/>
                <a:ea typeface="Lato"/>
                <a:cs typeface="Lato"/>
                <a:sym typeface="Lato"/>
              </a:rPr>
              <a:t>language</a:t>
            </a:r>
            <a:r>
              <a:rPr lang="en" sz="1700">
                <a:solidFill>
                  <a:srgbClr val="304D80"/>
                </a:solidFill>
                <a:latin typeface="Lato"/>
                <a:ea typeface="Lato"/>
                <a:cs typeface="Lato"/>
                <a:sym typeface="Lato"/>
              </a:rPr>
              <a:t> </a:t>
            </a:r>
            <a:r>
              <a:rPr b="0" i="0" lang="en" sz="1700" u="none" cap="none" strike="noStrike">
                <a:solidFill>
                  <a:srgbClr val="304D80"/>
                </a:solidFill>
                <a:latin typeface="Lato"/>
                <a:ea typeface="Lato"/>
                <a:cs typeface="Lato"/>
                <a:sym typeface="Lato"/>
              </a:rPr>
              <a:t>over time</a:t>
            </a:r>
            <a:endParaRPr sz="1700">
              <a:solidFill>
                <a:srgbClr val="304D80"/>
              </a:solidFill>
              <a:latin typeface="Lato"/>
              <a:ea typeface="Lato"/>
              <a:cs typeface="Lato"/>
              <a:sym typeface="Lato"/>
            </a:endParaRPr>
          </a:p>
          <a:p>
            <a:pPr indent="-336550" lvl="0" marL="457200" marR="0" rtl="0" algn="l">
              <a:spcBef>
                <a:spcPts val="1000"/>
              </a:spcBef>
              <a:spcAft>
                <a:spcPts val="0"/>
              </a:spcAft>
              <a:buClr>
                <a:srgbClr val="304D80"/>
              </a:buClr>
              <a:buSzPts val="1700"/>
              <a:buFont typeface="Lato"/>
              <a:buChar char="●"/>
            </a:pPr>
            <a:r>
              <a:rPr b="0" i="0" lang="en" sz="1700" u="none" cap="none" strike="noStrike">
                <a:solidFill>
                  <a:srgbClr val="304D80"/>
                </a:solidFill>
                <a:latin typeface="Lato"/>
                <a:ea typeface="Lato"/>
                <a:cs typeface="Lato"/>
                <a:sym typeface="Lato"/>
              </a:rPr>
              <a:t>Compare positions across</a:t>
            </a:r>
            <a:r>
              <a:rPr lang="en" sz="1700">
                <a:solidFill>
                  <a:srgbClr val="304D80"/>
                </a:solidFill>
                <a:latin typeface="Lato"/>
                <a:ea typeface="Lato"/>
                <a:cs typeface="Lato"/>
                <a:sym typeface="Lato"/>
              </a:rPr>
              <a:t> </a:t>
            </a:r>
            <a:r>
              <a:rPr b="0" i="0" lang="en" sz="1700" u="none" cap="none" strike="noStrike">
                <a:solidFill>
                  <a:srgbClr val="304D80"/>
                </a:solidFill>
                <a:latin typeface="Lato"/>
                <a:ea typeface="Lato"/>
                <a:cs typeface="Lato"/>
                <a:sym typeface="Lato"/>
              </a:rPr>
              <a:t>community boards</a:t>
            </a:r>
            <a:endParaRPr sz="1800"/>
          </a:p>
        </p:txBody>
      </p:sp>
      <p:sp>
        <p:nvSpPr>
          <p:cNvPr id="458" name="Google Shape;458;p49"/>
          <p:cNvSpPr/>
          <p:nvPr/>
        </p:nvSpPr>
        <p:spPr>
          <a:xfrm>
            <a:off x="3163611" y="987552"/>
            <a:ext cx="2798100" cy="5577900"/>
          </a:xfrm>
          <a:prstGeom prst="rect">
            <a:avLst/>
          </a:prstGeom>
          <a:solidFill>
            <a:srgbClr val="F5F5F5"/>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200" u="none" cap="none" strike="noStrike">
              <a:solidFill>
                <a:schemeClr val="dk1"/>
              </a:solidFill>
              <a:latin typeface="Calibri"/>
              <a:ea typeface="Calibri"/>
              <a:cs typeface="Calibri"/>
              <a:sym typeface="Calibri"/>
            </a:endParaRPr>
          </a:p>
        </p:txBody>
      </p:sp>
      <p:sp>
        <p:nvSpPr>
          <p:cNvPr id="459" name="Google Shape;459;p49"/>
          <p:cNvSpPr/>
          <p:nvPr/>
        </p:nvSpPr>
        <p:spPr>
          <a:xfrm>
            <a:off x="3154513" y="987552"/>
            <a:ext cx="2798100" cy="749700"/>
          </a:xfrm>
          <a:prstGeom prst="rect">
            <a:avLst/>
          </a:prstGeom>
          <a:solidFill>
            <a:srgbClr val="00E09D">
              <a:alpha val="47470"/>
            </a:srgbClr>
          </a:solidFill>
          <a:ln cap="flat" cmpd="sng" w="9525">
            <a:solidFill>
              <a:srgbClr val="93C47D"/>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200" u="none" cap="none" strike="noStrike">
              <a:solidFill>
                <a:schemeClr val="dk1"/>
              </a:solidFill>
              <a:latin typeface="Calibri"/>
              <a:ea typeface="Calibri"/>
              <a:cs typeface="Calibri"/>
              <a:sym typeface="Calibri"/>
            </a:endParaRPr>
          </a:p>
        </p:txBody>
      </p:sp>
      <p:sp>
        <p:nvSpPr>
          <p:cNvPr id="460" name="Google Shape;460;p49"/>
          <p:cNvSpPr txBox="1"/>
          <p:nvPr/>
        </p:nvSpPr>
        <p:spPr>
          <a:xfrm>
            <a:off x="3247321" y="1033271"/>
            <a:ext cx="2578500" cy="615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 sz="1700" u="none" cap="none" strike="noStrike">
                <a:solidFill>
                  <a:srgbClr val="FFFFFF"/>
                </a:solidFill>
                <a:latin typeface="Lato"/>
                <a:ea typeface="Lato"/>
                <a:cs typeface="Lato"/>
                <a:sym typeface="Lato"/>
              </a:rPr>
              <a:t>Civic</a:t>
            </a:r>
            <a:br>
              <a:rPr b="1" i="0" lang="en" sz="1700" u="none" cap="none" strike="noStrike">
                <a:solidFill>
                  <a:srgbClr val="FFFFFF"/>
                </a:solidFill>
                <a:latin typeface="Lato"/>
                <a:ea typeface="Lato"/>
                <a:cs typeface="Lato"/>
                <a:sym typeface="Lato"/>
              </a:rPr>
            </a:br>
            <a:r>
              <a:rPr b="1" lang="en" sz="1700">
                <a:solidFill>
                  <a:srgbClr val="FFFFFF"/>
                </a:solidFill>
                <a:latin typeface="Lato"/>
                <a:ea typeface="Lato"/>
                <a:cs typeface="Lato"/>
                <a:sym typeface="Lato"/>
              </a:rPr>
              <a:t>A</a:t>
            </a:r>
            <a:r>
              <a:rPr b="1" i="0" lang="en" sz="1700" u="none" cap="none" strike="noStrike">
                <a:solidFill>
                  <a:srgbClr val="FFFFFF"/>
                </a:solidFill>
                <a:latin typeface="Lato"/>
                <a:ea typeface="Lato"/>
                <a:cs typeface="Lato"/>
                <a:sym typeface="Lato"/>
              </a:rPr>
              <a:t>ccountability</a:t>
            </a:r>
            <a:endParaRPr b="1" sz="1800">
              <a:latin typeface="Lato"/>
              <a:ea typeface="Lato"/>
              <a:cs typeface="Lato"/>
              <a:sym typeface="Lato"/>
            </a:endParaRPr>
          </a:p>
        </p:txBody>
      </p:sp>
      <p:sp>
        <p:nvSpPr>
          <p:cNvPr id="461" name="Google Shape;461;p49"/>
          <p:cNvSpPr txBox="1"/>
          <p:nvPr/>
        </p:nvSpPr>
        <p:spPr>
          <a:xfrm>
            <a:off x="3154525" y="1799800"/>
            <a:ext cx="2798100" cy="3355500"/>
          </a:xfrm>
          <a:prstGeom prst="rect">
            <a:avLst/>
          </a:prstGeom>
          <a:noFill/>
          <a:ln>
            <a:noFill/>
          </a:ln>
        </p:spPr>
        <p:txBody>
          <a:bodyPr anchorCtr="0" anchor="t" bIns="45700" lIns="91425" spcFirstLastPara="1" rIns="91425" wrap="square" tIns="45700">
            <a:spAutoFit/>
          </a:bodyPr>
          <a:lstStyle/>
          <a:p>
            <a:pPr indent="-336550" lvl="0" marL="457200" marR="0" rtl="0" algn="l">
              <a:spcBef>
                <a:spcPts val="1000"/>
              </a:spcBef>
              <a:spcAft>
                <a:spcPts val="0"/>
              </a:spcAft>
              <a:buClr>
                <a:srgbClr val="304D80"/>
              </a:buClr>
              <a:buSzPts val="1700"/>
              <a:buFont typeface="Lato"/>
              <a:buChar char="●"/>
            </a:pPr>
            <a:r>
              <a:rPr b="0" i="0" lang="en" sz="1700" u="none" cap="none" strike="noStrike">
                <a:solidFill>
                  <a:srgbClr val="304D80"/>
                </a:solidFill>
                <a:latin typeface="Lato"/>
                <a:ea typeface="Lato"/>
                <a:cs typeface="Lato"/>
                <a:sym typeface="Lato"/>
              </a:rPr>
              <a:t>Flag </a:t>
            </a:r>
            <a:r>
              <a:rPr lang="en" sz="1700">
                <a:solidFill>
                  <a:srgbClr val="304D80"/>
                </a:solidFill>
                <a:latin typeface="Lato"/>
                <a:ea typeface="Lato"/>
                <a:cs typeface="Lato"/>
                <a:sym typeface="Lato"/>
              </a:rPr>
              <a:t>if</a:t>
            </a:r>
            <a:r>
              <a:rPr b="0" i="0" lang="en" sz="1700" u="none" cap="none" strike="noStrike">
                <a:solidFill>
                  <a:srgbClr val="304D80"/>
                </a:solidFill>
                <a:latin typeface="Lato"/>
                <a:ea typeface="Lato"/>
                <a:cs typeface="Lato"/>
                <a:sym typeface="Lato"/>
              </a:rPr>
              <a:t> city agencies ignore</a:t>
            </a:r>
            <a:r>
              <a:rPr lang="en" sz="1700">
                <a:solidFill>
                  <a:srgbClr val="304D80"/>
                </a:solidFill>
                <a:latin typeface="Lato"/>
                <a:ea typeface="Lato"/>
                <a:cs typeface="Lato"/>
                <a:sym typeface="Lato"/>
              </a:rPr>
              <a:t> </a:t>
            </a:r>
            <a:r>
              <a:rPr b="0" i="0" lang="en" sz="1700" u="none" cap="none" strike="noStrike">
                <a:solidFill>
                  <a:srgbClr val="304D80"/>
                </a:solidFill>
                <a:latin typeface="Lato"/>
                <a:ea typeface="Lato"/>
                <a:cs typeface="Lato"/>
                <a:sym typeface="Lato"/>
              </a:rPr>
              <a:t>a resolution</a:t>
            </a:r>
            <a:endParaRPr b="0" i="0" sz="1700" u="none" cap="none" strike="noStrike">
              <a:solidFill>
                <a:srgbClr val="304D80"/>
              </a:solidFill>
              <a:latin typeface="Lato"/>
              <a:ea typeface="Lato"/>
              <a:cs typeface="Lato"/>
              <a:sym typeface="Lato"/>
            </a:endParaRPr>
          </a:p>
          <a:p>
            <a:pPr indent="-336550" lvl="0" marL="457200" marR="0" rtl="0" algn="l">
              <a:spcBef>
                <a:spcPts val="1000"/>
              </a:spcBef>
              <a:spcAft>
                <a:spcPts val="0"/>
              </a:spcAft>
              <a:buClr>
                <a:srgbClr val="304D80"/>
              </a:buClr>
              <a:buSzPts val="1700"/>
              <a:buFont typeface="Lato"/>
              <a:buChar char="●"/>
            </a:pPr>
            <a:r>
              <a:rPr b="0" i="0" lang="en" sz="1700" u="none" cap="none" strike="noStrike">
                <a:solidFill>
                  <a:srgbClr val="304D80"/>
                </a:solidFill>
                <a:latin typeface="Lato"/>
                <a:ea typeface="Lato"/>
                <a:cs typeface="Lato"/>
                <a:sym typeface="Lato"/>
              </a:rPr>
              <a:t>Track liquor license denial </a:t>
            </a:r>
            <a:r>
              <a:rPr b="0" i="0" lang="en" sz="1700" u="none" cap="none" strike="noStrike">
                <a:solidFill>
                  <a:srgbClr val="304D80"/>
                </a:solidFill>
                <a:latin typeface="Lato"/>
                <a:ea typeface="Lato"/>
                <a:cs typeface="Lato"/>
                <a:sym typeface="Lato"/>
              </a:rPr>
              <a:t>→ </a:t>
            </a:r>
            <a:r>
              <a:rPr b="0" i="0" lang="en" sz="1700" u="none" cap="none" strike="noStrike">
                <a:solidFill>
                  <a:srgbClr val="304D80"/>
                </a:solidFill>
                <a:latin typeface="Lato"/>
                <a:ea typeface="Lato"/>
                <a:cs typeface="Lato"/>
                <a:sym typeface="Lato"/>
              </a:rPr>
              <a:t>approval</a:t>
            </a:r>
            <a:endParaRPr b="0" i="0" sz="1700" u="none" cap="none" strike="noStrike">
              <a:solidFill>
                <a:srgbClr val="304D80"/>
              </a:solidFill>
              <a:latin typeface="Lato"/>
              <a:ea typeface="Lato"/>
              <a:cs typeface="Lato"/>
              <a:sym typeface="Lato"/>
            </a:endParaRPr>
          </a:p>
          <a:p>
            <a:pPr indent="-336550" lvl="0" marL="457200" marR="0" rtl="0" algn="l">
              <a:spcBef>
                <a:spcPts val="1000"/>
              </a:spcBef>
              <a:spcAft>
                <a:spcPts val="0"/>
              </a:spcAft>
              <a:buClr>
                <a:srgbClr val="304D80"/>
              </a:buClr>
              <a:buSzPts val="1700"/>
              <a:buFont typeface="Lato"/>
              <a:buChar char="●"/>
            </a:pPr>
            <a:r>
              <a:rPr lang="en" sz="1700">
                <a:solidFill>
                  <a:srgbClr val="304D80"/>
                </a:solidFill>
                <a:latin typeface="Lato"/>
                <a:ea typeface="Lato"/>
                <a:cs typeface="Lato"/>
                <a:sym typeface="Lato"/>
              </a:rPr>
              <a:t>Explore how community boards respond to the needs of their district</a:t>
            </a:r>
            <a:endParaRPr b="0" i="0" sz="1700" u="none" cap="none" strike="noStrike">
              <a:solidFill>
                <a:srgbClr val="304D80"/>
              </a:solidFill>
              <a:latin typeface="Lato"/>
              <a:ea typeface="Lato"/>
              <a:cs typeface="Lato"/>
              <a:sym typeface="Lato"/>
            </a:endParaRPr>
          </a:p>
          <a:p>
            <a:pPr indent="-336550" lvl="0" marL="457200" marR="0" rtl="0" algn="l">
              <a:spcBef>
                <a:spcPts val="1000"/>
              </a:spcBef>
              <a:spcAft>
                <a:spcPts val="0"/>
              </a:spcAft>
              <a:buClr>
                <a:srgbClr val="304D80"/>
              </a:buClr>
              <a:buSzPts val="1700"/>
              <a:buFont typeface="Lato"/>
              <a:buChar char="●"/>
            </a:pPr>
            <a:r>
              <a:rPr lang="en" sz="1700">
                <a:solidFill>
                  <a:srgbClr val="304D80"/>
                </a:solidFill>
                <a:latin typeface="Lato"/>
                <a:ea typeface="Lato"/>
                <a:cs typeface="Lato"/>
                <a:sym typeface="Lato"/>
              </a:rPr>
              <a:t>Knowledge base linking resolutions to the meeting discussion</a:t>
            </a:r>
            <a:endParaRPr sz="1700">
              <a:solidFill>
                <a:srgbClr val="304D80"/>
              </a:solidFill>
              <a:latin typeface="Lato"/>
              <a:ea typeface="Lato"/>
              <a:cs typeface="Lato"/>
              <a:sym typeface="Lato"/>
            </a:endParaRPr>
          </a:p>
        </p:txBody>
      </p:sp>
      <p:sp>
        <p:nvSpPr>
          <p:cNvPr id="462" name="Google Shape;462;p49"/>
          <p:cNvSpPr txBox="1"/>
          <p:nvPr/>
        </p:nvSpPr>
        <p:spPr>
          <a:xfrm>
            <a:off x="6174700" y="1164077"/>
            <a:ext cx="2578500" cy="354000"/>
          </a:xfrm>
          <a:prstGeom prst="rect">
            <a:avLst/>
          </a:prstGeom>
          <a:noFill/>
          <a:ln>
            <a:noFill/>
          </a:ln>
        </p:spPr>
        <p:txBody>
          <a:bodyPr anchorCtr="0" anchor="t" bIns="45700" lIns="91425" spcFirstLastPara="1" rIns="91425" wrap="square" tIns="45700">
            <a:spAutoFit/>
          </a:bodyPr>
          <a:lstStyle/>
          <a:p>
            <a:pPr indent="0" lvl="0" marL="0" rtl="0" algn="l">
              <a:spcBef>
                <a:spcPts val="0"/>
              </a:spcBef>
              <a:spcAft>
                <a:spcPts val="0"/>
              </a:spcAft>
              <a:buNone/>
            </a:pPr>
            <a:r>
              <a:rPr b="1" lang="en" sz="1700">
                <a:solidFill>
                  <a:schemeClr val="lt1"/>
                </a:solidFill>
                <a:latin typeface="Lato"/>
                <a:ea typeface="Lato"/>
                <a:cs typeface="Lato"/>
                <a:sym typeface="Lato"/>
              </a:rPr>
              <a:t>Taking it Further with AI</a:t>
            </a:r>
            <a:endParaRPr b="1" sz="1700">
              <a:solidFill>
                <a:srgbClr val="FFFFFF"/>
              </a:solidFill>
              <a:latin typeface="Lato"/>
              <a:ea typeface="Lato"/>
              <a:cs typeface="Lato"/>
              <a:sym typeface="Lato"/>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66" name="Shape 466"/>
        <p:cNvGrpSpPr/>
        <p:nvPr/>
      </p:nvGrpSpPr>
      <p:grpSpPr>
        <a:xfrm>
          <a:off x="0" y="0"/>
          <a:ext cx="0" cy="0"/>
          <a:chOff x="0" y="0"/>
          <a:chExt cx="0" cy="0"/>
        </a:xfrm>
      </p:grpSpPr>
      <p:sp>
        <p:nvSpPr>
          <p:cNvPr id="467" name="Google Shape;467;p50"/>
          <p:cNvSpPr txBox="1"/>
          <p:nvPr/>
        </p:nvSpPr>
        <p:spPr>
          <a:xfrm>
            <a:off x="301752" y="182880"/>
            <a:ext cx="7772400" cy="430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 sz="2200">
                <a:solidFill>
                  <a:srgbClr val="212121"/>
                </a:solidFill>
                <a:latin typeface="Lato"/>
                <a:ea typeface="Lato"/>
                <a:cs typeface="Lato"/>
                <a:sym typeface="Lato"/>
              </a:rPr>
              <a:t>When Key Community Decisions Become More Accessible</a:t>
            </a:r>
            <a:endParaRPr/>
          </a:p>
        </p:txBody>
      </p:sp>
      <p:sp>
        <p:nvSpPr>
          <p:cNvPr id="468" name="Google Shape;468;p50"/>
          <p:cNvSpPr/>
          <p:nvPr/>
        </p:nvSpPr>
        <p:spPr>
          <a:xfrm>
            <a:off x="0" y="841248"/>
            <a:ext cx="9144000" cy="41100"/>
          </a:xfrm>
          <a:prstGeom prst="rect">
            <a:avLst/>
          </a:prstGeom>
          <a:solidFill>
            <a:srgbClr val="4285F4"/>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69" name="Google Shape;469;p50"/>
          <p:cNvSpPr/>
          <p:nvPr/>
        </p:nvSpPr>
        <p:spPr>
          <a:xfrm>
            <a:off x="210152" y="987552"/>
            <a:ext cx="2798100" cy="5577900"/>
          </a:xfrm>
          <a:prstGeom prst="rect">
            <a:avLst/>
          </a:prstGeom>
          <a:solidFill>
            <a:srgbClr val="F5F5F5"/>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200" u="none" cap="none" strike="noStrike">
              <a:solidFill>
                <a:schemeClr val="dk1"/>
              </a:solidFill>
              <a:latin typeface="Calibri"/>
              <a:ea typeface="Calibri"/>
              <a:cs typeface="Calibri"/>
              <a:sym typeface="Calibri"/>
            </a:endParaRPr>
          </a:p>
        </p:txBody>
      </p:sp>
      <p:sp>
        <p:nvSpPr>
          <p:cNvPr id="470" name="Google Shape;470;p50"/>
          <p:cNvSpPr/>
          <p:nvPr/>
        </p:nvSpPr>
        <p:spPr>
          <a:xfrm>
            <a:off x="210152" y="987552"/>
            <a:ext cx="2798100" cy="749700"/>
          </a:xfrm>
          <a:prstGeom prst="rect">
            <a:avLst/>
          </a:prstGeom>
          <a:solidFill>
            <a:srgbClr val="00BBEA"/>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200" u="none" cap="none" strike="noStrike">
              <a:solidFill>
                <a:schemeClr val="dk1"/>
              </a:solidFill>
              <a:latin typeface="Calibri"/>
              <a:ea typeface="Calibri"/>
              <a:cs typeface="Calibri"/>
              <a:sym typeface="Calibri"/>
            </a:endParaRPr>
          </a:p>
        </p:txBody>
      </p:sp>
      <p:sp>
        <p:nvSpPr>
          <p:cNvPr id="471" name="Google Shape;471;p50"/>
          <p:cNvSpPr txBox="1"/>
          <p:nvPr/>
        </p:nvSpPr>
        <p:spPr>
          <a:xfrm>
            <a:off x="319943" y="1169421"/>
            <a:ext cx="2578500" cy="354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 sz="1700">
                <a:solidFill>
                  <a:srgbClr val="FFFFFF"/>
                </a:solidFill>
                <a:latin typeface="Lato"/>
                <a:ea typeface="Lato"/>
                <a:cs typeface="Lato"/>
                <a:sym typeface="Lato"/>
              </a:rPr>
              <a:t>A</a:t>
            </a:r>
            <a:r>
              <a:rPr b="1" i="0" lang="en" sz="1700" u="none" cap="none" strike="noStrike">
                <a:solidFill>
                  <a:srgbClr val="FFFFFF"/>
                </a:solidFill>
                <a:latin typeface="Lato"/>
                <a:ea typeface="Lato"/>
                <a:cs typeface="Lato"/>
                <a:sym typeface="Lato"/>
              </a:rPr>
              <a:t>nalytic</a:t>
            </a:r>
            <a:r>
              <a:rPr b="1" lang="en" sz="1700">
                <a:solidFill>
                  <a:srgbClr val="FFFFFF"/>
                </a:solidFill>
                <a:latin typeface="Lato"/>
                <a:ea typeface="Lato"/>
                <a:cs typeface="Lato"/>
                <a:sym typeface="Lato"/>
              </a:rPr>
              <a:t>s Opportunity</a:t>
            </a:r>
            <a:endParaRPr b="1" sz="1800">
              <a:latin typeface="Lato"/>
              <a:ea typeface="Lato"/>
              <a:cs typeface="Lato"/>
              <a:sym typeface="Lato"/>
            </a:endParaRPr>
          </a:p>
        </p:txBody>
      </p:sp>
      <p:sp>
        <p:nvSpPr>
          <p:cNvPr id="472" name="Google Shape;472;p50"/>
          <p:cNvSpPr txBox="1"/>
          <p:nvPr/>
        </p:nvSpPr>
        <p:spPr>
          <a:xfrm>
            <a:off x="210150" y="1810500"/>
            <a:ext cx="2798100" cy="3878700"/>
          </a:xfrm>
          <a:prstGeom prst="rect">
            <a:avLst/>
          </a:prstGeom>
          <a:noFill/>
          <a:ln>
            <a:noFill/>
          </a:ln>
        </p:spPr>
        <p:txBody>
          <a:bodyPr anchorCtr="0" anchor="t" bIns="45700" lIns="91425" spcFirstLastPara="1" rIns="91425" wrap="square" tIns="45700">
            <a:spAutoFit/>
          </a:bodyPr>
          <a:lstStyle/>
          <a:p>
            <a:pPr indent="-336550" lvl="0" marL="457200" marR="0" rtl="0" algn="l">
              <a:spcBef>
                <a:spcPts val="1000"/>
              </a:spcBef>
              <a:spcAft>
                <a:spcPts val="0"/>
              </a:spcAft>
              <a:buClr>
                <a:srgbClr val="304D80"/>
              </a:buClr>
              <a:buSzPts val="1700"/>
              <a:buFont typeface="Lato"/>
              <a:buChar char="●"/>
            </a:pPr>
            <a:r>
              <a:rPr b="0" i="0" lang="en" sz="1700" u="none" cap="none" strike="noStrike">
                <a:solidFill>
                  <a:srgbClr val="304D80"/>
                </a:solidFill>
                <a:latin typeface="Lato"/>
                <a:ea typeface="Lato"/>
                <a:cs typeface="Lato"/>
                <a:sym typeface="Lato"/>
              </a:rPr>
              <a:t>Search </a:t>
            </a:r>
            <a:r>
              <a:rPr lang="en" sz="1700">
                <a:solidFill>
                  <a:srgbClr val="304D80"/>
                </a:solidFill>
                <a:latin typeface="Lato"/>
                <a:ea typeface="Lato"/>
                <a:cs typeface="Lato"/>
                <a:sym typeface="Lato"/>
              </a:rPr>
              <a:t>thousands of </a:t>
            </a:r>
            <a:r>
              <a:rPr b="0" i="0" lang="en" sz="1700" u="none" cap="none" strike="noStrike">
                <a:solidFill>
                  <a:srgbClr val="304D80"/>
                </a:solidFill>
                <a:latin typeface="Lato"/>
                <a:ea typeface="Lato"/>
                <a:cs typeface="Lato"/>
                <a:sym typeface="Lato"/>
              </a:rPr>
              <a:t>resolutions by address,</a:t>
            </a:r>
            <a:r>
              <a:rPr lang="en" sz="1700">
                <a:solidFill>
                  <a:srgbClr val="304D80"/>
                </a:solidFill>
                <a:latin typeface="Lato"/>
                <a:ea typeface="Lato"/>
                <a:cs typeface="Lato"/>
                <a:sym typeface="Lato"/>
              </a:rPr>
              <a:t> </a:t>
            </a:r>
            <a:r>
              <a:rPr b="0" i="0" lang="en" sz="1700" u="none" cap="none" strike="noStrike">
                <a:solidFill>
                  <a:srgbClr val="304D80"/>
                </a:solidFill>
                <a:latin typeface="Lato"/>
                <a:ea typeface="Lato"/>
                <a:cs typeface="Lato"/>
                <a:sym typeface="Lato"/>
              </a:rPr>
              <a:t>business name, or topic</a:t>
            </a:r>
            <a:endParaRPr sz="1700">
              <a:solidFill>
                <a:srgbClr val="304D80"/>
              </a:solidFill>
              <a:latin typeface="Lato"/>
              <a:ea typeface="Lato"/>
              <a:cs typeface="Lato"/>
              <a:sym typeface="Lato"/>
            </a:endParaRPr>
          </a:p>
          <a:p>
            <a:pPr indent="-336550" lvl="0" marL="457200" marR="0" rtl="0" algn="l">
              <a:spcBef>
                <a:spcPts val="1000"/>
              </a:spcBef>
              <a:spcAft>
                <a:spcPts val="0"/>
              </a:spcAft>
              <a:buClr>
                <a:srgbClr val="304D80"/>
              </a:buClr>
              <a:buSzPts val="1700"/>
              <a:buFont typeface="Lato"/>
              <a:buChar char="●"/>
            </a:pPr>
            <a:r>
              <a:rPr b="0" i="0" lang="en" sz="1700" u="none" cap="none" strike="noStrike">
                <a:solidFill>
                  <a:srgbClr val="304D80"/>
                </a:solidFill>
                <a:latin typeface="Lato"/>
                <a:ea typeface="Lato"/>
                <a:cs typeface="Lato"/>
                <a:sym typeface="Lato"/>
              </a:rPr>
              <a:t>Track </a:t>
            </a:r>
            <a:r>
              <a:rPr lang="en" sz="1700">
                <a:solidFill>
                  <a:srgbClr val="304D80"/>
                </a:solidFill>
                <a:latin typeface="Lato"/>
                <a:ea typeface="Lato"/>
                <a:cs typeface="Lato"/>
                <a:sym typeface="Lato"/>
              </a:rPr>
              <a:t>a community board’s</a:t>
            </a:r>
            <a:r>
              <a:rPr b="0" i="0" lang="en" sz="1700" u="none" cap="none" strike="noStrike">
                <a:solidFill>
                  <a:srgbClr val="304D80"/>
                </a:solidFill>
                <a:latin typeface="Lato"/>
                <a:ea typeface="Lato"/>
                <a:cs typeface="Lato"/>
                <a:sym typeface="Lato"/>
              </a:rPr>
              <a:t> position on recurring issues over 20+ years</a:t>
            </a:r>
            <a:endParaRPr b="0" i="0" sz="1700" u="none" cap="none" strike="noStrike">
              <a:solidFill>
                <a:srgbClr val="304D80"/>
              </a:solidFill>
              <a:latin typeface="Lato"/>
              <a:ea typeface="Lato"/>
              <a:cs typeface="Lato"/>
              <a:sym typeface="Lato"/>
            </a:endParaRPr>
          </a:p>
          <a:p>
            <a:pPr indent="-336550" lvl="0" marL="457200" marR="0" rtl="0" algn="l">
              <a:spcBef>
                <a:spcPts val="1000"/>
              </a:spcBef>
              <a:spcAft>
                <a:spcPts val="0"/>
              </a:spcAft>
              <a:buClr>
                <a:srgbClr val="304D80"/>
              </a:buClr>
              <a:buSzPts val="1700"/>
              <a:buFont typeface="Lato"/>
              <a:buChar char="●"/>
            </a:pPr>
            <a:r>
              <a:rPr b="0" i="0" lang="en" sz="1700" u="none" cap="none" strike="noStrike">
                <a:solidFill>
                  <a:srgbClr val="304D80"/>
                </a:solidFill>
                <a:latin typeface="Lato"/>
                <a:ea typeface="Lato"/>
                <a:cs typeface="Lato"/>
                <a:sym typeface="Lato"/>
              </a:rPr>
              <a:t>Compare contested vs. unanimous</a:t>
            </a:r>
            <a:r>
              <a:rPr lang="en" sz="1700">
                <a:solidFill>
                  <a:srgbClr val="304D80"/>
                </a:solidFill>
                <a:latin typeface="Lato"/>
                <a:ea typeface="Lato"/>
                <a:cs typeface="Lato"/>
                <a:sym typeface="Lato"/>
              </a:rPr>
              <a:t> </a:t>
            </a:r>
            <a:r>
              <a:rPr b="0" i="0" lang="en" sz="1700" u="none" cap="none" strike="noStrike">
                <a:solidFill>
                  <a:srgbClr val="304D80"/>
                </a:solidFill>
                <a:latin typeface="Lato"/>
                <a:ea typeface="Lato"/>
                <a:cs typeface="Lato"/>
                <a:sym typeface="Lato"/>
              </a:rPr>
              <a:t>votes by topic area</a:t>
            </a:r>
            <a:endParaRPr sz="1700">
              <a:solidFill>
                <a:srgbClr val="304D80"/>
              </a:solidFill>
              <a:latin typeface="Lato"/>
              <a:ea typeface="Lato"/>
              <a:cs typeface="Lato"/>
              <a:sym typeface="Lato"/>
            </a:endParaRPr>
          </a:p>
          <a:p>
            <a:pPr indent="-336550" lvl="0" marL="457200" marR="0" rtl="0" algn="l">
              <a:spcBef>
                <a:spcPts val="1000"/>
              </a:spcBef>
              <a:spcAft>
                <a:spcPts val="0"/>
              </a:spcAft>
              <a:buClr>
                <a:srgbClr val="304D80"/>
              </a:buClr>
              <a:buSzPts val="1700"/>
              <a:buFont typeface="Lato"/>
              <a:buChar char="●"/>
            </a:pPr>
            <a:r>
              <a:rPr b="0" i="0" lang="en" sz="1700" u="none" cap="none" strike="noStrike">
                <a:solidFill>
                  <a:srgbClr val="304D80"/>
                </a:solidFill>
                <a:latin typeface="Lato"/>
                <a:ea typeface="Lato"/>
                <a:cs typeface="Lato"/>
                <a:sym typeface="Lato"/>
              </a:rPr>
              <a:t>Identify patterns on</a:t>
            </a:r>
            <a:r>
              <a:rPr lang="en" sz="1700">
                <a:solidFill>
                  <a:srgbClr val="304D80"/>
                </a:solidFill>
                <a:latin typeface="Lato"/>
                <a:ea typeface="Lato"/>
                <a:cs typeface="Lato"/>
                <a:sym typeface="Lato"/>
              </a:rPr>
              <a:t> </a:t>
            </a:r>
            <a:r>
              <a:rPr b="0" i="0" lang="en" sz="1700" u="none" cap="none" strike="noStrike">
                <a:solidFill>
                  <a:srgbClr val="304D80"/>
                </a:solidFill>
                <a:latin typeface="Lato"/>
                <a:ea typeface="Lato"/>
                <a:cs typeface="Lato"/>
                <a:sym typeface="Lato"/>
              </a:rPr>
              <a:t>controversial issues</a:t>
            </a:r>
            <a:endParaRPr sz="1800"/>
          </a:p>
        </p:txBody>
      </p:sp>
      <p:sp>
        <p:nvSpPr>
          <p:cNvPr id="473" name="Google Shape;473;p50"/>
          <p:cNvSpPr/>
          <p:nvPr/>
        </p:nvSpPr>
        <p:spPr>
          <a:xfrm>
            <a:off x="6117070" y="987552"/>
            <a:ext cx="2798100" cy="5577900"/>
          </a:xfrm>
          <a:prstGeom prst="rect">
            <a:avLst/>
          </a:prstGeom>
          <a:solidFill>
            <a:srgbClr val="F5F5F5"/>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200" u="none" cap="none" strike="noStrike">
              <a:solidFill>
                <a:schemeClr val="dk1"/>
              </a:solidFill>
              <a:latin typeface="Calibri"/>
              <a:ea typeface="Calibri"/>
              <a:cs typeface="Calibri"/>
              <a:sym typeface="Calibri"/>
            </a:endParaRPr>
          </a:p>
        </p:txBody>
      </p:sp>
      <p:sp>
        <p:nvSpPr>
          <p:cNvPr id="474" name="Google Shape;474;p50"/>
          <p:cNvSpPr/>
          <p:nvPr/>
        </p:nvSpPr>
        <p:spPr>
          <a:xfrm>
            <a:off x="6098895" y="987552"/>
            <a:ext cx="2798100" cy="749700"/>
          </a:xfrm>
          <a:prstGeom prst="rect">
            <a:avLst/>
          </a:prstGeom>
          <a:solidFill>
            <a:srgbClr val="604CEF"/>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rtl="0" algn="l">
              <a:spcBef>
                <a:spcPts val="0"/>
              </a:spcBef>
              <a:spcAft>
                <a:spcPts val="0"/>
              </a:spcAft>
              <a:buNone/>
            </a:pPr>
            <a:r>
              <a:t/>
            </a:r>
            <a:endParaRPr b="0" i="0" sz="2200" u="none" cap="none" strike="noStrike">
              <a:solidFill>
                <a:schemeClr val="dk1"/>
              </a:solidFill>
              <a:latin typeface="Calibri"/>
              <a:ea typeface="Calibri"/>
              <a:cs typeface="Calibri"/>
              <a:sym typeface="Calibri"/>
            </a:endParaRPr>
          </a:p>
        </p:txBody>
      </p:sp>
      <p:sp>
        <p:nvSpPr>
          <p:cNvPr id="475" name="Google Shape;475;p50"/>
          <p:cNvSpPr txBox="1"/>
          <p:nvPr/>
        </p:nvSpPr>
        <p:spPr>
          <a:xfrm>
            <a:off x="3355936" y="1169421"/>
            <a:ext cx="2578500" cy="354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 sz="1700" u="none" cap="none" strike="noStrike">
                <a:solidFill>
                  <a:srgbClr val="FFFFFF"/>
                </a:solidFill>
                <a:latin typeface="Lato"/>
                <a:ea typeface="Lato"/>
                <a:cs typeface="Lato"/>
                <a:sym typeface="Lato"/>
              </a:rPr>
              <a:t>With NLP / </a:t>
            </a:r>
            <a:r>
              <a:rPr b="1" lang="en" sz="1700">
                <a:solidFill>
                  <a:srgbClr val="FFFFFF"/>
                </a:solidFill>
                <a:latin typeface="Lato"/>
                <a:ea typeface="Lato"/>
                <a:cs typeface="Lato"/>
                <a:sym typeface="Lato"/>
              </a:rPr>
              <a:t>E</a:t>
            </a:r>
            <a:r>
              <a:rPr b="1" i="0" lang="en" sz="1700" u="none" cap="none" strike="noStrike">
                <a:solidFill>
                  <a:srgbClr val="FFFFFF"/>
                </a:solidFill>
                <a:latin typeface="Lato"/>
                <a:ea typeface="Lato"/>
                <a:cs typeface="Lato"/>
                <a:sym typeface="Lato"/>
              </a:rPr>
              <a:t>mbeddings</a:t>
            </a:r>
            <a:endParaRPr sz="1800"/>
          </a:p>
        </p:txBody>
      </p:sp>
      <p:sp>
        <p:nvSpPr>
          <p:cNvPr id="476" name="Google Shape;476;p50"/>
          <p:cNvSpPr txBox="1"/>
          <p:nvPr/>
        </p:nvSpPr>
        <p:spPr>
          <a:xfrm>
            <a:off x="6098900" y="1842450"/>
            <a:ext cx="2816400" cy="3355500"/>
          </a:xfrm>
          <a:prstGeom prst="rect">
            <a:avLst/>
          </a:prstGeom>
          <a:noFill/>
          <a:ln>
            <a:noFill/>
          </a:ln>
        </p:spPr>
        <p:txBody>
          <a:bodyPr anchorCtr="0" anchor="t" bIns="45700" lIns="91425" spcFirstLastPara="1" rIns="91425" wrap="square" tIns="45700">
            <a:spAutoFit/>
          </a:bodyPr>
          <a:lstStyle/>
          <a:p>
            <a:pPr indent="-336550" lvl="0" marL="457200" marR="0" rtl="0" algn="l">
              <a:spcBef>
                <a:spcPts val="1000"/>
              </a:spcBef>
              <a:spcAft>
                <a:spcPts val="0"/>
              </a:spcAft>
              <a:buClr>
                <a:srgbClr val="304D80"/>
              </a:buClr>
              <a:buSzPts val="1700"/>
              <a:buFont typeface="Lato"/>
              <a:buChar char="●"/>
            </a:pPr>
            <a:r>
              <a:rPr b="0" i="0" lang="en" sz="1700" u="none" cap="none" strike="noStrike">
                <a:solidFill>
                  <a:srgbClr val="304D80"/>
                </a:solidFill>
                <a:latin typeface="Lato"/>
                <a:ea typeface="Lato"/>
                <a:cs typeface="Lato"/>
                <a:sym typeface="Lato"/>
              </a:rPr>
              <a:t>Semantic search: ‘Find all resolutions</a:t>
            </a:r>
            <a:r>
              <a:rPr lang="en" sz="1700">
                <a:solidFill>
                  <a:srgbClr val="304D80"/>
                </a:solidFill>
                <a:latin typeface="Lato"/>
                <a:ea typeface="Lato"/>
                <a:cs typeface="Lato"/>
                <a:sym typeface="Lato"/>
              </a:rPr>
              <a:t> </a:t>
            </a:r>
            <a:r>
              <a:rPr b="0" i="0" lang="en" sz="1700" u="none" cap="none" strike="noStrike">
                <a:solidFill>
                  <a:srgbClr val="304D80"/>
                </a:solidFill>
                <a:latin typeface="Lato"/>
                <a:ea typeface="Lato"/>
                <a:cs typeface="Lato"/>
                <a:sym typeface="Lato"/>
              </a:rPr>
              <a:t>about outdoor dining</a:t>
            </a:r>
            <a:r>
              <a:rPr lang="en" sz="1700">
                <a:solidFill>
                  <a:srgbClr val="304D80"/>
                </a:solidFill>
                <a:latin typeface="Lato"/>
                <a:ea typeface="Lato"/>
                <a:cs typeface="Lato"/>
                <a:sym typeface="Lato"/>
              </a:rPr>
              <a:t>’</a:t>
            </a:r>
            <a:endParaRPr sz="1700">
              <a:solidFill>
                <a:srgbClr val="304D80"/>
              </a:solidFill>
              <a:latin typeface="Lato"/>
              <a:ea typeface="Lato"/>
              <a:cs typeface="Lato"/>
              <a:sym typeface="Lato"/>
            </a:endParaRPr>
          </a:p>
          <a:p>
            <a:pPr indent="-336550" lvl="0" marL="457200" marR="0" rtl="0" algn="l">
              <a:spcBef>
                <a:spcPts val="1000"/>
              </a:spcBef>
              <a:spcAft>
                <a:spcPts val="0"/>
              </a:spcAft>
              <a:buClr>
                <a:srgbClr val="304D80"/>
              </a:buClr>
              <a:buSzPts val="1700"/>
              <a:buFont typeface="Lato"/>
              <a:buChar char="●"/>
            </a:pPr>
            <a:r>
              <a:rPr lang="en" sz="1700">
                <a:solidFill>
                  <a:srgbClr val="304D80"/>
                </a:solidFill>
                <a:latin typeface="Lato"/>
                <a:ea typeface="Lato"/>
                <a:cs typeface="Lato"/>
                <a:sym typeface="Lato"/>
              </a:rPr>
              <a:t>C</a:t>
            </a:r>
            <a:r>
              <a:rPr b="0" i="0" lang="en" sz="1700" u="none" cap="none" strike="noStrike">
                <a:solidFill>
                  <a:srgbClr val="304D80"/>
                </a:solidFill>
                <a:latin typeface="Lato"/>
                <a:ea typeface="Lato"/>
                <a:cs typeface="Lato"/>
                <a:sym typeface="Lato"/>
              </a:rPr>
              <a:t>luster resolutions by topic or location</a:t>
            </a:r>
            <a:endParaRPr sz="1700">
              <a:solidFill>
                <a:srgbClr val="304D80"/>
              </a:solidFill>
              <a:latin typeface="Lato"/>
              <a:ea typeface="Lato"/>
              <a:cs typeface="Lato"/>
              <a:sym typeface="Lato"/>
            </a:endParaRPr>
          </a:p>
          <a:p>
            <a:pPr indent="-336550" lvl="0" marL="457200" marR="0" rtl="0" algn="l">
              <a:spcBef>
                <a:spcPts val="1000"/>
              </a:spcBef>
              <a:spcAft>
                <a:spcPts val="0"/>
              </a:spcAft>
              <a:buClr>
                <a:srgbClr val="304D80"/>
              </a:buClr>
              <a:buSzPts val="1700"/>
              <a:buFont typeface="Lato"/>
              <a:buChar char="●"/>
            </a:pPr>
            <a:r>
              <a:rPr b="0" i="0" lang="en" sz="1700" u="none" cap="none" strike="noStrike">
                <a:solidFill>
                  <a:srgbClr val="304D80"/>
                </a:solidFill>
                <a:latin typeface="Lato"/>
                <a:ea typeface="Lato"/>
                <a:cs typeface="Lato"/>
                <a:sym typeface="Lato"/>
              </a:rPr>
              <a:t>Detect shifts in </a:t>
            </a:r>
            <a:r>
              <a:rPr lang="en" sz="1700">
                <a:solidFill>
                  <a:srgbClr val="304D80"/>
                </a:solidFill>
                <a:latin typeface="Lato"/>
                <a:ea typeface="Lato"/>
                <a:cs typeface="Lato"/>
                <a:sym typeface="Lato"/>
              </a:rPr>
              <a:t>sentiment and </a:t>
            </a:r>
            <a:r>
              <a:rPr b="0" i="0" lang="en" sz="1700" u="none" cap="none" strike="noStrike">
                <a:solidFill>
                  <a:srgbClr val="304D80"/>
                </a:solidFill>
                <a:latin typeface="Lato"/>
                <a:ea typeface="Lato"/>
                <a:cs typeface="Lato"/>
                <a:sym typeface="Lato"/>
              </a:rPr>
              <a:t>language</a:t>
            </a:r>
            <a:r>
              <a:rPr lang="en" sz="1700">
                <a:solidFill>
                  <a:srgbClr val="304D80"/>
                </a:solidFill>
                <a:latin typeface="Lato"/>
                <a:ea typeface="Lato"/>
                <a:cs typeface="Lato"/>
                <a:sym typeface="Lato"/>
              </a:rPr>
              <a:t> </a:t>
            </a:r>
            <a:r>
              <a:rPr b="0" i="0" lang="en" sz="1700" u="none" cap="none" strike="noStrike">
                <a:solidFill>
                  <a:srgbClr val="304D80"/>
                </a:solidFill>
                <a:latin typeface="Lato"/>
                <a:ea typeface="Lato"/>
                <a:cs typeface="Lato"/>
                <a:sym typeface="Lato"/>
              </a:rPr>
              <a:t>over time</a:t>
            </a:r>
            <a:endParaRPr sz="1700">
              <a:solidFill>
                <a:srgbClr val="304D80"/>
              </a:solidFill>
              <a:latin typeface="Lato"/>
              <a:ea typeface="Lato"/>
              <a:cs typeface="Lato"/>
              <a:sym typeface="Lato"/>
            </a:endParaRPr>
          </a:p>
          <a:p>
            <a:pPr indent="-336550" lvl="0" marL="457200" marR="0" rtl="0" algn="l">
              <a:spcBef>
                <a:spcPts val="1000"/>
              </a:spcBef>
              <a:spcAft>
                <a:spcPts val="0"/>
              </a:spcAft>
              <a:buClr>
                <a:srgbClr val="304D80"/>
              </a:buClr>
              <a:buSzPts val="1700"/>
              <a:buFont typeface="Lato"/>
              <a:buChar char="●"/>
            </a:pPr>
            <a:r>
              <a:rPr b="0" i="0" lang="en" sz="1700" u="none" cap="none" strike="noStrike">
                <a:solidFill>
                  <a:srgbClr val="304D80"/>
                </a:solidFill>
                <a:latin typeface="Lato"/>
                <a:ea typeface="Lato"/>
                <a:cs typeface="Lato"/>
                <a:sym typeface="Lato"/>
              </a:rPr>
              <a:t>Compare positions across</a:t>
            </a:r>
            <a:r>
              <a:rPr lang="en" sz="1700">
                <a:solidFill>
                  <a:srgbClr val="304D80"/>
                </a:solidFill>
                <a:latin typeface="Lato"/>
                <a:ea typeface="Lato"/>
                <a:cs typeface="Lato"/>
                <a:sym typeface="Lato"/>
              </a:rPr>
              <a:t> </a:t>
            </a:r>
            <a:r>
              <a:rPr b="0" i="0" lang="en" sz="1700" u="none" cap="none" strike="noStrike">
                <a:solidFill>
                  <a:srgbClr val="304D80"/>
                </a:solidFill>
                <a:latin typeface="Lato"/>
                <a:ea typeface="Lato"/>
                <a:cs typeface="Lato"/>
                <a:sym typeface="Lato"/>
              </a:rPr>
              <a:t>community boards</a:t>
            </a:r>
            <a:endParaRPr sz="1800"/>
          </a:p>
        </p:txBody>
      </p:sp>
      <p:sp>
        <p:nvSpPr>
          <p:cNvPr id="477" name="Google Shape;477;p50"/>
          <p:cNvSpPr/>
          <p:nvPr/>
        </p:nvSpPr>
        <p:spPr>
          <a:xfrm>
            <a:off x="3163611" y="987552"/>
            <a:ext cx="2798100" cy="5577900"/>
          </a:xfrm>
          <a:prstGeom prst="rect">
            <a:avLst/>
          </a:prstGeom>
          <a:solidFill>
            <a:srgbClr val="F5F5F5"/>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200" u="none" cap="none" strike="noStrike">
              <a:solidFill>
                <a:schemeClr val="dk1"/>
              </a:solidFill>
              <a:latin typeface="Calibri"/>
              <a:ea typeface="Calibri"/>
              <a:cs typeface="Calibri"/>
              <a:sym typeface="Calibri"/>
            </a:endParaRPr>
          </a:p>
        </p:txBody>
      </p:sp>
      <p:sp>
        <p:nvSpPr>
          <p:cNvPr id="478" name="Google Shape;478;p50"/>
          <p:cNvSpPr/>
          <p:nvPr/>
        </p:nvSpPr>
        <p:spPr>
          <a:xfrm>
            <a:off x="3154513" y="987552"/>
            <a:ext cx="2798100" cy="749700"/>
          </a:xfrm>
          <a:prstGeom prst="rect">
            <a:avLst/>
          </a:prstGeom>
          <a:solidFill>
            <a:srgbClr val="00E09D">
              <a:alpha val="47470"/>
            </a:srgbClr>
          </a:solidFill>
          <a:ln cap="flat" cmpd="sng" w="9525">
            <a:solidFill>
              <a:srgbClr val="93C47D"/>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200" u="none" cap="none" strike="noStrike">
              <a:solidFill>
                <a:schemeClr val="dk1"/>
              </a:solidFill>
              <a:latin typeface="Calibri"/>
              <a:ea typeface="Calibri"/>
              <a:cs typeface="Calibri"/>
              <a:sym typeface="Calibri"/>
            </a:endParaRPr>
          </a:p>
        </p:txBody>
      </p:sp>
      <p:sp>
        <p:nvSpPr>
          <p:cNvPr id="479" name="Google Shape;479;p50"/>
          <p:cNvSpPr txBox="1"/>
          <p:nvPr/>
        </p:nvSpPr>
        <p:spPr>
          <a:xfrm>
            <a:off x="3247321" y="1033271"/>
            <a:ext cx="2578500" cy="615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 sz="1700" u="none" cap="none" strike="noStrike">
                <a:solidFill>
                  <a:srgbClr val="FFFFFF"/>
                </a:solidFill>
                <a:latin typeface="Lato"/>
                <a:ea typeface="Lato"/>
                <a:cs typeface="Lato"/>
                <a:sym typeface="Lato"/>
              </a:rPr>
              <a:t>Civic</a:t>
            </a:r>
            <a:br>
              <a:rPr b="1" i="0" lang="en" sz="1700" u="none" cap="none" strike="noStrike">
                <a:solidFill>
                  <a:srgbClr val="FFFFFF"/>
                </a:solidFill>
                <a:latin typeface="Lato"/>
                <a:ea typeface="Lato"/>
                <a:cs typeface="Lato"/>
                <a:sym typeface="Lato"/>
              </a:rPr>
            </a:br>
            <a:r>
              <a:rPr b="1" lang="en" sz="1700">
                <a:solidFill>
                  <a:srgbClr val="FFFFFF"/>
                </a:solidFill>
                <a:latin typeface="Lato"/>
                <a:ea typeface="Lato"/>
                <a:cs typeface="Lato"/>
                <a:sym typeface="Lato"/>
              </a:rPr>
              <a:t>A</a:t>
            </a:r>
            <a:r>
              <a:rPr b="1" i="0" lang="en" sz="1700" u="none" cap="none" strike="noStrike">
                <a:solidFill>
                  <a:srgbClr val="FFFFFF"/>
                </a:solidFill>
                <a:latin typeface="Lato"/>
                <a:ea typeface="Lato"/>
                <a:cs typeface="Lato"/>
                <a:sym typeface="Lato"/>
              </a:rPr>
              <a:t>ccountability</a:t>
            </a:r>
            <a:endParaRPr b="1" sz="1800">
              <a:latin typeface="Lato"/>
              <a:ea typeface="Lato"/>
              <a:cs typeface="Lato"/>
              <a:sym typeface="Lato"/>
            </a:endParaRPr>
          </a:p>
        </p:txBody>
      </p:sp>
      <p:sp>
        <p:nvSpPr>
          <p:cNvPr id="480" name="Google Shape;480;p50"/>
          <p:cNvSpPr txBox="1"/>
          <p:nvPr/>
        </p:nvSpPr>
        <p:spPr>
          <a:xfrm>
            <a:off x="3154525" y="1799800"/>
            <a:ext cx="2798100" cy="3355500"/>
          </a:xfrm>
          <a:prstGeom prst="rect">
            <a:avLst/>
          </a:prstGeom>
          <a:noFill/>
          <a:ln>
            <a:noFill/>
          </a:ln>
        </p:spPr>
        <p:txBody>
          <a:bodyPr anchorCtr="0" anchor="t" bIns="45700" lIns="91425" spcFirstLastPara="1" rIns="91425" wrap="square" tIns="45700">
            <a:spAutoFit/>
          </a:bodyPr>
          <a:lstStyle/>
          <a:p>
            <a:pPr indent="-336550" lvl="0" marL="457200" marR="0" rtl="0" algn="l">
              <a:spcBef>
                <a:spcPts val="1000"/>
              </a:spcBef>
              <a:spcAft>
                <a:spcPts val="0"/>
              </a:spcAft>
              <a:buClr>
                <a:srgbClr val="304D80"/>
              </a:buClr>
              <a:buSzPts val="1700"/>
              <a:buFont typeface="Lato"/>
              <a:buChar char="●"/>
            </a:pPr>
            <a:r>
              <a:rPr b="0" i="0" lang="en" sz="1700" u="none" cap="none" strike="noStrike">
                <a:solidFill>
                  <a:srgbClr val="304D80"/>
                </a:solidFill>
                <a:latin typeface="Lato"/>
                <a:ea typeface="Lato"/>
                <a:cs typeface="Lato"/>
                <a:sym typeface="Lato"/>
              </a:rPr>
              <a:t>Flag </a:t>
            </a:r>
            <a:r>
              <a:rPr lang="en" sz="1700">
                <a:solidFill>
                  <a:srgbClr val="304D80"/>
                </a:solidFill>
                <a:latin typeface="Lato"/>
                <a:ea typeface="Lato"/>
                <a:cs typeface="Lato"/>
                <a:sym typeface="Lato"/>
              </a:rPr>
              <a:t>if</a:t>
            </a:r>
            <a:r>
              <a:rPr b="0" i="0" lang="en" sz="1700" u="none" cap="none" strike="noStrike">
                <a:solidFill>
                  <a:srgbClr val="304D80"/>
                </a:solidFill>
                <a:latin typeface="Lato"/>
                <a:ea typeface="Lato"/>
                <a:cs typeface="Lato"/>
                <a:sym typeface="Lato"/>
              </a:rPr>
              <a:t> city agencies ignore</a:t>
            </a:r>
            <a:r>
              <a:rPr lang="en" sz="1700">
                <a:solidFill>
                  <a:srgbClr val="304D80"/>
                </a:solidFill>
                <a:latin typeface="Lato"/>
                <a:ea typeface="Lato"/>
                <a:cs typeface="Lato"/>
                <a:sym typeface="Lato"/>
              </a:rPr>
              <a:t> </a:t>
            </a:r>
            <a:r>
              <a:rPr b="0" i="0" lang="en" sz="1700" u="none" cap="none" strike="noStrike">
                <a:solidFill>
                  <a:srgbClr val="304D80"/>
                </a:solidFill>
                <a:latin typeface="Lato"/>
                <a:ea typeface="Lato"/>
                <a:cs typeface="Lato"/>
                <a:sym typeface="Lato"/>
              </a:rPr>
              <a:t>a resolution</a:t>
            </a:r>
            <a:endParaRPr b="0" i="0" sz="1700" u="none" cap="none" strike="noStrike">
              <a:solidFill>
                <a:srgbClr val="304D80"/>
              </a:solidFill>
              <a:latin typeface="Lato"/>
              <a:ea typeface="Lato"/>
              <a:cs typeface="Lato"/>
              <a:sym typeface="Lato"/>
            </a:endParaRPr>
          </a:p>
          <a:p>
            <a:pPr indent="-336550" lvl="0" marL="457200" marR="0" rtl="0" algn="l">
              <a:spcBef>
                <a:spcPts val="1000"/>
              </a:spcBef>
              <a:spcAft>
                <a:spcPts val="0"/>
              </a:spcAft>
              <a:buClr>
                <a:srgbClr val="304D80"/>
              </a:buClr>
              <a:buSzPts val="1700"/>
              <a:buFont typeface="Lato"/>
              <a:buChar char="●"/>
            </a:pPr>
            <a:r>
              <a:rPr b="0" i="0" lang="en" sz="1700" u="none" cap="none" strike="noStrike">
                <a:solidFill>
                  <a:srgbClr val="304D80"/>
                </a:solidFill>
                <a:latin typeface="Lato"/>
                <a:ea typeface="Lato"/>
                <a:cs typeface="Lato"/>
                <a:sym typeface="Lato"/>
              </a:rPr>
              <a:t>Track liquor license denial → approval</a:t>
            </a:r>
            <a:endParaRPr b="0" i="0" sz="1700" u="none" cap="none" strike="noStrike">
              <a:solidFill>
                <a:srgbClr val="304D80"/>
              </a:solidFill>
              <a:latin typeface="Lato"/>
              <a:ea typeface="Lato"/>
              <a:cs typeface="Lato"/>
              <a:sym typeface="Lato"/>
            </a:endParaRPr>
          </a:p>
          <a:p>
            <a:pPr indent="-336550" lvl="0" marL="457200" marR="0" rtl="0" algn="l">
              <a:spcBef>
                <a:spcPts val="1000"/>
              </a:spcBef>
              <a:spcAft>
                <a:spcPts val="0"/>
              </a:spcAft>
              <a:buClr>
                <a:srgbClr val="304D80"/>
              </a:buClr>
              <a:buSzPts val="1700"/>
              <a:buFont typeface="Lato"/>
              <a:buChar char="●"/>
            </a:pPr>
            <a:r>
              <a:rPr lang="en" sz="1700">
                <a:solidFill>
                  <a:srgbClr val="304D80"/>
                </a:solidFill>
                <a:latin typeface="Lato"/>
                <a:ea typeface="Lato"/>
                <a:cs typeface="Lato"/>
                <a:sym typeface="Lato"/>
              </a:rPr>
              <a:t>Explore how community boards respond to the needs of their district</a:t>
            </a:r>
            <a:endParaRPr b="0" i="0" sz="1700" u="none" cap="none" strike="noStrike">
              <a:solidFill>
                <a:srgbClr val="304D80"/>
              </a:solidFill>
              <a:latin typeface="Lato"/>
              <a:ea typeface="Lato"/>
              <a:cs typeface="Lato"/>
              <a:sym typeface="Lato"/>
            </a:endParaRPr>
          </a:p>
          <a:p>
            <a:pPr indent="-336550" lvl="0" marL="457200" marR="0" rtl="0" algn="l">
              <a:spcBef>
                <a:spcPts val="1000"/>
              </a:spcBef>
              <a:spcAft>
                <a:spcPts val="0"/>
              </a:spcAft>
              <a:buClr>
                <a:srgbClr val="304D80"/>
              </a:buClr>
              <a:buSzPts val="1700"/>
              <a:buFont typeface="Lato"/>
              <a:buChar char="●"/>
            </a:pPr>
            <a:r>
              <a:rPr lang="en" sz="1700">
                <a:solidFill>
                  <a:srgbClr val="304D80"/>
                </a:solidFill>
                <a:latin typeface="Lato"/>
                <a:ea typeface="Lato"/>
                <a:cs typeface="Lato"/>
                <a:sym typeface="Lato"/>
              </a:rPr>
              <a:t>Knowledge base linking resolutions to the meeting discussion</a:t>
            </a:r>
            <a:endParaRPr sz="1700">
              <a:solidFill>
                <a:srgbClr val="304D80"/>
              </a:solidFill>
              <a:latin typeface="Lato"/>
              <a:ea typeface="Lato"/>
              <a:cs typeface="Lato"/>
              <a:sym typeface="Lato"/>
            </a:endParaRPr>
          </a:p>
        </p:txBody>
      </p:sp>
      <p:sp>
        <p:nvSpPr>
          <p:cNvPr id="481" name="Google Shape;481;p50"/>
          <p:cNvSpPr txBox="1"/>
          <p:nvPr/>
        </p:nvSpPr>
        <p:spPr>
          <a:xfrm>
            <a:off x="6174700" y="1164077"/>
            <a:ext cx="2578500" cy="354000"/>
          </a:xfrm>
          <a:prstGeom prst="rect">
            <a:avLst/>
          </a:prstGeom>
          <a:noFill/>
          <a:ln>
            <a:noFill/>
          </a:ln>
        </p:spPr>
        <p:txBody>
          <a:bodyPr anchorCtr="0" anchor="t" bIns="45700" lIns="91425" spcFirstLastPara="1" rIns="91425" wrap="square" tIns="45700">
            <a:spAutoFit/>
          </a:bodyPr>
          <a:lstStyle/>
          <a:p>
            <a:pPr indent="0" lvl="0" marL="0" rtl="0" algn="l">
              <a:spcBef>
                <a:spcPts val="0"/>
              </a:spcBef>
              <a:spcAft>
                <a:spcPts val="0"/>
              </a:spcAft>
              <a:buNone/>
            </a:pPr>
            <a:r>
              <a:rPr b="1" lang="en" sz="1700">
                <a:solidFill>
                  <a:schemeClr val="lt1"/>
                </a:solidFill>
                <a:latin typeface="Lato"/>
                <a:ea typeface="Lato"/>
                <a:cs typeface="Lato"/>
                <a:sym typeface="Lato"/>
              </a:rPr>
              <a:t>Taking it Further with AI</a:t>
            </a:r>
            <a:endParaRPr b="1" sz="1700">
              <a:solidFill>
                <a:srgbClr val="FFFFFF"/>
              </a:solidFill>
              <a:latin typeface="Lato"/>
              <a:ea typeface="Lato"/>
              <a:cs typeface="Lato"/>
              <a:sym typeface="Lato"/>
            </a:endParaRPr>
          </a:p>
        </p:txBody>
      </p:sp>
      <p:sp>
        <p:nvSpPr>
          <p:cNvPr id="482" name="Google Shape;482;p50"/>
          <p:cNvSpPr/>
          <p:nvPr/>
        </p:nvSpPr>
        <p:spPr>
          <a:xfrm>
            <a:off x="2324250" y="2773750"/>
            <a:ext cx="4495500" cy="2005500"/>
          </a:xfrm>
          <a:prstGeom prst="roundRect">
            <a:avLst>
              <a:gd fmla="val 16667" name="adj"/>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483" name="Google Shape;483;p50"/>
          <p:cNvSpPr/>
          <p:nvPr/>
        </p:nvSpPr>
        <p:spPr>
          <a:xfrm>
            <a:off x="4350175" y="3056000"/>
            <a:ext cx="2221200" cy="1378800"/>
          </a:xfrm>
          <a:prstGeom prst="wedgeRoundRectCallout">
            <a:avLst>
              <a:gd fmla="val -92848" name="adj1"/>
              <a:gd fmla="val 8061" name="adj2"/>
              <a:gd fmla="val 0" name="adj3"/>
            </a:avLst>
          </a:prstGeom>
          <a:solidFill>
            <a:schemeClr val="lt2"/>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Roboto Mono Light"/>
                <a:ea typeface="Roboto Mono Light"/>
                <a:cs typeface="Roboto Mono Light"/>
                <a:sym typeface="Roboto Mono Light"/>
              </a:rPr>
              <a:t>Particularly with term limits, access to institutional knowledge is even more important!</a:t>
            </a:r>
            <a:endParaRPr>
              <a:latin typeface="Roboto Mono Light"/>
              <a:ea typeface="Roboto Mono Light"/>
              <a:cs typeface="Roboto Mono Light"/>
              <a:sym typeface="Roboto Mono Light"/>
            </a:endParaRPr>
          </a:p>
        </p:txBody>
      </p:sp>
      <p:pic>
        <p:nvPicPr>
          <p:cNvPr id="484" name="Google Shape;484;p50"/>
          <p:cNvPicPr preferRelativeResize="0"/>
          <p:nvPr/>
        </p:nvPicPr>
        <p:blipFill>
          <a:blip r:embed="rId3">
            <a:alphaModFix/>
          </a:blip>
          <a:stretch>
            <a:fillRect/>
          </a:stretch>
        </p:blipFill>
        <p:spPr>
          <a:xfrm>
            <a:off x="2333238" y="2947062"/>
            <a:ext cx="1596677" cy="1596677"/>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8" name="Shape 488"/>
        <p:cNvGrpSpPr/>
        <p:nvPr/>
      </p:nvGrpSpPr>
      <p:grpSpPr>
        <a:xfrm>
          <a:off x="0" y="0"/>
          <a:ext cx="0" cy="0"/>
          <a:chOff x="0" y="0"/>
          <a:chExt cx="0" cy="0"/>
        </a:xfrm>
      </p:grpSpPr>
      <p:pic>
        <p:nvPicPr>
          <p:cNvPr id="489" name="Google Shape;489;p51" title="reso-diagram.png"/>
          <p:cNvPicPr preferRelativeResize="0"/>
          <p:nvPr/>
        </p:nvPicPr>
        <p:blipFill>
          <a:blip r:embed="rId3">
            <a:alphaModFix/>
          </a:blip>
          <a:stretch>
            <a:fillRect/>
          </a:stretch>
        </p:blipFill>
        <p:spPr>
          <a:xfrm>
            <a:off x="0" y="482600"/>
            <a:ext cx="9144000" cy="6096000"/>
          </a:xfrm>
          <a:prstGeom prst="rect">
            <a:avLst/>
          </a:prstGeom>
          <a:noFill/>
          <a:ln>
            <a:noFill/>
          </a:ln>
        </p:spPr>
      </p:pic>
      <p:sp>
        <p:nvSpPr>
          <p:cNvPr id="490" name="Google Shape;490;p51"/>
          <p:cNvSpPr txBox="1"/>
          <p:nvPr/>
        </p:nvSpPr>
        <p:spPr>
          <a:xfrm>
            <a:off x="301752" y="182880"/>
            <a:ext cx="7772400" cy="430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 sz="2200">
                <a:solidFill>
                  <a:srgbClr val="212121"/>
                </a:solidFill>
                <a:latin typeface="Lato"/>
                <a:ea typeface="Lato"/>
                <a:cs typeface="Lato"/>
                <a:sym typeface="Lato"/>
              </a:rPr>
              <a:t>Here is How We Built It</a:t>
            </a:r>
            <a:endParaRPr/>
          </a:p>
        </p:txBody>
      </p:sp>
      <p:sp>
        <p:nvSpPr>
          <p:cNvPr id="491" name="Google Shape;491;p51"/>
          <p:cNvSpPr/>
          <p:nvPr/>
        </p:nvSpPr>
        <p:spPr>
          <a:xfrm>
            <a:off x="2894575" y="5205775"/>
            <a:ext cx="1576500" cy="944100"/>
          </a:xfrm>
          <a:prstGeom prst="rightArrow">
            <a:avLst>
              <a:gd fmla="val 50000" name="adj1"/>
              <a:gd fmla="val 50000" name="adj2"/>
            </a:avLst>
          </a:prstGeom>
          <a:solidFill>
            <a:srgbClr val="00E09D"/>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solidFill>
                  <a:schemeClr val="lt1"/>
                </a:solidFill>
                <a:latin typeface="Lato"/>
                <a:ea typeface="Lato"/>
                <a:cs typeface="Lato"/>
                <a:sym typeface="Lato"/>
              </a:rPr>
              <a:t>Create Vector Embedding</a:t>
            </a:r>
            <a:endParaRPr>
              <a:solidFill>
                <a:schemeClr val="lt1"/>
              </a:solidFill>
              <a:latin typeface="Lato"/>
              <a:ea typeface="Lato"/>
              <a:cs typeface="Lato"/>
              <a:sym typeface="Lato"/>
            </a:endParaRPr>
          </a:p>
        </p:txBody>
      </p:sp>
      <p:sp>
        <p:nvSpPr>
          <p:cNvPr id="492" name="Google Shape;492;p51"/>
          <p:cNvSpPr/>
          <p:nvPr/>
        </p:nvSpPr>
        <p:spPr>
          <a:xfrm>
            <a:off x="5050950" y="5205775"/>
            <a:ext cx="1576500" cy="944100"/>
          </a:xfrm>
          <a:prstGeom prst="rightArrow">
            <a:avLst>
              <a:gd fmla="val 50000" name="adj1"/>
              <a:gd fmla="val 50000" name="adj2"/>
            </a:avLst>
          </a:prstGeom>
          <a:solidFill>
            <a:srgbClr val="00E09D"/>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solidFill>
                  <a:schemeClr val="lt1"/>
                </a:solidFill>
                <a:latin typeface="Lato"/>
                <a:ea typeface="Lato"/>
                <a:cs typeface="Lato"/>
                <a:sym typeface="Lato"/>
              </a:rPr>
              <a:t>Generate Summary</a:t>
            </a:r>
            <a:endParaRPr>
              <a:solidFill>
                <a:schemeClr val="lt1"/>
              </a:solidFill>
              <a:latin typeface="Lato"/>
              <a:ea typeface="Lato"/>
              <a:cs typeface="Lato"/>
              <a:sym typeface="Lato"/>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96" name="Shape 496"/>
        <p:cNvGrpSpPr/>
        <p:nvPr/>
      </p:nvGrpSpPr>
      <p:grpSpPr>
        <a:xfrm>
          <a:off x="0" y="0"/>
          <a:ext cx="0" cy="0"/>
          <a:chOff x="0" y="0"/>
          <a:chExt cx="0" cy="0"/>
        </a:xfrm>
      </p:grpSpPr>
      <p:sp>
        <p:nvSpPr>
          <p:cNvPr id="497" name="Google Shape;497;p52"/>
          <p:cNvSpPr txBox="1"/>
          <p:nvPr/>
        </p:nvSpPr>
        <p:spPr>
          <a:xfrm>
            <a:off x="301752" y="182880"/>
            <a:ext cx="7772400" cy="430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 sz="2200" u="none" cap="none" strike="noStrike">
                <a:solidFill>
                  <a:srgbClr val="212121"/>
                </a:solidFill>
                <a:latin typeface="Lato"/>
                <a:ea typeface="Lato"/>
                <a:cs typeface="Lato"/>
                <a:sym typeface="Lato"/>
              </a:rPr>
              <a:t>The Source Data — </a:t>
            </a:r>
            <a:r>
              <a:rPr b="1" lang="en" sz="2200">
                <a:solidFill>
                  <a:srgbClr val="212121"/>
                </a:solidFill>
                <a:latin typeface="Lato"/>
                <a:ea typeface="Lato"/>
                <a:cs typeface="Lato"/>
                <a:sym typeface="Lato"/>
              </a:rPr>
              <a:t>Community Board Website </a:t>
            </a:r>
            <a:r>
              <a:rPr b="1" i="0" lang="en" sz="2200" u="none" cap="none" strike="noStrike">
                <a:solidFill>
                  <a:srgbClr val="212121"/>
                </a:solidFill>
                <a:latin typeface="Lato"/>
                <a:ea typeface="Lato"/>
                <a:cs typeface="Lato"/>
                <a:sym typeface="Lato"/>
              </a:rPr>
              <a:t>PDFs</a:t>
            </a:r>
            <a:endParaRPr>
              <a:latin typeface="Lato"/>
              <a:ea typeface="Lato"/>
              <a:cs typeface="Lato"/>
              <a:sym typeface="Lato"/>
            </a:endParaRPr>
          </a:p>
        </p:txBody>
      </p:sp>
      <p:sp>
        <p:nvSpPr>
          <p:cNvPr id="498" name="Google Shape;498;p52"/>
          <p:cNvSpPr/>
          <p:nvPr/>
        </p:nvSpPr>
        <p:spPr>
          <a:xfrm>
            <a:off x="0" y="841248"/>
            <a:ext cx="9144000" cy="41100"/>
          </a:xfrm>
          <a:prstGeom prst="rect">
            <a:avLst/>
          </a:prstGeom>
          <a:solidFill>
            <a:srgbClr val="4285F4"/>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99" name="Google Shape;499;p52"/>
          <p:cNvSpPr txBox="1"/>
          <p:nvPr/>
        </p:nvSpPr>
        <p:spPr>
          <a:xfrm>
            <a:off x="301752" y="987552"/>
            <a:ext cx="8540400" cy="292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i="0" lang="en" sz="1300" u="none" cap="none" strike="noStrike">
                <a:solidFill>
                  <a:schemeClr val="dk1"/>
                </a:solidFill>
                <a:latin typeface="Lato"/>
                <a:ea typeface="Lato"/>
                <a:cs typeface="Lato"/>
                <a:sym typeface="Lato"/>
              </a:rPr>
              <a:t>MCB3 posts meeting minutes and vote records publicly — but in three different URL formats across eras.</a:t>
            </a:r>
            <a:endParaRPr>
              <a:solidFill>
                <a:schemeClr val="dk1"/>
              </a:solidFill>
              <a:latin typeface="Lato"/>
              <a:ea typeface="Lato"/>
              <a:cs typeface="Lato"/>
              <a:sym typeface="Lato"/>
            </a:endParaRPr>
          </a:p>
        </p:txBody>
      </p:sp>
      <p:sp>
        <p:nvSpPr>
          <p:cNvPr id="500" name="Google Shape;500;p52"/>
          <p:cNvSpPr txBox="1"/>
          <p:nvPr/>
        </p:nvSpPr>
        <p:spPr>
          <a:xfrm>
            <a:off x="301752" y="1481328"/>
            <a:ext cx="1828800" cy="292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 sz="1300" u="none" cap="none" strike="noStrike">
                <a:solidFill>
                  <a:srgbClr val="4285F4"/>
                </a:solidFill>
                <a:latin typeface="Lato"/>
                <a:ea typeface="Lato"/>
                <a:cs typeface="Lato"/>
                <a:sym typeface="Lato"/>
              </a:rPr>
              <a:t>2021 – present</a:t>
            </a:r>
            <a:endParaRPr b="1">
              <a:latin typeface="Lato"/>
              <a:ea typeface="Lato"/>
              <a:cs typeface="Lato"/>
              <a:sym typeface="Lato"/>
            </a:endParaRPr>
          </a:p>
        </p:txBody>
      </p:sp>
      <p:sp>
        <p:nvSpPr>
          <p:cNvPr id="501" name="Google Shape;501;p52"/>
          <p:cNvSpPr/>
          <p:nvPr/>
        </p:nvSpPr>
        <p:spPr>
          <a:xfrm>
            <a:off x="2286000" y="1481328"/>
            <a:ext cx="6556200" cy="438900"/>
          </a:xfrm>
          <a:prstGeom prst="rect">
            <a:avLst/>
          </a:prstGeom>
          <a:solidFill>
            <a:srgbClr val="F5F5F5"/>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02" name="Google Shape;502;p52"/>
          <p:cNvSpPr txBox="1"/>
          <p:nvPr/>
        </p:nvSpPr>
        <p:spPr>
          <a:xfrm>
            <a:off x="2423160" y="1536192"/>
            <a:ext cx="6355200" cy="2769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 sz="1200" u="none" cap="none" strike="noStrike">
                <a:solidFill>
                  <a:srgbClr val="212121"/>
                </a:solidFill>
                <a:latin typeface="Roboto Mono"/>
                <a:ea typeface="Roboto Mono"/>
                <a:cs typeface="Roboto Mono"/>
                <a:sym typeface="Roboto Mono"/>
              </a:rPr>
              <a:t>manhattancb3/downloads/minutes/YYYY/minutesYYYY-MM.pdf</a:t>
            </a:r>
            <a:endParaRPr/>
          </a:p>
        </p:txBody>
      </p:sp>
      <p:sp>
        <p:nvSpPr>
          <p:cNvPr id="503" name="Google Shape;503;p52"/>
          <p:cNvSpPr txBox="1"/>
          <p:nvPr/>
        </p:nvSpPr>
        <p:spPr>
          <a:xfrm>
            <a:off x="301752" y="2075688"/>
            <a:ext cx="1828800" cy="292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 sz="1300" u="none" cap="none" strike="noStrike">
                <a:solidFill>
                  <a:srgbClr val="4285F4"/>
                </a:solidFill>
                <a:latin typeface="Lato"/>
                <a:ea typeface="Lato"/>
                <a:cs typeface="Lato"/>
                <a:sym typeface="Lato"/>
              </a:rPr>
              <a:t>2004 – 2020</a:t>
            </a:r>
            <a:endParaRPr b="1">
              <a:latin typeface="Lato"/>
              <a:ea typeface="Lato"/>
              <a:cs typeface="Lato"/>
              <a:sym typeface="Lato"/>
            </a:endParaRPr>
          </a:p>
        </p:txBody>
      </p:sp>
      <p:sp>
        <p:nvSpPr>
          <p:cNvPr id="504" name="Google Shape;504;p52"/>
          <p:cNvSpPr/>
          <p:nvPr/>
        </p:nvSpPr>
        <p:spPr>
          <a:xfrm>
            <a:off x="2286000" y="2075688"/>
            <a:ext cx="6556200" cy="438900"/>
          </a:xfrm>
          <a:prstGeom prst="rect">
            <a:avLst/>
          </a:prstGeom>
          <a:solidFill>
            <a:srgbClr val="F5F5F5"/>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05" name="Google Shape;505;p52"/>
          <p:cNvSpPr txBox="1"/>
          <p:nvPr/>
        </p:nvSpPr>
        <p:spPr>
          <a:xfrm>
            <a:off x="2423160" y="2130552"/>
            <a:ext cx="6355200" cy="2769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 sz="1200" u="none" cap="none" strike="noStrike">
                <a:solidFill>
                  <a:srgbClr val="212121"/>
                </a:solidFill>
                <a:latin typeface="Roboto Mono"/>
                <a:ea typeface="Roboto Mono"/>
                <a:cs typeface="Roboto Mono"/>
                <a:sym typeface="Roboto Mono"/>
              </a:rPr>
              <a:t>manhattancb3/downloads/minutes/minutesYYYY-MM.pdf</a:t>
            </a:r>
            <a:endParaRPr/>
          </a:p>
        </p:txBody>
      </p:sp>
      <p:sp>
        <p:nvSpPr>
          <p:cNvPr id="506" name="Google Shape;506;p52"/>
          <p:cNvSpPr txBox="1"/>
          <p:nvPr/>
        </p:nvSpPr>
        <p:spPr>
          <a:xfrm>
            <a:off x="301752" y="2670048"/>
            <a:ext cx="1828800" cy="292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 sz="1300" u="none" cap="none" strike="noStrike">
                <a:solidFill>
                  <a:srgbClr val="4285F4"/>
                </a:solidFill>
                <a:latin typeface="Lato"/>
                <a:ea typeface="Lato"/>
                <a:cs typeface="Lato"/>
                <a:sym typeface="Lato"/>
              </a:rPr>
              <a:t>2002 – 2003</a:t>
            </a:r>
            <a:endParaRPr b="1">
              <a:latin typeface="Lato"/>
              <a:ea typeface="Lato"/>
              <a:cs typeface="Lato"/>
              <a:sym typeface="Lato"/>
            </a:endParaRPr>
          </a:p>
        </p:txBody>
      </p:sp>
      <p:sp>
        <p:nvSpPr>
          <p:cNvPr id="507" name="Google Shape;507;p52"/>
          <p:cNvSpPr/>
          <p:nvPr/>
        </p:nvSpPr>
        <p:spPr>
          <a:xfrm>
            <a:off x="2286000" y="2670048"/>
            <a:ext cx="6556200" cy="438900"/>
          </a:xfrm>
          <a:prstGeom prst="rect">
            <a:avLst/>
          </a:prstGeom>
          <a:solidFill>
            <a:srgbClr val="F5F5F5"/>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08" name="Google Shape;508;p52"/>
          <p:cNvSpPr txBox="1"/>
          <p:nvPr/>
        </p:nvSpPr>
        <p:spPr>
          <a:xfrm>
            <a:off x="2423160" y="2724912"/>
            <a:ext cx="6355200" cy="2769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 sz="1200" u="none" cap="none" strike="noStrike">
                <a:solidFill>
                  <a:srgbClr val="212121"/>
                </a:solidFill>
                <a:latin typeface="Roboto Mono"/>
                <a:ea typeface="Roboto Mono"/>
                <a:cs typeface="Roboto Mono"/>
                <a:sym typeface="Roboto Mono"/>
              </a:rPr>
              <a:t>manhattancb3/cb3docs/reso-archive/MM-Name-YYYY-Resolutions.pdf</a:t>
            </a:r>
            <a:endParaRPr/>
          </a:p>
        </p:txBody>
      </p:sp>
      <p:sp>
        <p:nvSpPr>
          <p:cNvPr id="509" name="Google Shape;509;p52"/>
          <p:cNvSpPr txBox="1"/>
          <p:nvPr/>
        </p:nvSpPr>
        <p:spPr>
          <a:xfrm>
            <a:off x="301802" y="3383328"/>
            <a:ext cx="8540400" cy="292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 sz="1300" u="none" cap="none" strike="noStrike">
                <a:solidFill>
                  <a:srgbClr val="212121"/>
                </a:solidFill>
                <a:latin typeface="Lato"/>
                <a:ea typeface="Lato"/>
                <a:cs typeface="Lato"/>
                <a:sym typeface="Lato"/>
              </a:rPr>
              <a:t>Challenge: each era has different PDF formatting, vote tally conventions, and resolution structure.</a:t>
            </a:r>
            <a:endParaRPr b="1">
              <a:latin typeface="Lato"/>
              <a:ea typeface="Lato"/>
              <a:cs typeface="Lato"/>
              <a:sym typeface="Lato"/>
            </a:endParaRPr>
          </a:p>
        </p:txBody>
      </p:sp>
      <p:sp>
        <p:nvSpPr>
          <p:cNvPr id="510" name="Google Shape;510;p52"/>
          <p:cNvSpPr/>
          <p:nvPr/>
        </p:nvSpPr>
        <p:spPr>
          <a:xfrm>
            <a:off x="0" y="3950200"/>
            <a:ext cx="9144000" cy="2697600"/>
          </a:xfrm>
          <a:prstGeom prst="rect">
            <a:avLst/>
          </a:prstGeom>
          <a:solidFill>
            <a:srgbClr val="F5F5F5"/>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pic>
        <p:nvPicPr>
          <p:cNvPr id="511" name="Google Shape;511;p52"/>
          <p:cNvPicPr preferRelativeResize="0"/>
          <p:nvPr/>
        </p:nvPicPr>
        <p:blipFill>
          <a:blip r:embed="rId3">
            <a:alphaModFix/>
          </a:blip>
          <a:stretch>
            <a:fillRect/>
          </a:stretch>
        </p:blipFill>
        <p:spPr>
          <a:xfrm>
            <a:off x="0" y="4398156"/>
            <a:ext cx="9143998" cy="1964587"/>
          </a:xfrm>
          <a:prstGeom prst="rect">
            <a:avLst/>
          </a:prstGeom>
          <a:noFill/>
          <a:ln>
            <a:noFill/>
          </a:ln>
        </p:spPr>
      </p:pic>
      <p:sp>
        <p:nvSpPr>
          <p:cNvPr id="512" name="Google Shape;512;p52"/>
          <p:cNvSpPr txBox="1"/>
          <p:nvPr/>
        </p:nvSpPr>
        <p:spPr>
          <a:xfrm>
            <a:off x="301802" y="4038952"/>
            <a:ext cx="8540400" cy="292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 sz="1300">
                <a:solidFill>
                  <a:srgbClr val="434343"/>
                </a:solidFill>
                <a:latin typeface="Lato"/>
                <a:ea typeface="Lato"/>
                <a:cs typeface="Lato"/>
                <a:sym typeface="Lato"/>
              </a:rPr>
              <a:t>It’s exciting to see some community boards have adopted solutions like Airtable!</a:t>
            </a:r>
            <a:endParaRPr>
              <a:solidFill>
                <a:srgbClr val="434343"/>
              </a:solidFill>
              <a:latin typeface="Lato"/>
              <a:ea typeface="Lato"/>
              <a:cs typeface="Lato"/>
              <a:sym typeface="Lato"/>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16" name="Shape 516"/>
        <p:cNvGrpSpPr/>
        <p:nvPr/>
      </p:nvGrpSpPr>
      <p:grpSpPr>
        <a:xfrm>
          <a:off x="0" y="0"/>
          <a:ext cx="0" cy="0"/>
          <a:chOff x="0" y="0"/>
          <a:chExt cx="0" cy="0"/>
        </a:xfrm>
      </p:grpSpPr>
      <p:pic>
        <p:nvPicPr>
          <p:cNvPr id="517" name="Google Shape;517;p53"/>
          <p:cNvPicPr preferRelativeResize="0"/>
          <p:nvPr/>
        </p:nvPicPr>
        <p:blipFill>
          <a:blip r:embed="rId3">
            <a:alphaModFix/>
          </a:blip>
          <a:stretch>
            <a:fillRect/>
          </a:stretch>
        </p:blipFill>
        <p:spPr>
          <a:xfrm>
            <a:off x="100" y="4684742"/>
            <a:ext cx="9143999" cy="1765366"/>
          </a:xfrm>
          <a:prstGeom prst="rect">
            <a:avLst/>
          </a:prstGeom>
          <a:noFill/>
          <a:ln>
            <a:noFill/>
          </a:ln>
        </p:spPr>
      </p:pic>
      <p:sp>
        <p:nvSpPr>
          <p:cNvPr id="518" name="Google Shape;518;p53"/>
          <p:cNvSpPr txBox="1"/>
          <p:nvPr/>
        </p:nvSpPr>
        <p:spPr>
          <a:xfrm>
            <a:off x="301752" y="182880"/>
            <a:ext cx="7772400" cy="430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i="0" lang="en" sz="2200" u="none" cap="none" strike="noStrike">
                <a:solidFill>
                  <a:srgbClr val="212121"/>
                </a:solidFill>
                <a:latin typeface="Lato"/>
                <a:ea typeface="Lato"/>
                <a:cs typeface="Lato"/>
                <a:sym typeface="Lato"/>
              </a:rPr>
              <a:t>How the Extractor Works — Three-Step Pipeline</a:t>
            </a:r>
            <a:endParaRPr>
              <a:latin typeface="Lato"/>
              <a:ea typeface="Lato"/>
              <a:cs typeface="Lato"/>
              <a:sym typeface="Lato"/>
            </a:endParaRPr>
          </a:p>
        </p:txBody>
      </p:sp>
      <p:sp>
        <p:nvSpPr>
          <p:cNvPr id="519" name="Google Shape;519;p53"/>
          <p:cNvSpPr/>
          <p:nvPr/>
        </p:nvSpPr>
        <p:spPr>
          <a:xfrm>
            <a:off x="0" y="841248"/>
            <a:ext cx="9144000" cy="41100"/>
          </a:xfrm>
          <a:prstGeom prst="rect">
            <a:avLst/>
          </a:prstGeom>
          <a:solidFill>
            <a:srgbClr val="4285F4"/>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20" name="Google Shape;520;p53"/>
          <p:cNvSpPr/>
          <p:nvPr/>
        </p:nvSpPr>
        <p:spPr>
          <a:xfrm>
            <a:off x="205777" y="1413002"/>
            <a:ext cx="2697600" cy="2880300"/>
          </a:xfrm>
          <a:prstGeom prst="rect">
            <a:avLst/>
          </a:prstGeom>
          <a:solidFill>
            <a:srgbClr val="F5F5F5"/>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000" u="none" cap="none" strike="noStrike">
              <a:solidFill>
                <a:schemeClr val="dk1"/>
              </a:solidFill>
              <a:latin typeface="Calibri"/>
              <a:ea typeface="Calibri"/>
              <a:cs typeface="Calibri"/>
              <a:sym typeface="Calibri"/>
            </a:endParaRPr>
          </a:p>
        </p:txBody>
      </p:sp>
      <p:sp>
        <p:nvSpPr>
          <p:cNvPr id="521" name="Google Shape;521;p53"/>
          <p:cNvSpPr/>
          <p:nvPr/>
        </p:nvSpPr>
        <p:spPr>
          <a:xfrm>
            <a:off x="205777" y="1413002"/>
            <a:ext cx="2697600" cy="567000"/>
          </a:xfrm>
          <a:prstGeom prst="rect">
            <a:avLst/>
          </a:prstGeom>
          <a:solidFill>
            <a:srgbClr val="4285F4"/>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22" name="Google Shape;522;p53"/>
          <p:cNvSpPr txBox="1"/>
          <p:nvPr/>
        </p:nvSpPr>
        <p:spPr>
          <a:xfrm>
            <a:off x="315505" y="1458721"/>
            <a:ext cx="411600" cy="4617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i="0" lang="en" sz="2400" u="none" cap="none" strike="noStrike">
                <a:solidFill>
                  <a:srgbClr val="FFFFFF"/>
                </a:solidFill>
                <a:latin typeface="Lato"/>
                <a:ea typeface="Lato"/>
                <a:cs typeface="Lato"/>
                <a:sym typeface="Lato"/>
              </a:rPr>
              <a:t>1</a:t>
            </a:r>
            <a:endParaRPr sz="1800">
              <a:latin typeface="Lato"/>
              <a:ea typeface="Lato"/>
              <a:cs typeface="Lato"/>
              <a:sym typeface="Lato"/>
            </a:endParaRPr>
          </a:p>
        </p:txBody>
      </p:sp>
      <p:sp>
        <p:nvSpPr>
          <p:cNvPr id="523" name="Google Shape;523;p53"/>
          <p:cNvSpPr txBox="1"/>
          <p:nvPr/>
        </p:nvSpPr>
        <p:spPr>
          <a:xfrm>
            <a:off x="754417" y="1495298"/>
            <a:ext cx="2011800" cy="3693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i="0" lang="en" sz="1800" u="none" cap="none" strike="noStrike">
                <a:solidFill>
                  <a:srgbClr val="FFFFFF"/>
                </a:solidFill>
                <a:latin typeface="Lato"/>
                <a:ea typeface="Lato"/>
                <a:cs typeface="Lato"/>
                <a:sym typeface="Lato"/>
              </a:rPr>
              <a:t>Fetch PDF</a:t>
            </a:r>
            <a:endParaRPr sz="1800">
              <a:latin typeface="Lato"/>
              <a:ea typeface="Lato"/>
              <a:cs typeface="Lato"/>
              <a:sym typeface="Lato"/>
            </a:endParaRPr>
          </a:p>
        </p:txBody>
      </p:sp>
      <p:sp>
        <p:nvSpPr>
          <p:cNvPr id="524" name="Google Shape;524;p53"/>
          <p:cNvSpPr txBox="1"/>
          <p:nvPr/>
        </p:nvSpPr>
        <p:spPr>
          <a:xfrm>
            <a:off x="205900" y="1980000"/>
            <a:ext cx="2697600" cy="2313000"/>
          </a:xfrm>
          <a:prstGeom prst="rect">
            <a:avLst/>
          </a:prstGeom>
          <a:noFill/>
          <a:ln>
            <a:noFill/>
          </a:ln>
        </p:spPr>
        <p:txBody>
          <a:bodyPr anchorCtr="0" anchor="ctr" bIns="45700" lIns="91425" spcFirstLastPara="1" rIns="91425" wrap="square" tIns="45700">
            <a:noAutofit/>
          </a:bodyPr>
          <a:lstStyle/>
          <a:p>
            <a:pPr indent="-336550" lvl="0" marL="457200" marR="0" rtl="0" algn="l">
              <a:spcBef>
                <a:spcPts val="0"/>
              </a:spcBef>
              <a:spcAft>
                <a:spcPts val="0"/>
              </a:spcAft>
              <a:buClr>
                <a:srgbClr val="304D80"/>
              </a:buClr>
              <a:buSzPts val="1700"/>
              <a:buFont typeface="Lato"/>
              <a:buChar char="●"/>
            </a:pPr>
            <a:r>
              <a:rPr b="0" i="0" lang="en" sz="1700" u="none" cap="none" strike="noStrike">
                <a:solidFill>
                  <a:srgbClr val="304D80"/>
                </a:solidFill>
                <a:latin typeface="Lato"/>
                <a:ea typeface="Lato"/>
                <a:cs typeface="Lato"/>
                <a:sym typeface="Lato"/>
              </a:rPr>
              <a:t>HTTP request to nyc.gov</a:t>
            </a:r>
            <a:br>
              <a:rPr b="0" i="0" lang="en" sz="1700" u="none" cap="none" strike="noStrike">
                <a:solidFill>
                  <a:srgbClr val="304D80"/>
                </a:solidFill>
                <a:latin typeface="Lato"/>
                <a:ea typeface="Lato"/>
                <a:cs typeface="Lato"/>
                <a:sym typeface="Lato"/>
              </a:rPr>
            </a:br>
            <a:endParaRPr b="0" i="0" sz="1700" u="none" cap="none" strike="noStrike">
              <a:solidFill>
                <a:srgbClr val="304D80"/>
              </a:solidFill>
              <a:latin typeface="Lato"/>
              <a:ea typeface="Lato"/>
              <a:cs typeface="Lato"/>
              <a:sym typeface="Lato"/>
            </a:endParaRPr>
          </a:p>
          <a:p>
            <a:pPr indent="-336550" lvl="0" marL="457200" marR="0" rtl="0" algn="l">
              <a:spcBef>
                <a:spcPts val="0"/>
              </a:spcBef>
              <a:spcAft>
                <a:spcPts val="0"/>
              </a:spcAft>
              <a:buClr>
                <a:srgbClr val="304D80"/>
              </a:buClr>
              <a:buSzPts val="1700"/>
              <a:buFont typeface="Lato"/>
              <a:buChar char="●"/>
            </a:pPr>
            <a:r>
              <a:rPr b="0" i="0" lang="en" sz="1700" u="none" cap="none" strike="noStrike">
                <a:solidFill>
                  <a:srgbClr val="304D80"/>
                </a:solidFill>
                <a:latin typeface="Lato"/>
                <a:ea typeface="Lato"/>
                <a:cs typeface="Lato"/>
                <a:sym typeface="Lato"/>
              </a:rPr>
              <a:t>Processed in memory—no files saved</a:t>
            </a:r>
            <a:endParaRPr sz="1700">
              <a:solidFill>
                <a:srgbClr val="304D80"/>
              </a:solidFill>
              <a:latin typeface="Lato"/>
              <a:ea typeface="Lato"/>
              <a:cs typeface="Lato"/>
              <a:sym typeface="Lato"/>
            </a:endParaRPr>
          </a:p>
        </p:txBody>
      </p:sp>
      <p:sp>
        <p:nvSpPr>
          <p:cNvPr id="525" name="Google Shape;525;p53"/>
          <p:cNvSpPr txBox="1"/>
          <p:nvPr/>
        </p:nvSpPr>
        <p:spPr>
          <a:xfrm>
            <a:off x="2836409" y="2672050"/>
            <a:ext cx="411600" cy="4308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 sz="2200" u="none" cap="none" strike="noStrike">
                <a:solidFill>
                  <a:srgbClr val="4285F4"/>
                </a:solidFill>
                <a:latin typeface="Lato"/>
                <a:ea typeface="Lato"/>
                <a:cs typeface="Lato"/>
                <a:sym typeface="Lato"/>
              </a:rPr>
              <a:t>→</a:t>
            </a:r>
            <a:endParaRPr/>
          </a:p>
        </p:txBody>
      </p:sp>
      <p:sp>
        <p:nvSpPr>
          <p:cNvPr id="526" name="Google Shape;526;p53"/>
          <p:cNvSpPr/>
          <p:nvPr/>
        </p:nvSpPr>
        <p:spPr>
          <a:xfrm>
            <a:off x="3223297" y="1413002"/>
            <a:ext cx="2697600" cy="2880300"/>
          </a:xfrm>
          <a:prstGeom prst="rect">
            <a:avLst/>
          </a:prstGeom>
          <a:solidFill>
            <a:srgbClr val="F5F5F5"/>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000" u="none" cap="none" strike="noStrike">
              <a:solidFill>
                <a:schemeClr val="dk1"/>
              </a:solidFill>
              <a:latin typeface="Calibri"/>
              <a:ea typeface="Calibri"/>
              <a:cs typeface="Calibri"/>
              <a:sym typeface="Calibri"/>
            </a:endParaRPr>
          </a:p>
        </p:txBody>
      </p:sp>
      <p:sp>
        <p:nvSpPr>
          <p:cNvPr id="527" name="Google Shape;527;p53"/>
          <p:cNvSpPr/>
          <p:nvPr/>
        </p:nvSpPr>
        <p:spPr>
          <a:xfrm>
            <a:off x="3223297" y="1413002"/>
            <a:ext cx="2697600" cy="567000"/>
          </a:xfrm>
          <a:prstGeom prst="rect">
            <a:avLst/>
          </a:prstGeom>
          <a:solidFill>
            <a:srgbClr val="4285F4"/>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28" name="Google Shape;528;p53"/>
          <p:cNvSpPr txBox="1"/>
          <p:nvPr/>
        </p:nvSpPr>
        <p:spPr>
          <a:xfrm>
            <a:off x="3333025" y="1458721"/>
            <a:ext cx="411600" cy="4617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i="0" lang="en" sz="2400" u="none" cap="none" strike="noStrike">
                <a:solidFill>
                  <a:srgbClr val="FFFFFF"/>
                </a:solidFill>
                <a:latin typeface="Lato"/>
                <a:ea typeface="Lato"/>
                <a:cs typeface="Lato"/>
                <a:sym typeface="Lato"/>
              </a:rPr>
              <a:t>2</a:t>
            </a:r>
            <a:endParaRPr sz="1800">
              <a:latin typeface="Lato"/>
              <a:ea typeface="Lato"/>
              <a:cs typeface="Lato"/>
              <a:sym typeface="Lato"/>
            </a:endParaRPr>
          </a:p>
        </p:txBody>
      </p:sp>
      <p:sp>
        <p:nvSpPr>
          <p:cNvPr id="529" name="Google Shape;529;p53"/>
          <p:cNvSpPr txBox="1"/>
          <p:nvPr/>
        </p:nvSpPr>
        <p:spPr>
          <a:xfrm>
            <a:off x="3771936" y="1495298"/>
            <a:ext cx="2011800" cy="3693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i="0" lang="en" sz="1800" u="none" cap="none" strike="noStrike">
                <a:solidFill>
                  <a:srgbClr val="FFFFFF"/>
                </a:solidFill>
                <a:latin typeface="Lato"/>
                <a:ea typeface="Lato"/>
                <a:cs typeface="Lato"/>
                <a:sym typeface="Lato"/>
              </a:rPr>
              <a:t>Extract text</a:t>
            </a:r>
            <a:endParaRPr sz="1800">
              <a:latin typeface="Lato"/>
              <a:ea typeface="Lato"/>
              <a:cs typeface="Lato"/>
              <a:sym typeface="Lato"/>
            </a:endParaRPr>
          </a:p>
        </p:txBody>
      </p:sp>
      <p:sp>
        <p:nvSpPr>
          <p:cNvPr id="530" name="Google Shape;530;p53"/>
          <p:cNvSpPr txBox="1"/>
          <p:nvPr/>
        </p:nvSpPr>
        <p:spPr>
          <a:xfrm>
            <a:off x="3252925" y="1920425"/>
            <a:ext cx="2697600" cy="2372700"/>
          </a:xfrm>
          <a:prstGeom prst="rect">
            <a:avLst/>
          </a:prstGeom>
          <a:noFill/>
          <a:ln>
            <a:noFill/>
          </a:ln>
        </p:spPr>
        <p:txBody>
          <a:bodyPr anchorCtr="0" anchor="ctr" bIns="45700" lIns="91425" spcFirstLastPara="1" rIns="91425" wrap="square" tIns="45700">
            <a:noAutofit/>
          </a:bodyPr>
          <a:lstStyle/>
          <a:p>
            <a:pPr indent="-336550" lvl="0" marL="457200" marR="0" rtl="0" algn="l">
              <a:spcBef>
                <a:spcPts val="0"/>
              </a:spcBef>
              <a:spcAft>
                <a:spcPts val="0"/>
              </a:spcAft>
              <a:buClr>
                <a:srgbClr val="304D80"/>
              </a:buClr>
              <a:buSzPts val="1700"/>
              <a:buFont typeface="Lato"/>
              <a:buChar char="●"/>
            </a:pPr>
            <a:r>
              <a:rPr b="0" i="0" lang="en" sz="1700" u="none" cap="none" strike="noStrike">
                <a:solidFill>
                  <a:srgbClr val="304D80"/>
                </a:solidFill>
                <a:latin typeface="Lato"/>
                <a:ea typeface="Lato"/>
                <a:cs typeface="Lato"/>
                <a:sym typeface="Lato"/>
              </a:rPr>
              <a:t>pdfplumber reads all pages</a:t>
            </a:r>
            <a:br>
              <a:rPr b="0" i="0" lang="en" sz="1700" u="none" cap="none" strike="noStrike">
                <a:solidFill>
                  <a:srgbClr val="304D80"/>
                </a:solidFill>
                <a:latin typeface="Lato"/>
                <a:ea typeface="Lato"/>
                <a:cs typeface="Lato"/>
                <a:sym typeface="Lato"/>
              </a:rPr>
            </a:br>
            <a:endParaRPr b="0" i="0" sz="1700" u="none" cap="none" strike="noStrike">
              <a:solidFill>
                <a:srgbClr val="304D80"/>
              </a:solidFill>
              <a:latin typeface="Lato"/>
              <a:ea typeface="Lato"/>
              <a:cs typeface="Lato"/>
              <a:sym typeface="Lato"/>
            </a:endParaRPr>
          </a:p>
          <a:p>
            <a:pPr indent="-336550" lvl="0" marL="457200" marR="0" rtl="0" algn="l">
              <a:spcBef>
                <a:spcPts val="0"/>
              </a:spcBef>
              <a:spcAft>
                <a:spcPts val="0"/>
              </a:spcAft>
              <a:buClr>
                <a:srgbClr val="304D80"/>
              </a:buClr>
              <a:buSzPts val="1700"/>
              <a:buFont typeface="Lato"/>
              <a:buChar char="●"/>
            </a:pPr>
            <a:r>
              <a:rPr b="0" i="0" lang="en" sz="1700" u="none" cap="none" strike="noStrike">
                <a:solidFill>
                  <a:srgbClr val="304D80"/>
                </a:solidFill>
                <a:latin typeface="Lato"/>
                <a:ea typeface="Lato"/>
                <a:cs typeface="Lato"/>
                <a:sym typeface="Lato"/>
              </a:rPr>
              <a:t>Concatenates raw text string</a:t>
            </a:r>
            <a:endParaRPr sz="1700">
              <a:solidFill>
                <a:srgbClr val="304D80"/>
              </a:solidFill>
              <a:latin typeface="Lato"/>
              <a:ea typeface="Lato"/>
              <a:cs typeface="Lato"/>
              <a:sym typeface="Lato"/>
            </a:endParaRPr>
          </a:p>
        </p:txBody>
      </p:sp>
      <p:sp>
        <p:nvSpPr>
          <p:cNvPr id="531" name="Google Shape;531;p53"/>
          <p:cNvSpPr txBox="1"/>
          <p:nvPr/>
        </p:nvSpPr>
        <p:spPr>
          <a:xfrm>
            <a:off x="5846540" y="2672050"/>
            <a:ext cx="411600" cy="4308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 sz="2200" u="none" cap="none" strike="noStrike">
                <a:solidFill>
                  <a:srgbClr val="4285F4"/>
                </a:solidFill>
                <a:latin typeface="Lato"/>
                <a:ea typeface="Lato"/>
                <a:cs typeface="Lato"/>
                <a:sym typeface="Lato"/>
              </a:rPr>
              <a:t>→</a:t>
            </a:r>
            <a:endParaRPr/>
          </a:p>
        </p:txBody>
      </p:sp>
      <p:sp>
        <p:nvSpPr>
          <p:cNvPr id="532" name="Google Shape;532;p53"/>
          <p:cNvSpPr/>
          <p:nvPr/>
        </p:nvSpPr>
        <p:spPr>
          <a:xfrm>
            <a:off x="6240817" y="1413002"/>
            <a:ext cx="2697600" cy="2880300"/>
          </a:xfrm>
          <a:prstGeom prst="rect">
            <a:avLst/>
          </a:prstGeom>
          <a:solidFill>
            <a:srgbClr val="F5F5F5"/>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000" u="none" cap="none" strike="noStrike">
              <a:solidFill>
                <a:schemeClr val="dk1"/>
              </a:solidFill>
              <a:latin typeface="Calibri"/>
              <a:ea typeface="Calibri"/>
              <a:cs typeface="Calibri"/>
              <a:sym typeface="Calibri"/>
            </a:endParaRPr>
          </a:p>
        </p:txBody>
      </p:sp>
      <p:sp>
        <p:nvSpPr>
          <p:cNvPr id="533" name="Google Shape;533;p53"/>
          <p:cNvSpPr/>
          <p:nvPr/>
        </p:nvSpPr>
        <p:spPr>
          <a:xfrm>
            <a:off x="6240817" y="1413002"/>
            <a:ext cx="2697600" cy="567000"/>
          </a:xfrm>
          <a:prstGeom prst="rect">
            <a:avLst/>
          </a:prstGeom>
          <a:solidFill>
            <a:srgbClr val="4285F4"/>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34" name="Google Shape;534;p53"/>
          <p:cNvSpPr txBox="1"/>
          <p:nvPr/>
        </p:nvSpPr>
        <p:spPr>
          <a:xfrm>
            <a:off x="6350545" y="1458721"/>
            <a:ext cx="411600" cy="4617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i="0" lang="en" sz="2400" u="none" cap="none" strike="noStrike">
                <a:solidFill>
                  <a:srgbClr val="FFFFFF"/>
                </a:solidFill>
                <a:latin typeface="Lato"/>
                <a:ea typeface="Lato"/>
                <a:cs typeface="Lato"/>
                <a:sym typeface="Lato"/>
              </a:rPr>
              <a:t>3</a:t>
            </a:r>
            <a:endParaRPr sz="1800">
              <a:latin typeface="Lato"/>
              <a:ea typeface="Lato"/>
              <a:cs typeface="Lato"/>
              <a:sym typeface="Lato"/>
            </a:endParaRPr>
          </a:p>
        </p:txBody>
      </p:sp>
      <p:sp>
        <p:nvSpPr>
          <p:cNvPr id="535" name="Google Shape;535;p53"/>
          <p:cNvSpPr txBox="1"/>
          <p:nvPr/>
        </p:nvSpPr>
        <p:spPr>
          <a:xfrm>
            <a:off x="6789456" y="1495298"/>
            <a:ext cx="2011800" cy="3693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i="0" lang="en" sz="1800" u="none" cap="none" strike="noStrike">
                <a:solidFill>
                  <a:srgbClr val="FFFFFF"/>
                </a:solidFill>
                <a:latin typeface="Lato"/>
                <a:ea typeface="Lato"/>
                <a:cs typeface="Lato"/>
                <a:sym typeface="Lato"/>
              </a:rPr>
              <a:t>Parse &amp; store</a:t>
            </a:r>
            <a:endParaRPr sz="1800">
              <a:latin typeface="Lato"/>
              <a:ea typeface="Lato"/>
              <a:cs typeface="Lato"/>
              <a:sym typeface="Lato"/>
            </a:endParaRPr>
          </a:p>
        </p:txBody>
      </p:sp>
      <p:sp>
        <p:nvSpPr>
          <p:cNvPr id="536" name="Google Shape;536;p53"/>
          <p:cNvSpPr txBox="1"/>
          <p:nvPr/>
        </p:nvSpPr>
        <p:spPr>
          <a:xfrm>
            <a:off x="6258150" y="1920450"/>
            <a:ext cx="2697600" cy="2372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rPr b="0" i="0" lang="en" sz="1600" u="none" cap="none" strike="noStrike">
                <a:solidFill>
                  <a:srgbClr val="304D80"/>
                </a:solidFill>
                <a:latin typeface="Lato"/>
                <a:ea typeface="Lato"/>
                <a:cs typeface="Lato"/>
                <a:sym typeface="Lato"/>
              </a:rPr>
              <a:t>Regex splits text:</a:t>
            </a:r>
            <a:endParaRPr sz="1600">
              <a:solidFill>
                <a:srgbClr val="304D80"/>
              </a:solidFill>
              <a:latin typeface="Lato"/>
              <a:ea typeface="Lato"/>
              <a:cs typeface="Lato"/>
              <a:sym typeface="Lato"/>
            </a:endParaRPr>
          </a:p>
          <a:p>
            <a:pPr indent="-330200" lvl="0" marL="457200" rtl="0" algn="l">
              <a:spcBef>
                <a:spcPts val="1000"/>
              </a:spcBef>
              <a:spcAft>
                <a:spcPts val="0"/>
              </a:spcAft>
              <a:buClr>
                <a:srgbClr val="304D80"/>
              </a:buClr>
              <a:buSzPts val="1600"/>
              <a:buFont typeface="Lato"/>
              <a:buChar char="●"/>
            </a:pPr>
            <a:r>
              <a:rPr lang="en" sz="1600">
                <a:solidFill>
                  <a:srgbClr val="304D80"/>
                </a:solidFill>
                <a:latin typeface="Lato"/>
                <a:ea typeface="Lato"/>
                <a:cs typeface="Lato"/>
                <a:sym typeface="Lato"/>
              </a:rPr>
              <a:t>Find resolution chunks (VOTE:)</a:t>
            </a:r>
            <a:endParaRPr sz="1600">
              <a:solidFill>
                <a:srgbClr val="304D80"/>
              </a:solidFill>
              <a:latin typeface="Lato"/>
              <a:ea typeface="Lato"/>
              <a:cs typeface="Lato"/>
              <a:sym typeface="Lato"/>
            </a:endParaRPr>
          </a:p>
          <a:p>
            <a:pPr indent="-330200" lvl="0" marL="457200" rtl="0" algn="l">
              <a:spcBef>
                <a:spcPts val="1000"/>
              </a:spcBef>
              <a:spcAft>
                <a:spcPts val="0"/>
              </a:spcAft>
              <a:buClr>
                <a:srgbClr val="304D80"/>
              </a:buClr>
              <a:buSzPts val="1600"/>
              <a:buFont typeface="Lato"/>
              <a:buChar char="●"/>
            </a:pPr>
            <a:r>
              <a:rPr lang="en" sz="1600">
                <a:solidFill>
                  <a:srgbClr val="304D80"/>
                </a:solidFill>
                <a:latin typeface="Lato"/>
                <a:ea typeface="Lato"/>
                <a:cs typeface="Lato"/>
                <a:sym typeface="Lato"/>
              </a:rPr>
              <a:t>Split by markers TITLE:</a:t>
            </a:r>
            <a:br>
              <a:rPr lang="en" sz="1600">
                <a:solidFill>
                  <a:srgbClr val="304D80"/>
                </a:solidFill>
                <a:latin typeface="Lato"/>
                <a:ea typeface="Lato"/>
                <a:cs typeface="Lato"/>
                <a:sym typeface="Lato"/>
              </a:rPr>
            </a:br>
            <a:r>
              <a:rPr lang="en" sz="1600">
                <a:solidFill>
                  <a:srgbClr val="304D80"/>
                </a:solidFill>
                <a:latin typeface="Lato"/>
                <a:ea typeface="Lato"/>
                <a:cs typeface="Lato"/>
                <a:sym typeface="Lato"/>
              </a:rPr>
              <a:t>WHEREAS: THEREFORE:</a:t>
            </a:r>
            <a:endParaRPr sz="1600">
              <a:solidFill>
                <a:srgbClr val="304D80"/>
              </a:solidFill>
              <a:latin typeface="Lato"/>
              <a:ea typeface="Lato"/>
              <a:cs typeface="Lato"/>
              <a:sym typeface="Lato"/>
            </a:endParaRPr>
          </a:p>
          <a:p>
            <a:pPr indent="0" lvl="0" marL="0" marR="0" rtl="0" algn="l">
              <a:spcBef>
                <a:spcPts val="0"/>
              </a:spcBef>
              <a:spcAft>
                <a:spcPts val="0"/>
              </a:spcAft>
              <a:buNone/>
            </a:pPr>
            <a:r>
              <a:t/>
            </a:r>
            <a:endParaRPr>
              <a:solidFill>
                <a:srgbClr val="304D80"/>
              </a:solidFill>
              <a:latin typeface="Lato"/>
              <a:ea typeface="Lato"/>
              <a:cs typeface="Lato"/>
              <a:sym typeface="Lato"/>
            </a:endParaRPr>
          </a:p>
        </p:txBody>
      </p:sp>
      <p:sp>
        <p:nvSpPr>
          <p:cNvPr id="537" name="Google Shape;537;p53"/>
          <p:cNvSpPr/>
          <p:nvPr/>
        </p:nvSpPr>
        <p:spPr>
          <a:xfrm>
            <a:off x="1300025" y="4936063"/>
            <a:ext cx="1814700" cy="1144500"/>
          </a:xfrm>
          <a:prstGeom prst="rightArrow">
            <a:avLst>
              <a:gd fmla="val 50000" name="adj1"/>
              <a:gd fmla="val 50000" name="adj2"/>
            </a:avLst>
          </a:prstGeom>
          <a:solidFill>
            <a:srgbClr val="00E09D"/>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b="1" lang="en">
                <a:solidFill>
                  <a:schemeClr val="lt1"/>
                </a:solidFill>
                <a:latin typeface="Lato"/>
                <a:ea typeface="Lato"/>
                <a:cs typeface="Lato"/>
                <a:sym typeface="Lato"/>
              </a:rPr>
              <a:t>Create Vector Embedding</a:t>
            </a:r>
            <a:endParaRPr b="1">
              <a:solidFill>
                <a:schemeClr val="lt1"/>
              </a:solidFill>
              <a:latin typeface="Lato"/>
              <a:ea typeface="Lato"/>
              <a:cs typeface="Lato"/>
              <a:sym typeface="Lato"/>
            </a:endParaRPr>
          </a:p>
        </p:txBody>
      </p:sp>
      <p:pic>
        <p:nvPicPr>
          <p:cNvPr id="538" name="Google Shape;538;p53"/>
          <p:cNvPicPr preferRelativeResize="0"/>
          <p:nvPr/>
        </p:nvPicPr>
        <p:blipFill>
          <a:blip r:embed="rId4">
            <a:alphaModFix/>
          </a:blip>
          <a:stretch>
            <a:fillRect/>
          </a:stretch>
        </p:blipFill>
        <p:spPr>
          <a:xfrm>
            <a:off x="3481713" y="4874777"/>
            <a:ext cx="2592025" cy="1267075"/>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2" name="Shape 542"/>
        <p:cNvGrpSpPr/>
        <p:nvPr/>
      </p:nvGrpSpPr>
      <p:grpSpPr>
        <a:xfrm>
          <a:off x="0" y="0"/>
          <a:ext cx="0" cy="0"/>
          <a:chOff x="0" y="0"/>
          <a:chExt cx="0" cy="0"/>
        </a:xfrm>
      </p:grpSpPr>
      <p:pic>
        <p:nvPicPr>
          <p:cNvPr id="543" name="Google Shape;543;p54"/>
          <p:cNvPicPr preferRelativeResize="0"/>
          <p:nvPr/>
        </p:nvPicPr>
        <p:blipFill>
          <a:blip r:embed="rId3">
            <a:alphaModFix/>
          </a:blip>
          <a:stretch>
            <a:fillRect/>
          </a:stretch>
        </p:blipFill>
        <p:spPr>
          <a:xfrm>
            <a:off x="152400" y="152400"/>
            <a:ext cx="8864124" cy="6608001"/>
          </a:xfrm>
          <a:prstGeom prst="rect">
            <a:avLst/>
          </a:prstGeom>
          <a:noFill/>
          <a:ln>
            <a:noFill/>
          </a:ln>
        </p:spPr>
      </p:pic>
      <p:grpSp>
        <p:nvGrpSpPr>
          <p:cNvPr id="544" name="Google Shape;544;p54"/>
          <p:cNvGrpSpPr/>
          <p:nvPr/>
        </p:nvGrpSpPr>
        <p:grpSpPr>
          <a:xfrm>
            <a:off x="4018407" y="3356251"/>
            <a:ext cx="3745754" cy="2285246"/>
            <a:chOff x="5835484" y="3817207"/>
            <a:chExt cx="3077100" cy="3099900"/>
          </a:xfrm>
        </p:grpSpPr>
        <p:sp>
          <p:nvSpPr>
            <p:cNvPr id="545" name="Google Shape;545;p54"/>
            <p:cNvSpPr/>
            <p:nvPr/>
          </p:nvSpPr>
          <p:spPr>
            <a:xfrm>
              <a:off x="5835484" y="3817207"/>
              <a:ext cx="3077100" cy="3099900"/>
            </a:xfrm>
            <a:prstGeom prst="flowChartAlternateProcess">
              <a:avLst/>
            </a:prstGeom>
            <a:solidFill>
              <a:srgbClr val="00E09D"/>
            </a:solidFill>
            <a:ln cap="flat" cmpd="sng" w="4900">
              <a:solidFill>
                <a:schemeClr val="dk2"/>
              </a:solidFill>
              <a:prstDash val="solid"/>
              <a:round/>
              <a:headEnd len="sm" w="sm" type="none"/>
              <a:tailEnd len="sm" w="sm" type="none"/>
            </a:ln>
          </p:spPr>
          <p:txBody>
            <a:bodyPr anchorCtr="0" anchor="ctr" bIns="47000" lIns="47000" spcFirstLastPara="1" rIns="47000" wrap="square" tIns="47000">
              <a:noAutofit/>
            </a:bodyPr>
            <a:lstStyle/>
            <a:p>
              <a:pPr indent="0" lvl="0" marL="0" rtl="0" algn="ctr">
                <a:spcBef>
                  <a:spcPts val="0"/>
                </a:spcBef>
                <a:spcAft>
                  <a:spcPts val="0"/>
                </a:spcAft>
                <a:buNone/>
              </a:pPr>
              <a:r>
                <a:t/>
              </a:r>
              <a:endParaRPr sz="720"/>
            </a:p>
          </p:txBody>
        </p:sp>
        <p:sp>
          <p:nvSpPr>
            <p:cNvPr id="546" name="Google Shape;546;p54"/>
            <p:cNvSpPr/>
            <p:nvPr/>
          </p:nvSpPr>
          <p:spPr>
            <a:xfrm>
              <a:off x="6019082" y="4001993"/>
              <a:ext cx="2709900" cy="2640000"/>
            </a:xfrm>
            <a:prstGeom prst="flowChartAlternateProcess">
              <a:avLst/>
            </a:prstGeom>
            <a:solidFill>
              <a:schemeClr val="lt1"/>
            </a:solidFill>
            <a:ln cap="flat" cmpd="sng" w="4900">
              <a:solidFill>
                <a:schemeClr val="dk2"/>
              </a:solidFill>
              <a:prstDash val="solid"/>
              <a:round/>
              <a:headEnd len="sm" w="sm" type="none"/>
              <a:tailEnd len="sm" w="sm" type="none"/>
            </a:ln>
          </p:spPr>
          <p:txBody>
            <a:bodyPr anchorCtr="0" anchor="t" bIns="47000" lIns="47000" spcFirstLastPara="1" rIns="47000" wrap="square" tIns="47000">
              <a:noAutofit/>
            </a:bodyPr>
            <a:lstStyle/>
            <a:p>
              <a:pPr indent="0" lvl="0" marL="0" rtl="0" algn="ctr">
                <a:spcBef>
                  <a:spcPts val="514"/>
                </a:spcBef>
                <a:spcAft>
                  <a:spcPts val="0"/>
                </a:spcAft>
                <a:buNone/>
              </a:pPr>
              <a:r>
                <a:rPr b="1" lang="en" sz="1620">
                  <a:solidFill>
                    <a:schemeClr val="dk1"/>
                  </a:solidFill>
                  <a:latin typeface="Lato"/>
                  <a:ea typeface="Lato"/>
                  <a:cs typeface="Lato"/>
                  <a:sym typeface="Lato"/>
                </a:rPr>
                <a:t>Generate Summary</a:t>
              </a:r>
              <a:endParaRPr sz="1320">
                <a:solidFill>
                  <a:schemeClr val="dk1"/>
                </a:solidFill>
                <a:latin typeface="Lato"/>
                <a:ea typeface="Lato"/>
                <a:cs typeface="Lato"/>
                <a:sym typeface="Lato"/>
              </a:endParaRPr>
            </a:p>
            <a:p>
              <a:pPr indent="-312397" lvl="0" marL="457200" rtl="0" algn="l">
                <a:spcBef>
                  <a:spcPts val="514"/>
                </a:spcBef>
                <a:spcAft>
                  <a:spcPts val="0"/>
                </a:spcAft>
                <a:buClr>
                  <a:schemeClr val="dk1"/>
                </a:buClr>
                <a:buSzPts val="1320"/>
                <a:buFont typeface="Lato"/>
                <a:buAutoNum type="arabicPeriod"/>
              </a:pPr>
              <a:r>
                <a:rPr lang="en" sz="1320">
                  <a:solidFill>
                    <a:schemeClr val="dk1"/>
                  </a:solidFill>
                  <a:latin typeface="Lato"/>
                  <a:ea typeface="Lato"/>
                  <a:cs typeface="Lato"/>
                  <a:sym typeface="Lato"/>
                </a:rPr>
                <a:t>Group text chunks by each section of the resolution</a:t>
              </a:r>
              <a:endParaRPr sz="1320">
                <a:solidFill>
                  <a:schemeClr val="dk1"/>
                </a:solidFill>
                <a:latin typeface="Lato"/>
                <a:ea typeface="Lato"/>
                <a:cs typeface="Lato"/>
                <a:sym typeface="Lato"/>
              </a:endParaRPr>
            </a:p>
            <a:p>
              <a:pPr indent="-312397" lvl="0" marL="457200" rtl="0" algn="l">
                <a:spcBef>
                  <a:spcPts val="1000"/>
                </a:spcBef>
                <a:spcAft>
                  <a:spcPts val="0"/>
                </a:spcAft>
                <a:buClr>
                  <a:schemeClr val="dk1"/>
                </a:buClr>
                <a:buSzPts val="1320"/>
                <a:buFont typeface="Lato"/>
                <a:buAutoNum type="arabicPeriod"/>
              </a:pPr>
              <a:r>
                <a:rPr lang="en" sz="1320">
                  <a:solidFill>
                    <a:schemeClr val="dk1"/>
                  </a:solidFill>
                  <a:latin typeface="Lato"/>
                  <a:ea typeface="Lato"/>
                  <a:cs typeface="Lato"/>
                  <a:sym typeface="Lato"/>
                </a:rPr>
                <a:t>Send to a prompt</a:t>
              </a:r>
              <a:endParaRPr sz="1320">
                <a:solidFill>
                  <a:schemeClr val="dk1"/>
                </a:solidFill>
                <a:latin typeface="Lato"/>
                <a:ea typeface="Lato"/>
                <a:cs typeface="Lato"/>
                <a:sym typeface="Lato"/>
              </a:endParaRPr>
            </a:p>
            <a:p>
              <a:pPr indent="-312397" lvl="0" marL="457200" rtl="0" algn="l">
                <a:spcBef>
                  <a:spcPts val="1000"/>
                </a:spcBef>
                <a:spcAft>
                  <a:spcPts val="0"/>
                </a:spcAft>
                <a:buClr>
                  <a:schemeClr val="dk1"/>
                </a:buClr>
                <a:buSzPts val="1320"/>
                <a:buFont typeface="Lato"/>
                <a:buAutoNum type="arabicPeriod"/>
              </a:pPr>
              <a:r>
                <a:rPr lang="en" sz="1320">
                  <a:solidFill>
                    <a:schemeClr val="dk1"/>
                  </a:solidFill>
                  <a:latin typeface="Lato"/>
                  <a:ea typeface="Lato"/>
                  <a:cs typeface="Lato"/>
                  <a:sym typeface="Lato"/>
                </a:rPr>
                <a:t>Specify the output structure</a:t>
              </a:r>
              <a:endParaRPr sz="1320">
                <a:solidFill>
                  <a:schemeClr val="dk1"/>
                </a:solidFill>
                <a:latin typeface="Lato"/>
                <a:ea typeface="Lato"/>
                <a:cs typeface="Lato"/>
                <a:sym typeface="Lato"/>
              </a:endParaRPr>
            </a:p>
            <a:p>
              <a:pPr indent="0" lvl="0" marL="235012" rtl="0" algn="l">
                <a:spcBef>
                  <a:spcPts val="1000"/>
                </a:spcBef>
                <a:spcAft>
                  <a:spcPts val="0"/>
                </a:spcAft>
                <a:buNone/>
              </a:pPr>
              <a:r>
                <a:t/>
              </a:r>
              <a:endParaRPr sz="720">
                <a:latin typeface="Lato"/>
                <a:ea typeface="Lato"/>
                <a:cs typeface="Lato"/>
                <a:sym typeface="Lato"/>
              </a:endParaRPr>
            </a:p>
          </p:txBody>
        </p:sp>
      </p:gr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0" name="Shape 550"/>
        <p:cNvGrpSpPr/>
        <p:nvPr/>
      </p:nvGrpSpPr>
      <p:grpSpPr>
        <a:xfrm>
          <a:off x="0" y="0"/>
          <a:ext cx="0" cy="0"/>
          <a:chOff x="0" y="0"/>
          <a:chExt cx="0" cy="0"/>
        </a:xfrm>
      </p:grpSpPr>
      <p:pic>
        <p:nvPicPr>
          <p:cNvPr id="551" name="Google Shape;551;p55"/>
          <p:cNvPicPr preferRelativeResize="0"/>
          <p:nvPr/>
        </p:nvPicPr>
        <p:blipFill>
          <a:blip r:embed="rId3">
            <a:alphaModFix/>
          </a:blip>
          <a:stretch>
            <a:fillRect/>
          </a:stretch>
        </p:blipFill>
        <p:spPr>
          <a:xfrm>
            <a:off x="152400" y="152400"/>
            <a:ext cx="5010372" cy="6553200"/>
          </a:xfrm>
          <a:prstGeom prst="rect">
            <a:avLst/>
          </a:prstGeom>
          <a:noFill/>
          <a:ln>
            <a:noFill/>
          </a:ln>
        </p:spPr>
      </p:pic>
      <p:pic>
        <p:nvPicPr>
          <p:cNvPr id="552" name="Google Shape;552;p55"/>
          <p:cNvPicPr preferRelativeResize="0"/>
          <p:nvPr/>
        </p:nvPicPr>
        <p:blipFill>
          <a:blip r:embed="rId4">
            <a:alphaModFix/>
          </a:blip>
          <a:stretch>
            <a:fillRect/>
          </a:stretch>
        </p:blipFill>
        <p:spPr>
          <a:xfrm>
            <a:off x="5315172" y="152400"/>
            <a:ext cx="3285095" cy="6553199"/>
          </a:xfrm>
          <a:prstGeom prst="rect">
            <a:avLst/>
          </a:prstGeom>
          <a:noFill/>
          <a:ln>
            <a:noFill/>
          </a:ln>
        </p:spPr>
      </p:pic>
      <p:pic>
        <p:nvPicPr>
          <p:cNvPr id="553" name="Google Shape;553;p55"/>
          <p:cNvPicPr preferRelativeResize="0"/>
          <p:nvPr/>
        </p:nvPicPr>
        <p:blipFill>
          <a:blip r:embed="rId5">
            <a:alphaModFix/>
          </a:blip>
          <a:stretch>
            <a:fillRect/>
          </a:stretch>
        </p:blipFill>
        <p:spPr>
          <a:xfrm>
            <a:off x="1878200" y="1297274"/>
            <a:ext cx="5387601" cy="4585374"/>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7" name="Shape 557"/>
        <p:cNvGrpSpPr/>
        <p:nvPr/>
      </p:nvGrpSpPr>
      <p:grpSpPr>
        <a:xfrm>
          <a:off x="0" y="0"/>
          <a:ext cx="0" cy="0"/>
          <a:chOff x="0" y="0"/>
          <a:chExt cx="0" cy="0"/>
        </a:xfrm>
      </p:grpSpPr>
      <p:pic>
        <p:nvPicPr>
          <p:cNvPr id="558" name="Google Shape;558;p56"/>
          <p:cNvPicPr preferRelativeResize="0"/>
          <p:nvPr/>
        </p:nvPicPr>
        <p:blipFill>
          <a:blip r:embed="rId3">
            <a:alphaModFix/>
          </a:blip>
          <a:stretch>
            <a:fillRect/>
          </a:stretch>
        </p:blipFill>
        <p:spPr>
          <a:xfrm>
            <a:off x="152400" y="1253775"/>
            <a:ext cx="8839199" cy="4350445"/>
          </a:xfrm>
          <a:prstGeom prst="rect">
            <a:avLst/>
          </a:prstGeom>
          <a:noFill/>
          <a:ln cap="flat" cmpd="sng" w="9525">
            <a:solidFill>
              <a:schemeClr val="dk2"/>
            </a:solidFill>
            <a:prstDash val="solid"/>
            <a:round/>
            <a:headEnd len="sm" w="sm" type="none"/>
            <a:tailEnd len="sm" w="sm" type="none"/>
          </a:ln>
        </p:spPr>
      </p:pic>
      <p:sp>
        <p:nvSpPr>
          <p:cNvPr id="559" name="Google Shape;559;p56"/>
          <p:cNvSpPr/>
          <p:nvPr/>
        </p:nvSpPr>
        <p:spPr>
          <a:xfrm>
            <a:off x="5922800" y="3999025"/>
            <a:ext cx="2725500" cy="311700"/>
          </a:xfrm>
          <a:prstGeom prst="wedgeRectCallout">
            <a:avLst>
              <a:gd fmla="val -51306" name="adj1"/>
              <a:gd fmla="val -84288" name="adj2"/>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Lato"/>
                <a:ea typeface="Lato"/>
                <a:cs typeface="Lato"/>
                <a:sym typeface="Lato"/>
              </a:rPr>
              <a:t>Community concerns</a:t>
            </a:r>
            <a:endParaRPr>
              <a:latin typeface="Lato"/>
              <a:ea typeface="Lato"/>
              <a:cs typeface="Lato"/>
              <a:sym typeface="Lato"/>
            </a:endParaRPr>
          </a:p>
        </p:txBody>
      </p:sp>
      <p:sp>
        <p:nvSpPr>
          <p:cNvPr id="560" name="Google Shape;560;p56"/>
          <p:cNvSpPr/>
          <p:nvPr/>
        </p:nvSpPr>
        <p:spPr>
          <a:xfrm>
            <a:off x="3002450" y="2592775"/>
            <a:ext cx="2403900" cy="311700"/>
          </a:xfrm>
          <a:prstGeom prst="wedgeRectCallout">
            <a:avLst>
              <a:gd fmla="val 52218" name="adj1"/>
              <a:gd fmla="val 135411" name="adj2"/>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Lato"/>
                <a:ea typeface="Lato"/>
                <a:cs typeface="Lato"/>
                <a:sym typeface="Lato"/>
              </a:rPr>
              <a:t>Reliable data points</a:t>
            </a:r>
            <a:endParaRPr>
              <a:latin typeface="Lato"/>
              <a:ea typeface="Lato"/>
              <a:cs typeface="Lato"/>
              <a:sym typeface="Lato"/>
            </a:endParaRPr>
          </a:p>
        </p:txBody>
      </p:sp>
      <p:sp>
        <p:nvSpPr>
          <p:cNvPr id="561" name="Google Shape;561;p56"/>
          <p:cNvSpPr/>
          <p:nvPr/>
        </p:nvSpPr>
        <p:spPr>
          <a:xfrm>
            <a:off x="832225" y="5967325"/>
            <a:ext cx="1371600" cy="410400"/>
          </a:xfrm>
          <a:prstGeom prst="flowChartAlternateProcess">
            <a:avLst/>
          </a:prstGeom>
          <a:solidFill>
            <a:srgbClr val="ED315D"/>
          </a:solid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b="1" lang="en">
                <a:solidFill>
                  <a:schemeClr val="lt1"/>
                </a:solidFill>
                <a:latin typeface="Lato"/>
                <a:ea typeface="Lato"/>
                <a:cs typeface="Lato"/>
                <a:sym typeface="Lato"/>
              </a:rPr>
              <a:t>Locations</a:t>
            </a:r>
            <a:endParaRPr b="1">
              <a:solidFill>
                <a:schemeClr val="lt1"/>
              </a:solidFill>
              <a:latin typeface="Lato"/>
              <a:ea typeface="Lato"/>
              <a:cs typeface="Lato"/>
              <a:sym typeface="Lato"/>
            </a:endParaRPr>
          </a:p>
        </p:txBody>
      </p:sp>
      <p:sp>
        <p:nvSpPr>
          <p:cNvPr id="562" name="Google Shape;562;p56"/>
          <p:cNvSpPr/>
          <p:nvPr/>
        </p:nvSpPr>
        <p:spPr>
          <a:xfrm>
            <a:off x="3838650" y="5967325"/>
            <a:ext cx="1371600" cy="410400"/>
          </a:xfrm>
          <a:prstGeom prst="flowChartAlternateProcess">
            <a:avLst/>
          </a:prstGeom>
          <a:solidFill>
            <a:srgbClr val="ED315D"/>
          </a:solid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b="1" lang="en">
                <a:solidFill>
                  <a:schemeClr val="lt1"/>
                </a:solidFill>
                <a:latin typeface="Lato"/>
                <a:ea typeface="Lato"/>
                <a:cs typeface="Lato"/>
                <a:sym typeface="Lato"/>
              </a:rPr>
              <a:t>Entities</a:t>
            </a:r>
            <a:endParaRPr b="1">
              <a:solidFill>
                <a:schemeClr val="lt1"/>
              </a:solidFill>
              <a:latin typeface="Lato"/>
              <a:ea typeface="Lato"/>
              <a:cs typeface="Lato"/>
              <a:sym typeface="Lato"/>
            </a:endParaRPr>
          </a:p>
        </p:txBody>
      </p:sp>
      <p:sp>
        <p:nvSpPr>
          <p:cNvPr id="563" name="Google Shape;563;p56"/>
          <p:cNvSpPr/>
          <p:nvPr/>
        </p:nvSpPr>
        <p:spPr>
          <a:xfrm>
            <a:off x="6845075" y="5967325"/>
            <a:ext cx="1371600" cy="410400"/>
          </a:xfrm>
          <a:prstGeom prst="flowChartAlternateProcess">
            <a:avLst/>
          </a:prstGeom>
          <a:solidFill>
            <a:srgbClr val="ED315D"/>
          </a:solid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b="1" lang="en">
                <a:solidFill>
                  <a:schemeClr val="lt1"/>
                </a:solidFill>
                <a:latin typeface="Lato"/>
                <a:ea typeface="Lato"/>
                <a:cs typeface="Lato"/>
                <a:sym typeface="Lato"/>
              </a:rPr>
              <a:t>Topics</a:t>
            </a:r>
            <a:endParaRPr b="1">
              <a:solidFill>
                <a:schemeClr val="lt1"/>
              </a:solidFill>
              <a:latin typeface="Lato"/>
              <a:ea typeface="Lato"/>
              <a:cs typeface="Lato"/>
              <a:sym typeface="Lato"/>
            </a:endParaRPr>
          </a:p>
        </p:txBody>
      </p:sp>
      <p:sp>
        <p:nvSpPr>
          <p:cNvPr id="564" name="Google Shape;564;p56"/>
          <p:cNvSpPr/>
          <p:nvPr/>
        </p:nvSpPr>
        <p:spPr>
          <a:xfrm>
            <a:off x="3086475" y="5230200"/>
            <a:ext cx="1785300" cy="311700"/>
          </a:xfrm>
          <a:prstGeom prst="wedgeRectCallout">
            <a:avLst>
              <a:gd fmla="val -50769" name="adj1"/>
              <a:gd fmla="val -93535" name="adj2"/>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Lato"/>
                <a:ea typeface="Lato"/>
                <a:cs typeface="Lato"/>
                <a:sym typeface="Lato"/>
              </a:rPr>
              <a:t>Next steps</a:t>
            </a:r>
            <a:endParaRPr>
              <a:latin typeface="Lato"/>
              <a:ea typeface="Lato"/>
              <a:cs typeface="Lato"/>
              <a:sym typeface="Lato"/>
            </a:endParaRPr>
          </a:p>
        </p:txBody>
      </p:sp>
      <p:sp>
        <p:nvSpPr>
          <p:cNvPr id="565" name="Google Shape;565;p56"/>
          <p:cNvSpPr txBox="1"/>
          <p:nvPr/>
        </p:nvSpPr>
        <p:spPr>
          <a:xfrm>
            <a:off x="301752" y="182880"/>
            <a:ext cx="7772400" cy="430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 sz="2200">
                <a:solidFill>
                  <a:srgbClr val="212121"/>
                </a:solidFill>
                <a:latin typeface="Lato"/>
                <a:ea typeface="Lato"/>
                <a:cs typeface="Lato"/>
                <a:sym typeface="Lato"/>
              </a:rPr>
              <a:t>Resolutions as a Data Source</a:t>
            </a:r>
            <a:endParaRPr/>
          </a:p>
        </p:txBody>
      </p:sp>
      <p:sp>
        <p:nvSpPr>
          <p:cNvPr id="566" name="Google Shape;566;p56"/>
          <p:cNvSpPr/>
          <p:nvPr/>
        </p:nvSpPr>
        <p:spPr>
          <a:xfrm>
            <a:off x="0" y="841248"/>
            <a:ext cx="9144000" cy="41100"/>
          </a:xfrm>
          <a:prstGeom prst="rect">
            <a:avLst/>
          </a:prstGeom>
          <a:solidFill>
            <a:srgbClr val="4285F4"/>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0" name="Shape 570"/>
        <p:cNvGrpSpPr/>
        <p:nvPr/>
      </p:nvGrpSpPr>
      <p:grpSpPr>
        <a:xfrm>
          <a:off x="0" y="0"/>
          <a:ext cx="0" cy="0"/>
          <a:chOff x="0" y="0"/>
          <a:chExt cx="0" cy="0"/>
        </a:xfrm>
      </p:grpSpPr>
      <p:pic>
        <p:nvPicPr>
          <p:cNvPr id="571" name="Google Shape;571;p57"/>
          <p:cNvPicPr preferRelativeResize="0"/>
          <p:nvPr/>
        </p:nvPicPr>
        <p:blipFill>
          <a:blip r:embed="rId3">
            <a:alphaModFix/>
          </a:blip>
          <a:stretch>
            <a:fillRect/>
          </a:stretch>
        </p:blipFill>
        <p:spPr>
          <a:xfrm>
            <a:off x="152400" y="152400"/>
            <a:ext cx="5010372" cy="6553200"/>
          </a:xfrm>
          <a:prstGeom prst="rect">
            <a:avLst/>
          </a:prstGeom>
          <a:noFill/>
          <a:ln>
            <a:noFill/>
          </a:ln>
        </p:spPr>
      </p:pic>
      <p:pic>
        <p:nvPicPr>
          <p:cNvPr id="572" name="Google Shape;572;p57"/>
          <p:cNvPicPr preferRelativeResize="0"/>
          <p:nvPr/>
        </p:nvPicPr>
        <p:blipFill>
          <a:blip r:embed="rId4">
            <a:alphaModFix/>
          </a:blip>
          <a:stretch>
            <a:fillRect/>
          </a:stretch>
        </p:blipFill>
        <p:spPr>
          <a:xfrm>
            <a:off x="5315172" y="152400"/>
            <a:ext cx="3285095" cy="6553199"/>
          </a:xfrm>
          <a:prstGeom prst="rect">
            <a:avLst/>
          </a:prstGeom>
          <a:noFill/>
          <a:ln>
            <a:noFill/>
          </a:ln>
        </p:spPr>
      </p:pic>
      <p:pic>
        <p:nvPicPr>
          <p:cNvPr id="573" name="Google Shape;573;p57"/>
          <p:cNvPicPr preferRelativeResize="0"/>
          <p:nvPr/>
        </p:nvPicPr>
        <p:blipFill>
          <a:blip r:embed="rId5">
            <a:alphaModFix/>
          </a:blip>
          <a:stretch>
            <a:fillRect/>
          </a:stretch>
        </p:blipFill>
        <p:spPr>
          <a:xfrm>
            <a:off x="1878200" y="1297274"/>
            <a:ext cx="5387601" cy="4585374"/>
          </a:xfrm>
          <a:prstGeom prst="rect">
            <a:avLst/>
          </a:prstGeom>
          <a:noFill/>
          <a:ln>
            <a:noFill/>
          </a:ln>
        </p:spPr>
      </p:pic>
      <p:sp>
        <p:nvSpPr>
          <p:cNvPr id="574" name="Google Shape;574;p57"/>
          <p:cNvSpPr/>
          <p:nvPr/>
        </p:nvSpPr>
        <p:spPr>
          <a:xfrm>
            <a:off x="3607125" y="4088075"/>
            <a:ext cx="4684800" cy="1941600"/>
          </a:xfrm>
          <a:prstGeom prst="rect">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575" name="Google Shape;575;p57"/>
          <p:cNvSpPr/>
          <p:nvPr/>
        </p:nvSpPr>
        <p:spPr>
          <a:xfrm>
            <a:off x="5790600" y="4394100"/>
            <a:ext cx="2221200" cy="1378800"/>
          </a:xfrm>
          <a:prstGeom prst="wedgeRoundRectCallout">
            <a:avLst>
              <a:gd fmla="val -92848" name="adj1"/>
              <a:gd fmla="val 8061" name="adj2"/>
              <a:gd fmla="val 0" name="adj3"/>
            </a:avLst>
          </a:prstGeom>
          <a:solidFill>
            <a:schemeClr val="lt2"/>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Roboto Mono Light"/>
                <a:ea typeface="Roboto Mono Light"/>
                <a:cs typeface="Roboto Mono Light"/>
                <a:sym typeface="Roboto Mono Light"/>
              </a:rPr>
              <a:t>What if we could dive into the meeting discussion?</a:t>
            </a:r>
            <a:endParaRPr>
              <a:latin typeface="Roboto Mono Light"/>
              <a:ea typeface="Roboto Mono Light"/>
              <a:cs typeface="Roboto Mono Light"/>
              <a:sym typeface="Roboto Mono Light"/>
            </a:endParaRPr>
          </a:p>
        </p:txBody>
      </p:sp>
      <p:pic>
        <p:nvPicPr>
          <p:cNvPr id="576" name="Google Shape;576;p57"/>
          <p:cNvPicPr preferRelativeResize="0"/>
          <p:nvPr/>
        </p:nvPicPr>
        <p:blipFill>
          <a:blip r:embed="rId6">
            <a:alphaModFix/>
          </a:blip>
          <a:stretch>
            <a:fillRect/>
          </a:stretch>
        </p:blipFill>
        <p:spPr>
          <a:xfrm>
            <a:off x="3773663" y="4285162"/>
            <a:ext cx="1596677" cy="1596677"/>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0" name="Shape 580"/>
        <p:cNvGrpSpPr/>
        <p:nvPr/>
      </p:nvGrpSpPr>
      <p:grpSpPr>
        <a:xfrm>
          <a:off x="0" y="0"/>
          <a:ext cx="0" cy="0"/>
          <a:chOff x="0" y="0"/>
          <a:chExt cx="0" cy="0"/>
        </a:xfrm>
      </p:grpSpPr>
      <p:sp>
        <p:nvSpPr>
          <p:cNvPr id="581" name="Google Shape;581;p58"/>
          <p:cNvSpPr/>
          <p:nvPr/>
        </p:nvSpPr>
        <p:spPr>
          <a:xfrm>
            <a:off x="4343075" y="2422575"/>
            <a:ext cx="4593000" cy="4356000"/>
          </a:xfrm>
          <a:prstGeom prst="flowChartAlternateProcess">
            <a:avLst/>
          </a:prstGeom>
          <a:solidFill>
            <a:srgbClr val="00E09D"/>
          </a:solidFill>
          <a:ln cap="flat" cmpd="sng" w="7300">
            <a:solidFill>
              <a:srgbClr val="00E09D"/>
            </a:solidFill>
            <a:prstDash val="solid"/>
            <a:round/>
            <a:headEnd len="sm" w="sm" type="none"/>
            <a:tailEnd len="sm" w="sm" type="none"/>
          </a:ln>
        </p:spPr>
        <p:txBody>
          <a:bodyPr anchorCtr="0" anchor="ctr" bIns="70150" lIns="70150" spcFirstLastPara="1" rIns="70150" wrap="square" tIns="70150">
            <a:noAutofit/>
          </a:bodyPr>
          <a:lstStyle/>
          <a:p>
            <a:pPr indent="0" lvl="0" marL="0" rtl="0" algn="ctr">
              <a:spcBef>
                <a:spcPts val="0"/>
              </a:spcBef>
              <a:spcAft>
                <a:spcPts val="0"/>
              </a:spcAft>
              <a:buNone/>
            </a:pPr>
            <a:r>
              <a:t/>
            </a:r>
            <a:endParaRPr sz="1074"/>
          </a:p>
        </p:txBody>
      </p:sp>
      <p:sp>
        <p:nvSpPr>
          <p:cNvPr id="582" name="Google Shape;582;p58"/>
          <p:cNvSpPr/>
          <p:nvPr/>
        </p:nvSpPr>
        <p:spPr>
          <a:xfrm>
            <a:off x="4616987" y="2682370"/>
            <a:ext cx="4044900" cy="3836100"/>
          </a:xfrm>
          <a:prstGeom prst="flowChartAlternateProcess">
            <a:avLst/>
          </a:prstGeom>
          <a:solidFill>
            <a:schemeClr val="lt1"/>
          </a:solidFill>
          <a:ln cap="flat" cmpd="sng" w="7300">
            <a:solidFill>
              <a:srgbClr val="ED315D"/>
            </a:solidFill>
            <a:prstDash val="solid"/>
            <a:round/>
            <a:headEnd len="sm" w="sm" type="none"/>
            <a:tailEnd len="sm" w="sm" type="none"/>
          </a:ln>
        </p:spPr>
        <p:txBody>
          <a:bodyPr anchorCtr="0" anchor="t" bIns="70150" lIns="70150" spcFirstLastPara="1" rIns="70150" wrap="square" tIns="70150">
            <a:noAutofit/>
          </a:bodyPr>
          <a:lstStyle/>
          <a:p>
            <a:pPr indent="0" lvl="0" marL="350792" rtl="0" algn="l">
              <a:spcBef>
                <a:spcPts val="767"/>
              </a:spcBef>
              <a:spcAft>
                <a:spcPts val="0"/>
              </a:spcAft>
              <a:buNone/>
            </a:pPr>
            <a:r>
              <a:t/>
            </a:r>
            <a:endParaRPr sz="1074">
              <a:solidFill>
                <a:schemeClr val="dk1"/>
              </a:solidFill>
            </a:endParaRPr>
          </a:p>
          <a:p>
            <a:pPr indent="0" lvl="0" marL="350792" rtl="0" algn="l">
              <a:spcBef>
                <a:spcPts val="767"/>
              </a:spcBef>
              <a:spcAft>
                <a:spcPts val="0"/>
              </a:spcAft>
              <a:buNone/>
            </a:pPr>
            <a:r>
              <a:t/>
            </a:r>
            <a:endParaRPr sz="1074"/>
          </a:p>
        </p:txBody>
      </p:sp>
      <p:pic>
        <p:nvPicPr>
          <p:cNvPr id="583" name="Google Shape;583;p58"/>
          <p:cNvPicPr preferRelativeResize="0"/>
          <p:nvPr/>
        </p:nvPicPr>
        <p:blipFill rotWithShape="1">
          <a:blip r:embed="rId3">
            <a:alphaModFix/>
          </a:blip>
          <a:srcRect b="20949" l="0" r="0" t="0"/>
          <a:stretch/>
        </p:blipFill>
        <p:spPr>
          <a:xfrm>
            <a:off x="4740788" y="384025"/>
            <a:ext cx="3797574" cy="1837165"/>
          </a:xfrm>
          <a:prstGeom prst="rect">
            <a:avLst/>
          </a:prstGeom>
          <a:noFill/>
          <a:ln cap="flat" cmpd="sng" w="28575">
            <a:solidFill>
              <a:srgbClr val="ED315D"/>
            </a:solidFill>
            <a:prstDash val="solid"/>
            <a:round/>
            <a:headEnd len="sm" w="sm" type="none"/>
            <a:tailEnd len="sm" w="sm" type="none"/>
          </a:ln>
        </p:spPr>
      </p:pic>
      <p:pic>
        <p:nvPicPr>
          <p:cNvPr id="584" name="Google Shape;584;p58"/>
          <p:cNvPicPr preferRelativeResize="0"/>
          <p:nvPr/>
        </p:nvPicPr>
        <p:blipFill rotWithShape="1">
          <a:blip r:embed="rId4">
            <a:alphaModFix/>
          </a:blip>
          <a:srcRect b="75731" l="0" r="0" t="0"/>
          <a:stretch/>
        </p:blipFill>
        <p:spPr>
          <a:xfrm>
            <a:off x="152400" y="168575"/>
            <a:ext cx="3958625" cy="1349975"/>
          </a:xfrm>
          <a:prstGeom prst="rect">
            <a:avLst/>
          </a:prstGeom>
          <a:noFill/>
          <a:ln cap="flat" cmpd="sng" w="38100">
            <a:solidFill>
              <a:srgbClr val="04D99D"/>
            </a:solidFill>
            <a:prstDash val="solid"/>
            <a:round/>
            <a:headEnd len="sm" w="sm" type="none"/>
            <a:tailEnd len="sm" w="sm" type="none"/>
          </a:ln>
        </p:spPr>
      </p:pic>
      <p:sp>
        <p:nvSpPr>
          <p:cNvPr id="585" name="Google Shape;585;p58"/>
          <p:cNvSpPr txBox="1"/>
          <p:nvPr/>
        </p:nvSpPr>
        <p:spPr>
          <a:xfrm>
            <a:off x="4740800" y="3626525"/>
            <a:ext cx="3797700" cy="13029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sz="1200">
                <a:solidFill>
                  <a:srgbClr val="20124D"/>
                </a:solidFill>
                <a:highlight>
                  <a:srgbClr val="FFFFFF"/>
                </a:highlight>
                <a:latin typeface="Lato"/>
                <a:ea typeface="Lato"/>
                <a:cs typeface="Lato"/>
                <a:sym typeface="Lato"/>
              </a:rPr>
              <a:t>“</a:t>
            </a:r>
            <a:r>
              <a:rPr lang="en" sz="1200">
                <a:solidFill>
                  <a:schemeClr val="lt1"/>
                </a:solidFill>
                <a:highlight>
                  <a:srgbClr val="073763"/>
                </a:highlight>
                <a:latin typeface="Lato"/>
                <a:ea typeface="Lato"/>
                <a:cs typeface="Lato"/>
                <a:sym typeface="Lato"/>
              </a:rPr>
              <a:t>Our main concern is that, all parking spaces </a:t>
            </a:r>
            <a:r>
              <a:rPr lang="en" sz="1200">
                <a:solidFill>
                  <a:srgbClr val="20124D"/>
                </a:solidFill>
                <a:highlight>
                  <a:srgbClr val="FFFFFF"/>
                </a:highlight>
                <a:latin typeface="Lato"/>
                <a:ea typeface="Lato"/>
                <a:cs typeface="Lato"/>
                <a:sym typeface="Lato"/>
              </a:rPr>
              <a:t>on Canal Street from Broadway to East Elizabeth Street </a:t>
            </a:r>
            <a:r>
              <a:rPr lang="en" sz="1200">
                <a:solidFill>
                  <a:schemeClr val="lt1"/>
                </a:solidFill>
                <a:highlight>
                  <a:srgbClr val="073763"/>
                </a:highlight>
                <a:latin typeface="Lato"/>
                <a:ea typeface="Lato"/>
                <a:cs typeface="Lato"/>
                <a:sym typeface="Lato"/>
              </a:rPr>
              <a:t>will be removed under the new</a:t>
            </a:r>
            <a:r>
              <a:rPr lang="en" sz="1200">
                <a:solidFill>
                  <a:schemeClr val="lt1"/>
                </a:solidFill>
                <a:highlight>
                  <a:srgbClr val="20124D"/>
                </a:highlight>
                <a:latin typeface="Lato"/>
                <a:ea typeface="Lato"/>
                <a:cs typeface="Lato"/>
                <a:sym typeface="Lato"/>
              </a:rPr>
              <a:t> </a:t>
            </a:r>
            <a:r>
              <a:rPr lang="en" sz="1200">
                <a:solidFill>
                  <a:schemeClr val="lt1"/>
                </a:solidFill>
                <a:highlight>
                  <a:srgbClr val="073763"/>
                </a:highlight>
                <a:latin typeface="Lato"/>
                <a:ea typeface="Lato"/>
                <a:cs typeface="Lato"/>
                <a:sym typeface="Lato"/>
              </a:rPr>
              <a:t>DOT plan to widen the sidewalks.</a:t>
            </a:r>
            <a:r>
              <a:rPr lang="en" sz="1200">
                <a:solidFill>
                  <a:srgbClr val="20124D"/>
                </a:solidFill>
                <a:highlight>
                  <a:srgbClr val="FFFFFF"/>
                </a:highlight>
                <a:latin typeface="Lato"/>
                <a:ea typeface="Lato"/>
                <a:cs typeface="Lato"/>
                <a:sym typeface="Lato"/>
              </a:rPr>
              <a:t> This will create major problems for truck delivery to local businesses and for seniors and patients with mobility impairments, who rely on ambulance or call service to reach the doctor's offices. Especially, since there are about 200 medical providers and two large radiology center on Canal Street.”</a:t>
            </a:r>
            <a:endParaRPr sz="1200">
              <a:solidFill>
                <a:srgbClr val="20124D"/>
              </a:solidFill>
              <a:highlight>
                <a:srgbClr val="FFFFFF"/>
              </a:highlight>
              <a:latin typeface="Lato"/>
              <a:ea typeface="Lato"/>
              <a:cs typeface="Lato"/>
              <a:sym typeface="Lato"/>
            </a:endParaRPr>
          </a:p>
          <a:p>
            <a:pPr indent="0" lvl="0" marL="0" rtl="0" algn="l">
              <a:spcBef>
                <a:spcPts val="1200"/>
              </a:spcBef>
              <a:spcAft>
                <a:spcPts val="0"/>
              </a:spcAft>
              <a:buNone/>
            </a:pPr>
            <a:r>
              <a:t/>
            </a:r>
            <a:endParaRPr sz="1700">
              <a:solidFill>
                <a:schemeClr val="dk2"/>
              </a:solidFill>
              <a:latin typeface="Lato"/>
              <a:ea typeface="Lato"/>
              <a:cs typeface="Lato"/>
              <a:sym typeface="Lato"/>
            </a:endParaRPr>
          </a:p>
        </p:txBody>
      </p:sp>
      <p:sp>
        <p:nvSpPr>
          <p:cNvPr id="586" name="Google Shape;586;p58"/>
          <p:cNvSpPr txBox="1"/>
          <p:nvPr/>
        </p:nvSpPr>
        <p:spPr>
          <a:xfrm>
            <a:off x="6432050" y="5738100"/>
            <a:ext cx="21063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u="sng">
                <a:solidFill>
                  <a:schemeClr val="hlink"/>
                </a:solidFill>
                <a:latin typeface="Lato Light"/>
                <a:ea typeface="Lato Light"/>
                <a:cs typeface="Lato Light"/>
                <a:sym typeface="Lato Light"/>
                <a:hlinkClick r:id="rId5"/>
              </a:rPr>
              <a:t>Link to Full Transcript</a:t>
            </a:r>
            <a:endParaRPr>
              <a:latin typeface="Lato Light"/>
              <a:ea typeface="Lato Light"/>
              <a:cs typeface="Lato Light"/>
              <a:sym typeface="Lato Light"/>
            </a:endParaRPr>
          </a:p>
        </p:txBody>
      </p:sp>
      <p:pic>
        <p:nvPicPr>
          <p:cNvPr id="587" name="Google Shape;587;p58"/>
          <p:cNvPicPr preferRelativeResize="0"/>
          <p:nvPr/>
        </p:nvPicPr>
        <p:blipFill>
          <a:blip r:embed="rId6">
            <a:alphaModFix/>
          </a:blip>
          <a:stretch>
            <a:fillRect/>
          </a:stretch>
        </p:blipFill>
        <p:spPr>
          <a:xfrm>
            <a:off x="226025" y="1988700"/>
            <a:ext cx="3797551" cy="3837673"/>
          </a:xfrm>
          <a:prstGeom prst="rect">
            <a:avLst/>
          </a:prstGeom>
          <a:noFill/>
          <a:ln cap="flat" cmpd="sng" w="19050">
            <a:solidFill>
              <a:srgbClr val="00E09D"/>
            </a:solidFill>
            <a:prstDash val="solid"/>
            <a:round/>
            <a:headEnd len="sm" w="sm" type="none"/>
            <a:tailEnd len="sm" w="sm" type="none"/>
          </a:ln>
        </p:spPr>
      </p:pic>
      <p:pic>
        <p:nvPicPr>
          <p:cNvPr id="588" name="Google Shape;588;p58"/>
          <p:cNvPicPr preferRelativeResize="0"/>
          <p:nvPr/>
        </p:nvPicPr>
        <p:blipFill>
          <a:blip r:embed="rId7">
            <a:alphaModFix/>
          </a:blip>
          <a:stretch>
            <a:fillRect/>
          </a:stretch>
        </p:blipFill>
        <p:spPr>
          <a:xfrm>
            <a:off x="5182138" y="2839350"/>
            <a:ext cx="2914863" cy="851325"/>
          </a:xfrm>
          <a:prstGeom prst="rect">
            <a:avLst/>
          </a:prstGeom>
          <a:noFill/>
          <a:ln>
            <a:noFill/>
          </a:ln>
        </p:spPr>
      </p:pic>
      <p:cxnSp>
        <p:nvCxnSpPr>
          <p:cNvPr id="589" name="Google Shape;589;p58"/>
          <p:cNvCxnSpPr/>
          <p:nvPr/>
        </p:nvCxnSpPr>
        <p:spPr>
          <a:xfrm>
            <a:off x="4153925" y="-14700"/>
            <a:ext cx="58800" cy="6887400"/>
          </a:xfrm>
          <a:prstGeom prst="straightConnector1">
            <a:avLst/>
          </a:prstGeom>
          <a:noFill/>
          <a:ln cap="flat" cmpd="sng" w="9525">
            <a:solidFill>
              <a:schemeClr val="dk2"/>
            </a:solidFill>
            <a:prstDash val="dash"/>
            <a:round/>
            <a:headEnd len="med" w="med" type="none"/>
            <a:tailEnd len="med" w="med" type="none"/>
          </a:ln>
        </p:spPr>
      </p:cxnSp>
      <p:sp>
        <p:nvSpPr>
          <p:cNvPr id="590" name="Google Shape;590;p58"/>
          <p:cNvSpPr/>
          <p:nvPr/>
        </p:nvSpPr>
        <p:spPr>
          <a:xfrm>
            <a:off x="6279975" y="643463"/>
            <a:ext cx="1165800" cy="400200"/>
          </a:xfrm>
          <a:prstGeom prst="roundRect">
            <a:avLst>
              <a:gd fmla="val 16667" name="adj"/>
            </a:avLst>
          </a:prstGeom>
          <a:noFill/>
          <a:ln cap="flat" cmpd="sng" w="76200">
            <a:solidFill>
              <a:srgbClr val="00E09D"/>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591" name="Google Shape;591;p58"/>
          <p:cNvSpPr/>
          <p:nvPr/>
        </p:nvSpPr>
        <p:spPr>
          <a:xfrm>
            <a:off x="6773775" y="1198675"/>
            <a:ext cx="178200" cy="1068900"/>
          </a:xfrm>
          <a:prstGeom prst="downArrow">
            <a:avLst>
              <a:gd fmla="val 50000" name="adj1"/>
              <a:gd fmla="val 50000" name="adj2"/>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5" name="Shape 595"/>
        <p:cNvGrpSpPr/>
        <p:nvPr/>
      </p:nvGrpSpPr>
      <p:grpSpPr>
        <a:xfrm>
          <a:off x="0" y="0"/>
          <a:ext cx="0" cy="0"/>
          <a:chOff x="0" y="0"/>
          <a:chExt cx="0" cy="0"/>
        </a:xfrm>
      </p:grpSpPr>
      <p:sp>
        <p:nvSpPr>
          <p:cNvPr id="596" name="Google Shape;596;p59"/>
          <p:cNvSpPr/>
          <p:nvPr/>
        </p:nvSpPr>
        <p:spPr>
          <a:xfrm>
            <a:off x="4343075" y="2422575"/>
            <a:ext cx="4593000" cy="4356000"/>
          </a:xfrm>
          <a:prstGeom prst="flowChartAlternateProcess">
            <a:avLst/>
          </a:prstGeom>
          <a:solidFill>
            <a:srgbClr val="00E09D"/>
          </a:solidFill>
          <a:ln cap="flat" cmpd="sng" w="7300">
            <a:solidFill>
              <a:srgbClr val="00E09D"/>
            </a:solidFill>
            <a:prstDash val="solid"/>
            <a:round/>
            <a:headEnd len="sm" w="sm" type="none"/>
            <a:tailEnd len="sm" w="sm" type="none"/>
          </a:ln>
        </p:spPr>
        <p:txBody>
          <a:bodyPr anchorCtr="0" anchor="ctr" bIns="70150" lIns="70150" spcFirstLastPara="1" rIns="70150" wrap="square" tIns="70150">
            <a:noAutofit/>
          </a:bodyPr>
          <a:lstStyle/>
          <a:p>
            <a:pPr indent="0" lvl="0" marL="0" rtl="0" algn="ctr">
              <a:spcBef>
                <a:spcPts val="0"/>
              </a:spcBef>
              <a:spcAft>
                <a:spcPts val="0"/>
              </a:spcAft>
              <a:buNone/>
            </a:pPr>
            <a:r>
              <a:t/>
            </a:r>
            <a:endParaRPr sz="1074"/>
          </a:p>
        </p:txBody>
      </p:sp>
      <p:sp>
        <p:nvSpPr>
          <p:cNvPr id="597" name="Google Shape;597;p59"/>
          <p:cNvSpPr/>
          <p:nvPr/>
        </p:nvSpPr>
        <p:spPr>
          <a:xfrm>
            <a:off x="4616987" y="2682370"/>
            <a:ext cx="4044900" cy="3836100"/>
          </a:xfrm>
          <a:prstGeom prst="flowChartAlternateProcess">
            <a:avLst/>
          </a:prstGeom>
          <a:solidFill>
            <a:schemeClr val="lt1"/>
          </a:solidFill>
          <a:ln cap="flat" cmpd="sng" w="7300">
            <a:solidFill>
              <a:srgbClr val="ED315D"/>
            </a:solidFill>
            <a:prstDash val="solid"/>
            <a:round/>
            <a:headEnd len="sm" w="sm" type="none"/>
            <a:tailEnd len="sm" w="sm" type="none"/>
          </a:ln>
        </p:spPr>
        <p:txBody>
          <a:bodyPr anchorCtr="0" anchor="t" bIns="70150" lIns="70150" spcFirstLastPara="1" rIns="70150" wrap="square" tIns="70150">
            <a:noAutofit/>
          </a:bodyPr>
          <a:lstStyle/>
          <a:p>
            <a:pPr indent="0" lvl="0" marL="350792" rtl="0" algn="l">
              <a:spcBef>
                <a:spcPts val="767"/>
              </a:spcBef>
              <a:spcAft>
                <a:spcPts val="0"/>
              </a:spcAft>
              <a:buNone/>
            </a:pPr>
            <a:r>
              <a:t/>
            </a:r>
            <a:endParaRPr sz="1074">
              <a:solidFill>
                <a:schemeClr val="dk1"/>
              </a:solidFill>
            </a:endParaRPr>
          </a:p>
          <a:p>
            <a:pPr indent="0" lvl="0" marL="350792" rtl="0" algn="l">
              <a:spcBef>
                <a:spcPts val="767"/>
              </a:spcBef>
              <a:spcAft>
                <a:spcPts val="0"/>
              </a:spcAft>
              <a:buNone/>
            </a:pPr>
            <a:r>
              <a:t/>
            </a:r>
            <a:endParaRPr sz="1074"/>
          </a:p>
        </p:txBody>
      </p:sp>
      <p:pic>
        <p:nvPicPr>
          <p:cNvPr id="598" name="Google Shape;598;p59"/>
          <p:cNvPicPr preferRelativeResize="0"/>
          <p:nvPr/>
        </p:nvPicPr>
        <p:blipFill rotWithShape="1">
          <a:blip r:embed="rId3">
            <a:alphaModFix/>
          </a:blip>
          <a:srcRect b="20949" l="0" r="0" t="0"/>
          <a:stretch/>
        </p:blipFill>
        <p:spPr>
          <a:xfrm>
            <a:off x="4740788" y="384025"/>
            <a:ext cx="3797574" cy="1837165"/>
          </a:xfrm>
          <a:prstGeom prst="rect">
            <a:avLst/>
          </a:prstGeom>
          <a:noFill/>
          <a:ln cap="flat" cmpd="sng" w="28575">
            <a:solidFill>
              <a:srgbClr val="ED315D"/>
            </a:solidFill>
            <a:prstDash val="solid"/>
            <a:round/>
            <a:headEnd len="sm" w="sm" type="none"/>
            <a:tailEnd len="sm" w="sm" type="none"/>
          </a:ln>
        </p:spPr>
      </p:pic>
      <p:pic>
        <p:nvPicPr>
          <p:cNvPr id="599" name="Google Shape;599;p59"/>
          <p:cNvPicPr preferRelativeResize="0"/>
          <p:nvPr/>
        </p:nvPicPr>
        <p:blipFill rotWithShape="1">
          <a:blip r:embed="rId4">
            <a:alphaModFix/>
          </a:blip>
          <a:srcRect b="75731" l="0" r="0" t="0"/>
          <a:stretch/>
        </p:blipFill>
        <p:spPr>
          <a:xfrm>
            <a:off x="152400" y="168575"/>
            <a:ext cx="3958625" cy="1349975"/>
          </a:xfrm>
          <a:prstGeom prst="rect">
            <a:avLst/>
          </a:prstGeom>
          <a:noFill/>
          <a:ln cap="flat" cmpd="sng" w="38100">
            <a:solidFill>
              <a:srgbClr val="04D99D"/>
            </a:solidFill>
            <a:prstDash val="solid"/>
            <a:round/>
            <a:headEnd len="sm" w="sm" type="none"/>
            <a:tailEnd len="sm" w="sm" type="none"/>
          </a:ln>
        </p:spPr>
      </p:pic>
      <p:sp>
        <p:nvSpPr>
          <p:cNvPr id="600" name="Google Shape;600;p59"/>
          <p:cNvSpPr txBox="1"/>
          <p:nvPr/>
        </p:nvSpPr>
        <p:spPr>
          <a:xfrm>
            <a:off x="4740800" y="3626525"/>
            <a:ext cx="3797700" cy="13029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sz="1200">
                <a:solidFill>
                  <a:srgbClr val="20124D"/>
                </a:solidFill>
                <a:highlight>
                  <a:srgbClr val="FFFFFF"/>
                </a:highlight>
                <a:latin typeface="Lato"/>
                <a:ea typeface="Lato"/>
                <a:cs typeface="Lato"/>
                <a:sym typeface="Lato"/>
              </a:rPr>
              <a:t>“</a:t>
            </a:r>
            <a:r>
              <a:rPr lang="en" sz="1200">
                <a:solidFill>
                  <a:schemeClr val="lt1"/>
                </a:solidFill>
                <a:highlight>
                  <a:srgbClr val="073763"/>
                </a:highlight>
                <a:latin typeface="Lato"/>
                <a:ea typeface="Lato"/>
                <a:cs typeface="Lato"/>
                <a:sym typeface="Lato"/>
              </a:rPr>
              <a:t>Our main concern is that, all parking spaces </a:t>
            </a:r>
            <a:r>
              <a:rPr lang="en" sz="1200">
                <a:solidFill>
                  <a:srgbClr val="20124D"/>
                </a:solidFill>
                <a:highlight>
                  <a:srgbClr val="FFFFFF"/>
                </a:highlight>
                <a:latin typeface="Lato"/>
                <a:ea typeface="Lato"/>
                <a:cs typeface="Lato"/>
                <a:sym typeface="Lato"/>
              </a:rPr>
              <a:t>on Canal Street from Broadway to East Elizabeth Street </a:t>
            </a:r>
            <a:r>
              <a:rPr lang="en" sz="1200">
                <a:solidFill>
                  <a:schemeClr val="lt1"/>
                </a:solidFill>
                <a:highlight>
                  <a:srgbClr val="073763"/>
                </a:highlight>
                <a:latin typeface="Lato"/>
                <a:ea typeface="Lato"/>
                <a:cs typeface="Lato"/>
                <a:sym typeface="Lato"/>
              </a:rPr>
              <a:t>will be removed under the new</a:t>
            </a:r>
            <a:r>
              <a:rPr lang="en" sz="1200">
                <a:solidFill>
                  <a:schemeClr val="lt1"/>
                </a:solidFill>
                <a:highlight>
                  <a:srgbClr val="20124D"/>
                </a:highlight>
                <a:latin typeface="Lato"/>
                <a:ea typeface="Lato"/>
                <a:cs typeface="Lato"/>
                <a:sym typeface="Lato"/>
              </a:rPr>
              <a:t> </a:t>
            </a:r>
            <a:r>
              <a:rPr lang="en" sz="1200">
                <a:solidFill>
                  <a:schemeClr val="lt1"/>
                </a:solidFill>
                <a:highlight>
                  <a:srgbClr val="073763"/>
                </a:highlight>
                <a:latin typeface="Lato"/>
                <a:ea typeface="Lato"/>
                <a:cs typeface="Lato"/>
                <a:sym typeface="Lato"/>
              </a:rPr>
              <a:t>DOT plan to widen the sidewalks.</a:t>
            </a:r>
            <a:r>
              <a:rPr lang="en" sz="1200">
                <a:solidFill>
                  <a:srgbClr val="20124D"/>
                </a:solidFill>
                <a:highlight>
                  <a:srgbClr val="FFFFFF"/>
                </a:highlight>
                <a:latin typeface="Lato"/>
                <a:ea typeface="Lato"/>
                <a:cs typeface="Lato"/>
                <a:sym typeface="Lato"/>
              </a:rPr>
              <a:t> This will create major problems for truck delivery to local businesses and for seniors and patients with mobility impairments, who rely on ambulance or call service to reach the doctor's offices. Especially, since there are about 200 medical providers and two large radiology center on Canal Street.”</a:t>
            </a:r>
            <a:endParaRPr sz="1200">
              <a:solidFill>
                <a:srgbClr val="20124D"/>
              </a:solidFill>
              <a:highlight>
                <a:srgbClr val="FFFFFF"/>
              </a:highlight>
              <a:latin typeface="Lato"/>
              <a:ea typeface="Lato"/>
              <a:cs typeface="Lato"/>
              <a:sym typeface="Lato"/>
            </a:endParaRPr>
          </a:p>
          <a:p>
            <a:pPr indent="0" lvl="0" marL="0" rtl="0" algn="l">
              <a:spcBef>
                <a:spcPts val="1200"/>
              </a:spcBef>
              <a:spcAft>
                <a:spcPts val="0"/>
              </a:spcAft>
              <a:buNone/>
            </a:pPr>
            <a:r>
              <a:t/>
            </a:r>
            <a:endParaRPr sz="1700">
              <a:solidFill>
                <a:schemeClr val="dk2"/>
              </a:solidFill>
              <a:latin typeface="Lato"/>
              <a:ea typeface="Lato"/>
              <a:cs typeface="Lato"/>
              <a:sym typeface="Lato"/>
            </a:endParaRPr>
          </a:p>
        </p:txBody>
      </p:sp>
      <p:sp>
        <p:nvSpPr>
          <p:cNvPr id="601" name="Google Shape;601;p59"/>
          <p:cNvSpPr txBox="1"/>
          <p:nvPr/>
        </p:nvSpPr>
        <p:spPr>
          <a:xfrm>
            <a:off x="6432050" y="5738100"/>
            <a:ext cx="21063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u="sng">
                <a:solidFill>
                  <a:schemeClr val="hlink"/>
                </a:solidFill>
                <a:hlinkClick r:id="rId5"/>
              </a:rPr>
              <a:t>Link to Full Transcript</a:t>
            </a:r>
            <a:endParaRPr/>
          </a:p>
        </p:txBody>
      </p:sp>
      <p:pic>
        <p:nvPicPr>
          <p:cNvPr id="602" name="Google Shape;602;p59"/>
          <p:cNvPicPr preferRelativeResize="0"/>
          <p:nvPr/>
        </p:nvPicPr>
        <p:blipFill>
          <a:blip r:embed="rId6">
            <a:alphaModFix/>
          </a:blip>
          <a:stretch>
            <a:fillRect/>
          </a:stretch>
        </p:blipFill>
        <p:spPr>
          <a:xfrm>
            <a:off x="226025" y="1988700"/>
            <a:ext cx="3797551" cy="3837673"/>
          </a:xfrm>
          <a:prstGeom prst="rect">
            <a:avLst/>
          </a:prstGeom>
          <a:noFill/>
          <a:ln cap="flat" cmpd="sng" w="19050">
            <a:solidFill>
              <a:srgbClr val="00E09D"/>
            </a:solidFill>
            <a:prstDash val="solid"/>
            <a:round/>
            <a:headEnd len="sm" w="sm" type="none"/>
            <a:tailEnd len="sm" w="sm" type="none"/>
          </a:ln>
        </p:spPr>
      </p:pic>
      <p:pic>
        <p:nvPicPr>
          <p:cNvPr id="603" name="Google Shape;603;p59"/>
          <p:cNvPicPr preferRelativeResize="0"/>
          <p:nvPr/>
        </p:nvPicPr>
        <p:blipFill>
          <a:blip r:embed="rId7">
            <a:alphaModFix/>
          </a:blip>
          <a:stretch>
            <a:fillRect/>
          </a:stretch>
        </p:blipFill>
        <p:spPr>
          <a:xfrm>
            <a:off x="5182138" y="2839350"/>
            <a:ext cx="2914863" cy="851325"/>
          </a:xfrm>
          <a:prstGeom prst="rect">
            <a:avLst/>
          </a:prstGeom>
          <a:noFill/>
          <a:ln>
            <a:noFill/>
          </a:ln>
        </p:spPr>
      </p:pic>
      <p:cxnSp>
        <p:nvCxnSpPr>
          <p:cNvPr id="604" name="Google Shape;604;p59"/>
          <p:cNvCxnSpPr/>
          <p:nvPr/>
        </p:nvCxnSpPr>
        <p:spPr>
          <a:xfrm>
            <a:off x="4153925" y="-14700"/>
            <a:ext cx="58800" cy="6887400"/>
          </a:xfrm>
          <a:prstGeom prst="straightConnector1">
            <a:avLst/>
          </a:prstGeom>
          <a:noFill/>
          <a:ln cap="flat" cmpd="sng" w="9525">
            <a:solidFill>
              <a:schemeClr val="dk2"/>
            </a:solidFill>
            <a:prstDash val="dash"/>
            <a:round/>
            <a:headEnd len="med" w="med" type="none"/>
            <a:tailEnd len="med" w="med" type="none"/>
          </a:ln>
        </p:spPr>
      </p:cxnSp>
      <p:sp>
        <p:nvSpPr>
          <p:cNvPr id="605" name="Google Shape;605;p59"/>
          <p:cNvSpPr/>
          <p:nvPr/>
        </p:nvSpPr>
        <p:spPr>
          <a:xfrm>
            <a:off x="6279975" y="643463"/>
            <a:ext cx="1165800" cy="400200"/>
          </a:xfrm>
          <a:prstGeom prst="roundRect">
            <a:avLst>
              <a:gd fmla="val 16667" name="adj"/>
            </a:avLst>
          </a:prstGeom>
          <a:noFill/>
          <a:ln cap="flat" cmpd="sng" w="76200">
            <a:solidFill>
              <a:srgbClr val="00E09D"/>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606" name="Google Shape;606;p59"/>
          <p:cNvSpPr/>
          <p:nvPr/>
        </p:nvSpPr>
        <p:spPr>
          <a:xfrm>
            <a:off x="6773775" y="1198675"/>
            <a:ext cx="178200" cy="1068900"/>
          </a:xfrm>
          <a:prstGeom prst="downArrow">
            <a:avLst>
              <a:gd fmla="val 50000" name="adj1"/>
              <a:gd fmla="val 50000" name="adj2"/>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607" name="Google Shape;607;p59"/>
          <p:cNvSpPr/>
          <p:nvPr/>
        </p:nvSpPr>
        <p:spPr>
          <a:xfrm>
            <a:off x="3773675" y="4080750"/>
            <a:ext cx="4495500" cy="2005500"/>
          </a:xfrm>
          <a:prstGeom prst="roundRect">
            <a:avLst>
              <a:gd fmla="val 16667" name="adj"/>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608" name="Google Shape;608;p59"/>
          <p:cNvSpPr/>
          <p:nvPr/>
        </p:nvSpPr>
        <p:spPr>
          <a:xfrm>
            <a:off x="5790600" y="4394100"/>
            <a:ext cx="2221200" cy="1378800"/>
          </a:xfrm>
          <a:prstGeom prst="wedgeRoundRectCallout">
            <a:avLst>
              <a:gd fmla="val -92848" name="adj1"/>
              <a:gd fmla="val 8061" name="adj2"/>
              <a:gd fmla="val 0" name="adj3"/>
            </a:avLst>
          </a:prstGeom>
          <a:solidFill>
            <a:schemeClr val="lt2"/>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Roboto Mono Light"/>
                <a:ea typeface="Roboto Mono Light"/>
                <a:cs typeface="Roboto Mono Light"/>
                <a:sym typeface="Roboto Mono Light"/>
              </a:rPr>
              <a:t>What if we could search across all 59 community boards?</a:t>
            </a:r>
            <a:endParaRPr>
              <a:latin typeface="Roboto Mono Light"/>
              <a:ea typeface="Roboto Mono Light"/>
              <a:cs typeface="Roboto Mono Light"/>
              <a:sym typeface="Roboto Mono Light"/>
            </a:endParaRPr>
          </a:p>
        </p:txBody>
      </p:sp>
      <p:pic>
        <p:nvPicPr>
          <p:cNvPr id="609" name="Google Shape;609;p59"/>
          <p:cNvPicPr preferRelativeResize="0"/>
          <p:nvPr/>
        </p:nvPicPr>
        <p:blipFill>
          <a:blip r:embed="rId8">
            <a:alphaModFix/>
          </a:blip>
          <a:stretch>
            <a:fillRect/>
          </a:stretch>
        </p:blipFill>
        <p:spPr>
          <a:xfrm>
            <a:off x="3773663" y="4285162"/>
            <a:ext cx="1596677" cy="1596677"/>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3" name="Shape 613"/>
        <p:cNvGrpSpPr/>
        <p:nvPr/>
      </p:nvGrpSpPr>
      <p:grpSpPr>
        <a:xfrm>
          <a:off x="0" y="0"/>
          <a:ext cx="0" cy="0"/>
          <a:chOff x="0" y="0"/>
          <a:chExt cx="0" cy="0"/>
        </a:xfrm>
      </p:grpSpPr>
      <p:pic>
        <p:nvPicPr>
          <p:cNvPr id="614" name="Google Shape;614;p60"/>
          <p:cNvPicPr preferRelativeResize="0"/>
          <p:nvPr/>
        </p:nvPicPr>
        <p:blipFill>
          <a:blip r:embed="rId3">
            <a:alphaModFix/>
          </a:blip>
          <a:stretch>
            <a:fillRect/>
          </a:stretch>
        </p:blipFill>
        <p:spPr>
          <a:xfrm>
            <a:off x="0" y="-14500"/>
            <a:ext cx="9144000" cy="5530859"/>
          </a:xfrm>
          <a:prstGeom prst="rect">
            <a:avLst/>
          </a:prstGeom>
          <a:noFill/>
          <a:ln>
            <a:noFill/>
          </a:ln>
        </p:spPr>
      </p:pic>
      <p:sp>
        <p:nvSpPr>
          <p:cNvPr id="615" name="Google Shape;615;p60"/>
          <p:cNvSpPr/>
          <p:nvPr/>
        </p:nvSpPr>
        <p:spPr>
          <a:xfrm>
            <a:off x="0" y="0"/>
            <a:ext cx="9144000" cy="7374300"/>
          </a:xfrm>
          <a:prstGeom prst="rect">
            <a:avLst/>
          </a:prstGeom>
          <a:solidFill>
            <a:srgbClr val="FFFFFF">
              <a:alpha val="77530"/>
            </a:srgbClr>
          </a:solidFill>
          <a:ln>
            <a:noFill/>
          </a:ln>
        </p:spPr>
        <p:txBody>
          <a:bodyPr anchorCtr="0" anchor="ctr" bIns="91425" lIns="91425" spcFirstLastPara="1" rIns="91425" wrap="square" tIns="91425">
            <a:noAutofit/>
          </a:bodyPr>
          <a:lstStyle/>
          <a:p>
            <a:pPr indent="0" lvl="0" marL="0" marR="0" rtl="0" algn="l">
              <a:lnSpc>
                <a:spcPct val="115000"/>
              </a:lnSpc>
              <a:spcBef>
                <a:spcPts val="0"/>
              </a:spcBef>
              <a:spcAft>
                <a:spcPts val="0"/>
              </a:spcAft>
              <a:buNone/>
            </a:pPr>
            <a:r>
              <a:t/>
            </a:r>
            <a:endParaRPr b="1" sz="1800">
              <a:latin typeface="Roboto Mono"/>
              <a:ea typeface="Roboto Mono"/>
              <a:cs typeface="Roboto Mono"/>
              <a:sym typeface="Roboto Mono"/>
            </a:endParaRPr>
          </a:p>
        </p:txBody>
      </p:sp>
      <p:sp>
        <p:nvSpPr>
          <p:cNvPr id="616" name="Google Shape;616;p60"/>
          <p:cNvSpPr txBox="1"/>
          <p:nvPr/>
        </p:nvSpPr>
        <p:spPr>
          <a:xfrm>
            <a:off x="0" y="990400"/>
            <a:ext cx="9144000" cy="461700"/>
          </a:xfrm>
          <a:prstGeom prst="rect">
            <a:avLst/>
          </a:prstGeom>
          <a:noFill/>
          <a:ln>
            <a:noFill/>
          </a:ln>
        </p:spPr>
        <p:txBody>
          <a:bodyPr anchorCtr="0" anchor="t" bIns="91425" lIns="91425" spcFirstLastPara="1" rIns="91425" wrap="square" tIns="91425">
            <a:spAutoFit/>
          </a:bodyPr>
          <a:lstStyle/>
          <a:p>
            <a:pPr indent="0" lvl="0" marL="0" marR="0" rtl="0" algn="ctr">
              <a:lnSpc>
                <a:spcPct val="115000"/>
              </a:lnSpc>
              <a:spcBef>
                <a:spcPts val="0"/>
              </a:spcBef>
              <a:spcAft>
                <a:spcPts val="0"/>
              </a:spcAft>
              <a:buNone/>
            </a:pPr>
            <a:r>
              <a:rPr b="1" lang="en" sz="1800">
                <a:latin typeface="Roboto Mono"/>
                <a:ea typeface="Roboto Mono"/>
                <a:cs typeface="Roboto Mono"/>
                <a:sym typeface="Roboto Mono"/>
              </a:rPr>
              <a:t>Join the Party! </a:t>
            </a:r>
            <a:endParaRPr b="1" sz="1800">
              <a:latin typeface="Roboto Mono"/>
              <a:ea typeface="Roboto Mono"/>
              <a:cs typeface="Roboto Mono"/>
              <a:sym typeface="Roboto Mono"/>
            </a:endParaRPr>
          </a:p>
        </p:txBody>
      </p:sp>
      <p:sp>
        <p:nvSpPr>
          <p:cNvPr id="617" name="Google Shape;617;p60"/>
          <p:cNvSpPr txBox="1"/>
          <p:nvPr/>
        </p:nvSpPr>
        <p:spPr>
          <a:xfrm>
            <a:off x="249175" y="5066064"/>
            <a:ext cx="8645700" cy="1992900"/>
          </a:xfrm>
          <a:prstGeom prst="rect">
            <a:avLst/>
          </a:prstGeom>
          <a:noFill/>
          <a:ln>
            <a:noFill/>
          </a:ln>
        </p:spPr>
        <p:txBody>
          <a:bodyPr anchorCtr="0" anchor="t" bIns="91425" lIns="91425" spcFirstLastPara="1" rIns="91425" wrap="square" tIns="91425">
            <a:spAutoFit/>
          </a:bodyPr>
          <a:lstStyle/>
          <a:p>
            <a:pPr indent="0" lvl="0" marL="0" marR="0" rtl="0" algn="ctr">
              <a:lnSpc>
                <a:spcPct val="115000"/>
              </a:lnSpc>
              <a:spcBef>
                <a:spcPts val="0"/>
              </a:spcBef>
              <a:spcAft>
                <a:spcPts val="0"/>
              </a:spcAft>
              <a:buNone/>
            </a:pPr>
            <a:r>
              <a:rPr lang="en" sz="1800">
                <a:latin typeface="Roboto Mono"/>
                <a:ea typeface="Roboto Mono"/>
                <a:cs typeface="Roboto Mono"/>
                <a:sym typeface="Roboto Mono"/>
              </a:rPr>
              <a:t>blockparty.studio</a:t>
            </a:r>
            <a:br>
              <a:rPr lang="en" sz="1800">
                <a:latin typeface="Lato"/>
                <a:ea typeface="Lato"/>
                <a:cs typeface="Lato"/>
                <a:sym typeface="Lato"/>
              </a:rPr>
            </a:br>
            <a:br>
              <a:rPr lang="en" sz="1800">
                <a:latin typeface="Lato"/>
                <a:ea typeface="Lato"/>
                <a:cs typeface="Lato"/>
                <a:sym typeface="Lato"/>
              </a:rPr>
            </a:br>
            <a:r>
              <a:rPr lang="en" sz="1800" u="sng">
                <a:solidFill>
                  <a:schemeClr val="hlink"/>
                </a:solidFill>
                <a:latin typeface="Lato"/>
                <a:ea typeface="Lato"/>
                <a:cs typeface="Lato"/>
                <a:sym typeface="Lato"/>
                <a:hlinkClick r:id="rId4"/>
              </a:rPr>
              <a:t>blockparty.meeting@gmail.com</a:t>
            </a:r>
            <a:endParaRPr sz="1800">
              <a:latin typeface="Lato"/>
              <a:ea typeface="Lato"/>
              <a:cs typeface="Lato"/>
              <a:sym typeface="Lato"/>
            </a:endParaRPr>
          </a:p>
          <a:p>
            <a:pPr indent="0" lvl="0" marL="0" marR="0" rtl="0" algn="ctr">
              <a:lnSpc>
                <a:spcPct val="115000"/>
              </a:lnSpc>
              <a:spcBef>
                <a:spcPts val="1000"/>
              </a:spcBef>
              <a:spcAft>
                <a:spcPts val="0"/>
              </a:spcAft>
              <a:buNone/>
            </a:pPr>
            <a:r>
              <a:rPr lang="en" sz="1800" u="sng">
                <a:solidFill>
                  <a:schemeClr val="hlink"/>
                </a:solidFill>
                <a:latin typeface="Lato"/>
                <a:ea typeface="Lato"/>
                <a:cs typeface="Lato"/>
                <a:sym typeface="Lato"/>
                <a:hlinkClick r:id="rId5"/>
              </a:rPr>
              <a:t>https://www.linkedin.com/in/sarahjunesachs/</a:t>
            </a:r>
            <a:endParaRPr sz="1800">
              <a:latin typeface="Lato"/>
              <a:ea typeface="Lato"/>
              <a:cs typeface="Lato"/>
              <a:sym typeface="Lato"/>
            </a:endParaRPr>
          </a:p>
          <a:p>
            <a:pPr indent="0" lvl="0" marL="0" marR="0" rtl="0" algn="ctr">
              <a:lnSpc>
                <a:spcPct val="115000"/>
              </a:lnSpc>
              <a:spcBef>
                <a:spcPts val="1000"/>
              </a:spcBef>
              <a:spcAft>
                <a:spcPts val="1000"/>
              </a:spcAft>
              <a:buNone/>
            </a:pPr>
            <a:r>
              <a:rPr lang="en" sz="1800" u="sng">
                <a:solidFill>
                  <a:schemeClr val="hlink"/>
                </a:solidFill>
                <a:latin typeface="Lato"/>
                <a:ea typeface="Lato"/>
                <a:cs typeface="Lato"/>
                <a:sym typeface="Lato"/>
                <a:hlinkClick r:id="rId6"/>
              </a:rPr>
              <a:t>https://www.linkedin.com/in/tal-roded/</a:t>
            </a:r>
            <a:endParaRPr sz="1800">
              <a:latin typeface="Lato"/>
              <a:ea typeface="Lato"/>
              <a:cs typeface="Lato"/>
              <a:sym typeface="Lato"/>
            </a:endParaRPr>
          </a:p>
        </p:txBody>
      </p:sp>
      <p:pic>
        <p:nvPicPr>
          <p:cNvPr id="618" name="Google Shape;618;p60"/>
          <p:cNvPicPr preferRelativeResize="0"/>
          <p:nvPr/>
        </p:nvPicPr>
        <p:blipFill>
          <a:blip r:embed="rId7">
            <a:alphaModFix/>
          </a:blip>
          <a:stretch>
            <a:fillRect/>
          </a:stretch>
        </p:blipFill>
        <p:spPr>
          <a:xfrm>
            <a:off x="6554400" y="2547167"/>
            <a:ext cx="1710049" cy="1710049"/>
          </a:xfrm>
          <a:prstGeom prst="rect">
            <a:avLst/>
          </a:prstGeom>
          <a:noFill/>
          <a:ln>
            <a:noFill/>
          </a:ln>
        </p:spPr>
      </p:pic>
      <p:pic>
        <p:nvPicPr>
          <p:cNvPr id="619" name="Google Shape;619;p60"/>
          <p:cNvPicPr preferRelativeResize="0"/>
          <p:nvPr/>
        </p:nvPicPr>
        <p:blipFill>
          <a:blip r:embed="rId8">
            <a:alphaModFix/>
          </a:blip>
          <a:stretch>
            <a:fillRect/>
          </a:stretch>
        </p:blipFill>
        <p:spPr>
          <a:xfrm>
            <a:off x="589225" y="2070700"/>
            <a:ext cx="2259226" cy="2259226"/>
          </a:xfrm>
          <a:prstGeom prst="rect">
            <a:avLst/>
          </a:prstGeom>
          <a:noFill/>
          <a:ln>
            <a:noFill/>
          </a:ln>
        </p:spPr>
      </p:pic>
      <p:pic>
        <p:nvPicPr>
          <p:cNvPr id="620" name="Google Shape;620;p60" title="bp_presentation.jpg"/>
          <p:cNvPicPr preferRelativeResize="0"/>
          <p:nvPr/>
        </p:nvPicPr>
        <p:blipFill>
          <a:blip r:embed="rId9">
            <a:alphaModFix/>
          </a:blip>
          <a:stretch>
            <a:fillRect/>
          </a:stretch>
        </p:blipFill>
        <p:spPr>
          <a:xfrm>
            <a:off x="3152262" y="1543676"/>
            <a:ext cx="2839489" cy="3430835"/>
          </a:xfrm>
          <a:prstGeom prst="rect">
            <a:avLst/>
          </a:prstGeom>
          <a:noFill/>
          <a:ln cap="flat" cmpd="sng" w="19050">
            <a:solidFill>
              <a:schemeClr val="lt2"/>
            </a:solidFill>
            <a:prstDash val="solid"/>
            <a:round/>
            <a:headEnd len="sm" w="sm" type="none"/>
            <a:tailEnd len="sm" w="sm" type="none"/>
          </a:ln>
        </p:spPr>
      </p:pic>
      <p:pic>
        <p:nvPicPr>
          <p:cNvPr id="621" name="Google Shape;621;p60"/>
          <p:cNvPicPr preferRelativeResize="0"/>
          <p:nvPr/>
        </p:nvPicPr>
        <p:blipFill>
          <a:blip r:embed="rId10">
            <a:alphaModFix/>
          </a:blip>
          <a:stretch>
            <a:fillRect/>
          </a:stretch>
        </p:blipFill>
        <p:spPr>
          <a:xfrm>
            <a:off x="0" y="0"/>
            <a:ext cx="9144000" cy="6858000"/>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25" name="Shape 625"/>
        <p:cNvGrpSpPr/>
        <p:nvPr/>
      </p:nvGrpSpPr>
      <p:grpSpPr>
        <a:xfrm>
          <a:off x="0" y="0"/>
          <a:ext cx="0" cy="0"/>
          <a:chOff x="0" y="0"/>
          <a:chExt cx="0" cy="0"/>
        </a:xfrm>
      </p:grpSpPr>
      <p:sp>
        <p:nvSpPr>
          <p:cNvPr id="626" name="Google Shape;626;p61"/>
          <p:cNvSpPr txBox="1"/>
          <p:nvPr/>
        </p:nvSpPr>
        <p:spPr>
          <a:xfrm>
            <a:off x="502920" y="342900"/>
            <a:ext cx="8138100" cy="388500"/>
          </a:xfrm>
          <a:prstGeom prst="rect">
            <a:avLst/>
          </a:prstGeom>
          <a:noFill/>
          <a:ln>
            <a:noFill/>
          </a:ln>
        </p:spPr>
        <p:txBody>
          <a:bodyPr anchorCtr="0" anchor="t" bIns="24675" lIns="54850" spcFirstLastPara="1" rIns="54850" wrap="square" tIns="24675">
            <a:spAutoFit/>
          </a:bodyPr>
          <a:lstStyle/>
          <a:p>
            <a:pPr indent="0" lvl="0" marL="0" marR="0" rtl="0" algn="l">
              <a:lnSpc>
                <a:spcPct val="100000"/>
              </a:lnSpc>
              <a:spcBef>
                <a:spcPts val="0"/>
              </a:spcBef>
              <a:spcAft>
                <a:spcPts val="0"/>
              </a:spcAft>
              <a:buNone/>
            </a:pPr>
            <a:r>
              <a:rPr b="1" i="0" lang="en" sz="2200" u="none" cap="none" strike="noStrike">
                <a:solidFill>
                  <a:srgbClr val="212121"/>
                </a:solidFill>
                <a:latin typeface="Lato"/>
                <a:ea typeface="Lato"/>
                <a:cs typeface="Lato"/>
                <a:sym typeface="Lato"/>
              </a:rPr>
              <a:t>Where We Left Off in March 2026</a:t>
            </a:r>
            <a:endParaRPr/>
          </a:p>
        </p:txBody>
      </p:sp>
      <p:sp>
        <p:nvSpPr>
          <p:cNvPr id="627" name="Google Shape;627;p61"/>
          <p:cNvSpPr txBox="1"/>
          <p:nvPr/>
        </p:nvSpPr>
        <p:spPr>
          <a:xfrm>
            <a:off x="502925" y="1783040"/>
            <a:ext cx="3840600" cy="3066900"/>
          </a:xfrm>
          <a:prstGeom prst="rect">
            <a:avLst/>
          </a:prstGeom>
          <a:noFill/>
          <a:ln>
            <a:noFill/>
          </a:ln>
        </p:spPr>
        <p:txBody>
          <a:bodyPr anchorCtr="0" anchor="t" bIns="24675" lIns="54850" spcFirstLastPara="1" rIns="54850" wrap="square" tIns="24675">
            <a:spAutoFit/>
          </a:bodyPr>
          <a:lstStyle/>
          <a:p>
            <a:pPr indent="0" lvl="0" marL="0" marR="0" rtl="0" algn="l">
              <a:lnSpc>
                <a:spcPct val="100000"/>
              </a:lnSpc>
              <a:spcBef>
                <a:spcPts val="0"/>
              </a:spcBef>
              <a:spcAft>
                <a:spcPts val="0"/>
              </a:spcAft>
              <a:buNone/>
            </a:pPr>
            <a:r>
              <a:rPr b="1" i="0" lang="en" sz="1900" u="none" cap="none" strike="noStrike">
                <a:solidFill>
                  <a:srgbClr val="4285F4"/>
                </a:solidFill>
                <a:latin typeface="Lato"/>
                <a:ea typeface="Lato"/>
                <a:cs typeface="Lato"/>
                <a:sym typeface="Lato"/>
              </a:rPr>
              <a:t>The state of the project:</a:t>
            </a:r>
            <a:endParaRPr b="1" i="0" sz="1900" u="none" cap="none" strike="noStrike">
              <a:solidFill>
                <a:srgbClr val="4285F4"/>
              </a:solidFill>
              <a:latin typeface="Lato"/>
              <a:ea typeface="Lato"/>
              <a:cs typeface="Lato"/>
              <a:sym typeface="Lato"/>
            </a:endParaRPr>
          </a:p>
          <a:p>
            <a:pPr indent="0" lvl="0" marL="0" marR="0" rtl="0" algn="l">
              <a:lnSpc>
                <a:spcPct val="100000"/>
              </a:lnSpc>
              <a:spcBef>
                <a:spcPts val="0"/>
              </a:spcBef>
              <a:spcAft>
                <a:spcPts val="0"/>
              </a:spcAft>
              <a:buNone/>
            </a:pPr>
            <a:r>
              <a:t/>
            </a:r>
            <a:endParaRPr b="1" sz="1900">
              <a:solidFill>
                <a:srgbClr val="4285F4"/>
              </a:solidFill>
              <a:latin typeface="Lato"/>
              <a:ea typeface="Lato"/>
              <a:cs typeface="Lato"/>
              <a:sym typeface="Lato"/>
            </a:endParaRPr>
          </a:p>
          <a:p>
            <a:pPr indent="0" lvl="0" marL="0" marR="0" rtl="0" algn="l">
              <a:lnSpc>
                <a:spcPct val="100000"/>
              </a:lnSpc>
              <a:spcBef>
                <a:spcPts val="0"/>
              </a:spcBef>
              <a:spcAft>
                <a:spcPts val="0"/>
              </a:spcAft>
              <a:buNone/>
            </a:pPr>
            <a:r>
              <a:rPr b="0" i="0" lang="en" sz="1700" u="none" cap="none" strike="noStrike">
                <a:solidFill>
                  <a:srgbClr val="304D80"/>
                </a:solidFill>
                <a:latin typeface="Lato"/>
                <a:ea typeface="Lato"/>
                <a:cs typeface="Lato"/>
                <a:sym typeface="Lato"/>
              </a:rPr>
              <a:t>·  One board: Manhattan CB3</a:t>
            </a:r>
            <a:endParaRPr b="0" i="0" sz="1700" u="none" cap="none" strike="noStrike">
              <a:solidFill>
                <a:srgbClr val="304D80"/>
              </a:solidFill>
              <a:latin typeface="Lato"/>
              <a:ea typeface="Lato"/>
              <a:cs typeface="Lato"/>
              <a:sym typeface="Lato"/>
            </a:endParaRPr>
          </a:p>
          <a:p>
            <a:pPr indent="0" lvl="0" marL="0" marR="0" rtl="0" algn="l">
              <a:lnSpc>
                <a:spcPct val="100000"/>
              </a:lnSpc>
              <a:spcBef>
                <a:spcPts val="0"/>
              </a:spcBef>
              <a:spcAft>
                <a:spcPts val="0"/>
              </a:spcAft>
              <a:buNone/>
            </a:pPr>
            <a:br>
              <a:rPr b="0" i="0" lang="en" u="none" cap="none" strike="noStrike">
                <a:solidFill>
                  <a:srgbClr val="000000"/>
                </a:solidFill>
                <a:latin typeface="Arial"/>
                <a:ea typeface="Arial"/>
                <a:cs typeface="Arial"/>
                <a:sym typeface="Arial"/>
              </a:rPr>
            </a:br>
            <a:r>
              <a:rPr b="0" i="0" lang="en" sz="1700" u="none" cap="none" strike="noStrike">
                <a:solidFill>
                  <a:srgbClr val="304D80"/>
                </a:solidFill>
                <a:latin typeface="Lato"/>
                <a:ea typeface="Lato"/>
                <a:cs typeface="Lato"/>
                <a:sym typeface="Lato"/>
              </a:rPr>
              <a:t>·  6,511 resolutions, 2002–2026</a:t>
            </a:r>
            <a:endParaRPr b="0" i="0" sz="1700" u="none" cap="none" strike="noStrike">
              <a:solidFill>
                <a:srgbClr val="304D80"/>
              </a:solidFill>
              <a:latin typeface="Lato"/>
              <a:ea typeface="Lato"/>
              <a:cs typeface="Lato"/>
              <a:sym typeface="Lato"/>
            </a:endParaRPr>
          </a:p>
          <a:p>
            <a:pPr indent="0" lvl="0" marL="0" marR="0" rtl="0" algn="l">
              <a:lnSpc>
                <a:spcPct val="100000"/>
              </a:lnSpc>
              <a:spcBef>
                <a:spcPts val="0"/>
              </a:spcBef>
              <a:spcAft>
                <a:spcPts val="0"/>
              </a:spcAft>
              <a:buNone/>
            </a:pPr>
            <a:br>
              <a:rPr b="0" i="0" lang="en" u="none" cap="none" strike="noStrike">
                <a:solidFill>
                  <a:srgbClr val="000000"/>
                </a:solidFill>
                <a:latin typeface="Arial"/>
                <a:ea typeface="Arial"/>
                <a:cs typeface="Arial"/>
                <a:sym typeface="Arial"/>
              </a:rPr>
            </a:br>
            <a:r>
              <a:rPr b="0" i="0" lang="en" sz="1700" u="none" cap="none" strike="noStrike">
                <a:solidFill>
                  <a:srgbClr val="304D80"/>
                </a:solidFill>
                <a:latin typeface="Lato"/>
                <a:ea typeface="Lato"/>
                <a:cs typeface="Lato"/>
                <a:sym typeface="Lato"/>
              </a:rPr>
              <a:t>·  A chain of procedural Python scripts</a:t>
            </a:r>
            <a:endParaRPr b="0" i="0" sz="1700" u="none" cap="none" strike="noStrike">
              <a:solidFill>
                <a:srgbClr val="304D80"/>
              </a:solidFill>
              <a:latin typeface="Lato"/>
              <a:ea typeface="Lato"/>
              <a:cs typeface="Lato"/>
              <a:sym typeface="Lato"/>
            </a:endParaRPr>
          </a:p>
          <a:p>
            <a:pPr indent="0" lvl="0" marL="0" marR="0" rtl="0" algn="l">
              <a:lnSpc>
                <a:spcPct val="100000"/>
              </a:lnSpc>
              <a:spcBef>
                <a:spcPts val="0"/>
              </a:spcBef>
              <a:spcAft>
                <a:spcPts val="0"/>
              </a:spcAft>
              <a:buNone/>
            </a:pPr>
            <a:br>
              <a:rPr b="0" i="0" lang="en" u="none" cap="none" strike="noStrike">
                <a:solidFill>
                  <a:srgbClr val="000000"/>
                </a:solidFill>
                <a:latin typeface="Arial"/>
                <a:ea typeface="Arial"/>
                <a:cs typeface="Arial"/>
                <a:sym typeface="Arial"/>
              </a:rPr>
            </a:br>
            <a:r>
              <a:rPr b="0" i="0" lang="en" sz="1700" u="none" cap="none" strike="noStrike">
                <a:solidFill>
                  <a:srgbClr val="304D80"/>
                </a:solidFill>
                <a:latin typeface="Lato"/>
                <a:ea typeface="Lato"/>
                <a:cs typeface="Lato"/>
                <a:sym typeface="Lato"/>
              </a:rPr>
              <a:t>·  One regex parser, tuned to MCB3’s PDFs</a:t>
            </a:r>
            <a:endParaRPr b="0" i="0" sz="1700" u="none" cap="none" strike="noStrike">
              <a:solidFill>
                <a:srgbClr val="304D80"/>
              </a:solidFill>
              <a:latin typeface="Lato"/>
              <a:ea typeface="Lato"/>
              <a:cs typeface="Lato"/>
              <a:sym typeface="Lato"/>
            </a:endParaRPr>
          </a:p>
          <a:p>
            <a:pPr indent="0" lvl="0" marL="0" marR="0" rtl="0" algn="l">
              <a:lnSpc>
                <a:spcPct val="100000"/>
              </a:lnSpc>
              <a:spcBef>
                <a:spcPts val="0"/>
              </a:spcBef>
              <a:spcAft>
                <a:spcPts val="0"/>
              </a:spcAft>
              <a:buNone/>
            </a:pPr>
            <a:br>
              <a:rPr b="0" i="0" lang="en" u="none" cap="none" strike="noStrike">
                <a:solidFill>
                  <a:srgbClr val="000000"/>
                </a:solidFill>
                <a:latin typeface="Arial"/>
                <a:ea typeface="Arial"/>
                <a:cs typeface="Arial"/>
                <a:sym typeface="Arial"/>
              </a:rPr>
            </a:br>
            <a:r>
              <a:rPr b="0" i="0" lang="en" sz="1700" u="none" cap="none" strike="noStrike">
                <a:solidFill>
                  <a:srgbClr val="304D80"/>
                </a:solidFill>
                <a:latin typeface="Lato"/>
                <a:ea typeface="Lato"/>
                <a:cs typeface="Lato"/>
                <a:sym typeface="Lato"/>
              </a:rPr>
              <a:t>·  Runs kicked off by hand</a:t>
            </a:r>
            <a:endParaRPr/>
          </a:p>
        </p:txBody>
      </p:sp>
      <p:sp>
        <p:nvSpPr>
          <p:cNvPr id="628" name="Google Shape;628;p61"/>
          <p:cNvSpPr/>
          <p:nvPr/>
        </p:nvSpPr>
        <p:spPr>
          <a:xfrm>
            <a:off x="4754880" y="1783060"/>
            <a:ext cx="3886200" cy="3291900"/>
          </a:xfrm>
          <a:prstGeom prst="roundRect">
            <a:avLst>
              <a:gd fmla="val 5000" name="adj"/>
            </a:avLst>
          </a:prstGeom>
          <a:solidFill>
            <a:srgbClr val="F1F5FE"/>
          </a:solidFill>
          <a:ln>
            <a:noFill/>
          </a:ln>
        </p:spPr>
        <p:txBody>
          <a:bodyPr anchorCtr="0" anchor="ctr" bIns="82275" lIns="182875" spcFirstLastPara="1" rIns="182875" wrap="square" tIns="82275">
            <a:noAutofit/>
          </a:bodyPr>
          <a:lstStyle/>
          <a:p>
            <a:pPr indent="0" lvl="0" marL="0" marR="0" rtl="0" algn="ctr">
              <a:lnSpc>
                <a:spcPct val="100000"/>
              </a:lnSpc>
              <a:spcBef>
                <a:spcPts val="0"/>
              </a:spcBef>
              <a:spcAft>
                <a:spcPts val="0"/>
              </a:spcAft>
              <a:buNone/>
            </a:pPr>
            <a:r>
              <a:rPr b="0" i="0" lang="en" sz="1580" u="none" cap="none" strike="noStrike">
                <a:solidFill>
                  <a:srgbClr val="757575"/>
                </a:solidFill>
                <a:latin typeface="Lato"/>
                <a:ea typeface="Lato"/>
                <a:cs typeface="Lato"/>
                <a:sym typeface="Lato"/>
              </a:rPr>
              <a:t>The open question we ended on:</a:t>
            </a:r>
            <a:endParaRPr b="0" i="0" sz="1580" u="none" cap="none" strike="noStrike">
              <a:solidFill>
                <a:srgbClr val="757575"/>
              </a:solidFill>
              <a:latin typeface="Lato"/>
              <a:ea typeface="Lato"/>
              <a:cs typeface="Lato"/>
              <a:sym typeface="Lato"/>
            </a:endParaRPr>
          </a:p>
          <a:p>
            <a:pPr indent="0" lvl="0" marL="0" marR="0" rtl="0" algn="ctr">
              <a:lnSpc>
                <a:spcPct val="100000"/>
              </a:lnSpc>
              <a:spcBef>
                <a:spcPts val="0"/>
              </a:spcBef>
              <a:spcAft>
                <a:spcPts val="0"/>
              </a:spcAft>
              <a:buNone/>
            </a:pPr>
            <a:r>
              <a:t/>
            </a:r>
            <a:endParaRPr sz="1580">
              <a:solidFill>
                <a:srgbClr val="757575"/>
              </a:solidFill>
              <a:latin typeface="Lato"/>
              <a:ea typeface="Lato"/>
              <a:cs typeface="Lato"/>
              <a:sym typeface="Lato"/>
            </a:endParaRPr>
          </a:p>
          <a:p>
            <a:pPr indent="0" lvl="0" marL="0" marR="0" rtl="0" algn="ctr">
              <a:lnSpc>
                <a:spcPct val="100000"/>
              </a:lnSpc>
              <a:spcBef>
                <a:spcPts val="0"/>
              </a:spcBef>
              <a:spcAft>
                <a:spcPts val="0"/>
              </a:spcAft>
              <a:buNone/>
            </a:pPr>
            <a:r>
              <a:rPr b="1" i="0" lang="en" sz="2090" u="none" cap="none" strike="noStrike">
                <a:solidFill>
                  <a:srgbClr val="ED315D"/>
                </a:solidFill>
                <a:latin typeface="Lato"/>
                <a:ea typeface="Lato"/>
                <a:cs typeface="Lato"/>
                <a:sym typeface="Lato"/>
              </a:rPr>
              <a:t>“Extending to all 59 boards: how might we generalize the pipeline? Each board formats their minutes differently.”</a:t>
            </a:r>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32" name="Shape 632"/>
        <p:cNvGrpSpPr/>
        <p:nvPr/>
      </p:nvGrpSpPr>
      <p:grpSpPr>
        <a:xfrm>
          <a:off x="0" y="0"/>
          <a:ext cx="0" cy="0"/>
          <a:chOff x="0" y="0"/>
          <a:chExt cx="0" cy="0"/>
        </a:xfrm>
      </p:grpSpPr>
      <p:sp>
        <p:nvSpPr>
          <p:cNvPr id="633" name="Google Shape;633;p62"/>
          <p:cNvSpPr txBox="1"/>
          <p:nvPr/>
        </p:nvSpPr>
        <p:spPr>
          <a:xfrm>
            <a:off x="502920" y="342900"/>
            <a:ext cx="8138100" cy="403800"/>
          </a:xfrm>
          <a:prstGeom prst="rect">
            <a:avLst/>
          </a:prstGeom>
          <a:noFill/>
          <a:ln>
            <a:noFill/>
          </a:ln>
        </p:spPr>
        <p:txBody>
          <a:bodyPr anchorCtr="0" anchor="t" bIns="24675" lIns="54850" spcFirstLastPara="1" rIns="54850" wrap="square" tIns="24675">
            <a:spAutoFit/>
          </a:bodyPr>
          <a:lstStyle/>
          <a:p>
            <a:pPr indent="0" lvl="0" marL="0" marR="0" rtl="0" algn="l">
              <a:lnSpc>
                <a:spcPct val="100000"/>
              </a:lnSpc>
              <a:spcBef>
                <a:spcPts val="0"/>
              </a:spcBef>
              <a:spcAft>
                <a:spcPts val="0"/>
              </a:spcAft>
              <a:buNone/>
            </a:pPr>
            <a:r>
              <a:rPr b="1" i="0" lang="en" sz="2300" u="none" cap="none" strike="noStrike">
                <a:solidFill>
                  <a:srgbClr val="212121"/>
                </a:solidFill>
                <a:latin typeface="Lato"/>
                <a:ea typeface="Lato"/>
                <a:cs typeface="Lato"/>
                <a:sym typeface="Lato"/>
              </a:rPr>
              <a:t>Step One: Ship a Real Pipeline, Not More Scripts</a:t>
            </a:r>
            <a:endParaRPr sz="1500"/>
          </a:p>
        </p:txBody>
      </p:sp>
      <p:sp>
        <p:nvSpPr>
          <p:cNvPr id="634" name="Google Shape;634;p62"/>
          <p:cNvSpPr txBox="1"/>
          <p:nvPr/>
        </p:nvSpPr>
        <p:spPr>
          <a:xfrm>
            <a:off x="502920" y="1062990"/>
            <a:ext cx="8138100" cy="603900"/>
          </a:xfrm>
          <a:prstGeom prst="rect">
            <a:avLst/>
          </a:prstGeom>
          <a:noFill/>
          <a:ln>
            <a:noFill/>
          </a:ln>
        </p:spPr>
        <p:txBody>
          <a:bodyPr anchorCtr="0" anchor="t" bIns="24675" lIns="54850" spcFirstLastPara="1" rIns="54850" wrap="square" tIns="24675">
            <a:spAutoFit/>
          </a:bodyPr>
          <a:lstStyle/>
          <a:p>
            <a:pPr indent="0" lvl="0" marL="0" marR="0" rtl="0" algn="l">
              <a:lnSpc>
                <a:spcPct val="100000"/>
              </a:lnSpc>
              <a:spcBef>
                <a:spcPts val="0"/>
              </a:spcBef>
              <a:spcAft>
                <a:spcPts val="0"/>
              </a:spcAft>
              <a:buNone/>
            </a:pPr>
            <a:r>
              <a:rPr b="0" i="0" lang="en" sz="1800" u="none" cap="none" strike="noStrike">
                <a:solidFill>
                  <a:srgbClr val="304D80"/>
                </a:solidFill>
                <a:latin typeface="Lato"/>
                <a:ea typeface="Lato"/>
                <a:cs typeface="Lato"/>
                <a:sym typeface="Lato"/>
              </a:rPr>
              <a:t>The procedural scripts were rewritten as an object-oriented pipeline. </a:t>
            </a:r>
            <a:endParaRPr b="0" i="0" sz="1800" u="none" cap="none" strike="noStrike">
              <a:solidFill>
                <a:srgbClr val="304D80"/>
              </a:solidFill>
              <a:latin typeface="Lato"/>
              <a:ea typeface="Lato"/>
              <a:cs typeface="Lato"/>
              <a:sym typeface="Lato"/>
            </a:endParaRPr>
          </a:p>
          <a:p>
            <a:pPr indent="0" lvl="0" marL="0" marR="0" rtl="0" algn="l">
              <a:lnSpc>
                <a:spcPct val="100000"/>
              </a:lnSpc>
              <a:spcBef>
                <a:spcPts val="0"/>
              </a:spcBef>
              <a:spcAft>
                <a:spcPts val="0"/>
              </a:spcAft>
              <a:buNone/>
            </a:pPr>
            <a:r>
              <a:rPr b="0" i="0" lang="en" sz="1800" u="none" cap="none" strike="noStrike">
                <a:solidFill>
                  <a:srgbClr val="304D80"/>
                </a:solidFill>
                <a:latin typeface="Lato"/>
                <a:ea typeface="Lato"/>
                <a:cs typeface="Lato"/>
                <a:sym typeface="Lato"/>
              </a:rPr>
              <a:t>-&gt; Board-specific logic moved out of the code and into per-board config files.</a:t>
            </a:r>
            <a:endParaRPr sz="1500"/>
          </a:p>
        </p:txBody>
      </p:sp>
      <p:sp>
        <p:nvSpPr>
          <p:cNvPr id="635" name="Google Shape;635;p62"/>
          <p:cNvSpPr/>
          <p:nvPr/>
        </p:nvSpPr>
        <p:spPr>
          <a:xfrm>
            <a:off x="502920" y="1988820"/>
            <a:ext cx="2560200" cy="3223200"/>
          </a:xfrm>
          <a:prstGeom prst="roundRect">
            <a:avLst>
              <a:gd fmla="val 5000" name="adj"/>
            </a:avLst>
          </a:prstGeom>
          <a:solidFill>
            <a:srgbClr val="F1F5FE"/>
          </a:solidFill>
          <a:ln>
            <a:noFill/>
          </a:ln>
        </p:spPr>
        <p:txBody>
          <a:bodyPr anchorCtr="0" anchor="t" bIns="82275" lIns="182875" spcFirstLastPara="1" rIns="182875" wrap="square" tIns="82275">
            <a:noAutofit/>
          </a:bodyPr>
          <a:lstStyle/>
          <a:p>
            <a:pPr indent="0" lvl="0" marL="0" marR="0" rtl="0" algn="l">
              <a:lnSpc>
                <a:spcPct val="100000"/>
              </a:lnSpc>
              <a:spcBef>
                <a:spcPts val="0"/>
              </a:spcBef>
              <a:spcAft>
                <a:spcPts val="0"/>
              </a:spcAft>
              <a:buNone/>
            </a:pPr>
            <a:r>
              <a:rPr b="1" i="0" lang="en" sz="1680" u="none" cap="none" strike="noStrike">
                <a:solidFill>
                  <a:srgbClr val="4285F4"/>
                </a:solidFill>
                <a:latin typeface="Lato"/>
                <a:ea typeface="Lato"/>
                <a:cs typeface="Lato"/>
                <a:sym typeface="Lato"/>
              </a:rPr>
              <a:t>One domain object</a:t>
            </a:r>
            <a:endParaRPr b="1" i="0" sz="1680" u="none" cap="none" strike="noStrike">
              <a:solidFill>
                <a:srgbClr val="4285F4"/>
              </a:solidFill>
              <a:latin typeface="Lato"/>
              <a:ea typeface="Lato"/>
              <a:cs typeface="Lato"/>
              <a:sym typeface="Lato"/>
            </a:endParaRPr>
          </a:p>
          <a:p>
            <a:pPr indent="0" lvl="0" marL="0" marR="0" rtl="0" algn="l">
              <a:lnSpc>
                <a:spcPct val="100000"/>
              </a:lnSpc>
              <a:spcBef>
                <a:spcPts val="0"/>
              </a:spcBef>
              <a:spcAft>
                <a:spcPts val="0"/>
              </a:spcAft>
              <a:buNone/>
            </a:pPr>
            <a:r>
              <a:t/>
            </a:r>
            <a:endParaRPr b="1" sz="1680">
              <a:solidFill>
                <a:srgbClr val="4285F4"/>
              </a:solidFill>
              <a:latin typeface="Lato"/>
              <a:ea typeface="Lato"/>
              <a:cs typeface="Lato"/>
              <a:sym typeface="Lato"/>
            </a:endParaRPr>
          </a:p>
          <a:p>
            <a:pPr indent="0" lvl="0" marL="0" marR="0" rtl="0" algn="l">
              <a:lnSpc>
                <a:spcPct val="100000"/>
              </a:lnSpc>
              <a:spcBef>
                <a:spcPts val="0"/>
              </a:spcBef>
              <a:spcAft>
                <a:spcPts val="0"/>
              </a:spcAft>
              <a:buNone/>
            </a:pPr>
            <a:r>
              <a:rPr b="0" i="0" lang="en" sz="1500" u="none" cap="none" strike="noStrike">
                <a:solidFill>
                  <a:srgbClr val="304D80"/>
                </a:solidFill>
                <a:latin typeface="Lato"/>
                <a:ea typeface="Lato"/>
                <a:cs typeface="Lato"/>
                <a:sym typeface="Lato"/>
              </a:rPr>
              <a:t>A </a:t>
            </a:r>
            <a:r>
              <a:rPr b="1" i="0" lang="en" sz="1500" u="none" cap="none" strike="noStrike">
                <a:solidFill>
                  <a:srgbClr val="304D80"/>
                </a:solidFill>
                <a:latin typeface="Lato"/>
                <a:ea typeface="Lato"/>
                <a:cs typeface="Lato"/>
                <a:sym typeface="Lato"/>
              </a:rPr>
              <a:t>ResolutionDocument</a:t>
            </a:r>
            <a:r>
              <a:rPr b="0" i="0" lang="en" sz="1500" u="none" cap="none" strike="noStrike">
                <a:solidFill>
                  <a:srgbClr val="304D80"/>
                </a:solidFill>
                <a:latin typeface="Lato"/>
                <a:ea typeface="Lato"/>
                <a:cs typeface="Lato"/>
                <a:sym typeface="Lato"/>
              </a:rPr>
              <a:t> flows through every stage: discover → fetch → extract → parse → embed → persist</a:t>
            </a:r>
            <a:r>
              <a:rPr lang="en" sz="1500">
                <a:solidFill>
                  <a:srgbClr val="304D80"/>
                </a:solidFill>
                <a:latin typeface="Lato"/>
                <a:ea typeface="Lato"/>
                <a:cs typeface="Lato"/>
                <a:sym typeface="Lato"/>
              </a:rPr>
              <a:t>.</a:t>
            </a:r>
            <a:r>
              <a:rPr b="0" i="0" lang="en" sz="1500" u="none" cap="none" strike="noStrike">
                <a:solidFill>
                  <a:srgbClr val="304D80"/>
                </a:solidFill>
                <a:latin typeface="Lato"/>
                <a:ea typeface="Lato"/>
                <a:cs typeface="Lato"/>
                <a:sym typeface="Lato"/>
              </a:rPr>
              <a:t> </a:t>
            </a:r>
            <a:endParaRPr b="0" i="0" sz="1500" u="none" cap="none" strike="noStrike">
              <a:solidFill>
                <a:srgbClr val="304D80"/>
              </a:solidFill>
              <a:latin typeface="Lato"/>
              <a:ea typeface="Lato"/>
              <a:cs typeface="Lato"/>
              <a:sym typeface="Lato"/>
            </a:endParaRPr>
          </a:p>
          <a:p>
            <a:pPr indent="0" lvl="0" marL="0" marR="0" rtl="0" algn="l">
              <a:lnSpc>
                <a:spcPct val="100000"/>
              </a:lnSpc>
              <a:spcBef>
                <a:spcPts val="0"/>
              </a:spcBef>
              <a:spcAft>
                <a:spcPts val="0"/>
              </a:spcAft>
              <a:buNone/>
            </a:pPr>
            <a:r>
              <a:t/>
            </a:r>
            <a:endParaRPr sz="1500">
              <a:solidFill>
                <a:srgbClr val="304D80"/>
              </a:solidFill>
              <a:latin typeface="Lato"/>
              <a:ea typeface="Lato"/>
              <a:cs typeface="Lato"/>
              <a:sym typeface="Lato"/>
            </a:endParaRPr>
          </a:p>
          <a:p>
            <a:pPr indent="0" lvl="0" marL="0" marR="0" rtl="0" algn="l">
              <a:lnSpc>
                <a:spcPct val="100000"/>
              </a:lnSpc>
              <a:spcBef>
                <a:spcPts val="0"/>
              </a:spcBef>
              <a:spcAft>
                <a:spcPts val="0"/>
              </a:spcAft>
              <a:buNone/>
            </a:pPr>
            <a:r>
              <a:rPr b="0" i="0" lang="en" sz="1500" u="none" cap="none" strike="noStrike">
                <a:solidFill>
                  <a:srgbClr val="304D80"/>
                </a:solidFill>
                <a:latin typeface="Lato"/>
                <a:ea typeface="Lato"/>
                <a:cs typeface="Lato"/>
                <a:sym typeface="Lato"/>
              </a:rPr>
              <a:t>Pydantic validators guard each step.</a:t>
            </a:r>
            <a:endParaRPr sz="1500"/>
          </a:p>
        </p:txBody>
      </p:sp>
      <p:sp>
        <p:nvSpPr>
          <p:cNvPr id="636" name="Google Shape;636;p62"/>
          <p:cNvSpPr/>
          <p:nvPr/>
        </p:nvSpPr>
        <p:spPr>
          <a:xfrm>
            <a:off x="3291840" y="1988820"/>
            <a:ext cx="2560200" cy="3223200"/>
          </a:xfrm>
          <a:prstGeom prst="roundRect">
            <a:avLst>
              <a:gd fmla="val 5000" name="adj"/>
            </a:avLst>
          </a:prstGeom>
          <a:solidFill>
            <a:srgbClr val="F1F5FE"/>
          </a:solidFill>
          <a:ln>
            <a:noFill/>
          </a:ln>
        </p:spPr>
        <p:txBody>
          <a:bodyPr anchorCtr="0" anchor="t" bIns="82275" lIns="182875" spcFirstLastPara="1" rIns="182875" wrap="square" tIns="82275">
            <a:noAutofit/>
          </a:bodyPr>
          <a:lstStyle/>
          <a:p>
            <a:pPr indent="0" lvl="0" marL="0" marR="0" rtl="0" algn="l">
              <a:lnSpc>
                <a:spcPct val="100000"/>
              </a:lnSpc>
              <a:spcBef>
                <a:spcPts val="0"/>
              </a:spcBef>
              <a:spcAft>
                <a:spcPts val="0"/>
              </a:spcAft>
              <a:buNone/>
            </a:pPr>
            <a:r>
              <a:rPr b="1" i="0" lang="en" sz="1680" u="none" cap="none" strike="noStrike">
                <a:solidFill>
                  <a:srgbClr val="4285F4"/>
                </a:solidFill>
                <a:latin typeface="Lato"/>
                <a:ea typeface="Lato"/>
                <a:cs typeface="Lato"/>
                <a:sym typeface="Lato"/>
              </a:rPr>
              <a:t>Config-driven boards</a:t>
            </a:r>
            <a:endParaRPr b="1" i="0" sz="1680" u="none" cap="none" strike="noStrike">
              <a:solidFill>
                <a:srgbClr val="4285F4"/>
              </a:solidFill>
              <a:latin typeface="Lato"/>
              <a:ea typeface="Lato"/>
              <a:cs typeface="Lato"/>
              <a:sym typeface="Lato"/>
            </a:endParaRPr>
          </a:p>
          <a:p>
            <a:pPr indent="0" lvl="0" marL="0" marR="0" rtl="0" algn="l">
              <a:lnSpc>
                <a:spcPct val="100000"/>
              </a:lnSpc>
              <a:spcBef>
                <a:spcPts val="0"/>
              </a:spcBef>
              <a:spcAft>
                <a:spcPts val="0"/>
              </a:spcAft>
              <a:buNone/>
            </a:pPr>
            <a:r>
              <a:t/>
            </a:r>
            <a:endParaRPr b="1" sz="1680">
              <a:solidFill>
                <a:srgbClr val="4285F4"/>
              </a:solidFill>
              <a:latin typeface="Lato"/>
              <a:ea typeface="Lato"/>
              <a:cs typeface="Lato"/>
              <a:sym typeface="Lato"/>
            </a:endParaRPr>
          </a:p>
          <a:p>
            <a:pPr indent="0" lvl="0" marL="0" marR="0" rtl="0" algn="l">
              <a:lnSpc>
                <a:spcPct val="100000"/>
              </a:lnSpc>
              <a:spcBef>
                <a:spcPts val="0"/>
              </a:spcBef>
              <a:spcAft>
                <a:spcPts val="0"/>
              </a:spcAft>
              <a:buNone/>
            </a:pPr>
            <a:r>
              <a:rPr b="0" i="0" lang="en" sz="1500" u="none" cap="none" strike="noStrike">
                <a:solidFill>
                  <a:srgbClr val="304D80"/>
                </a:solidFill>
                <a:latin typeface="Lato"/>
                <a:ea typeface="Lato"/>
                <a:cs typeface="Lato"/>
                <a:sym typeface="Lato"/>
              </a:rPr>
              <a:t>Each board is a YAML file: source type, URL patterns, parser options, filters. Adding a board means writing config, not forking code. </a:t>
            </a:r>
            <a:endParaRPr b="0" i="0" sz="1500" u="none" cap="none" strike="noStrike">
              <a:solidFill>
                <a:srgbClr val="304D80"/>
              </a:solidFill>
              <a:latin typeface="Lato"/>
              <a:ea typeface="Lato"/>
              <a:cs typeface="Lato"/>
              <a:sym typeface="Lato"/>
            </a:endParaRPr>
          </a:p>
          <a:p>
            <a:pPr indent="0" lvl="0" marL="0" marR="0" rtl="0" algn="l">
              <a:lnSpc>
                <a:spcPct val="100000"/>
              </a:lnSpc>
              <a:spcBef>
                <a:spcPts val="0"/>
              </a:spcBef>
              <a:spcAft>
                <a:spcPts val="0"/>
              </a:spcAft>
              <a:buNone/>
            </a:pPr>
            <a:r>
              <a:t/>
            </a:r>
            <a:endParaRPr sz="1500">
              <a:solidFill>
                <a:srgbClr val="304D80"/>
              </a:solidFill>
              <a:latin typeface="Lato"/>
              <a:ea typeface="Lato"/>
              <a:cs typeface="Lato"/>
              <a:sym typeface="Lato"/>
            </a:endParaRPr>
          </a:p>
          <a:p>
            <a:pPr indent="0" lvl="0" marL="0" marR="0" rtl="0" algn="l">
              <a:lnSpc>
                <a:spcPct val="100000"/>
              </a:lnSpc>
              <a:spcBef>
                <a:spcPts val="0"/>
              </a:spcBef>
              <a:spcAft>
                <a:spcPts val="0"/>
              </a:spcAft>
              <a:buNone/>
            </a:pPr>
            <a:r>
              <a:rPr b="0" i="0" lang="en" sz="1500" u="none" cap="none" strike="noStrike">
                <a:solidFill>
                  <a:srgbClr val="304D80"/>
                </a:solidFill>
                <a:latin typeface="Lato"/>
                <a:ea typeface="Lato"/>
                <a:cs typeface="Lato"/>
                <a:sym typeface="Lato"/>
              </a:rPr>
              <a:t>All 12 Manhattan boards currently have one.</a:t>
            </a:r>
            <a:endParaRPr sz="1500"/>
          </a:p>
        </p:txBody>
      </p:sp>
      <p:sp>
        <p:nvSpPr>
          <p:cNvPr id="637" name="Google Shape;637;p62"/>
          <p:cNvSpPr/>
          <p:nvPr/>
        </p:nvSpPr>
        <p:spPr>
          <a:xfrm>
            <a:off x="6080760" y="1988820"/>
            <a:ext cx="2560200" cy="3223200"/>
          </a:xfrm>
          <a:prstGeom prst="roundRect">
            <a:avLst>
              <a:gd fmla="val 5000" name="adj"/>
            </a:avLst>
          </a:prstGeom>
          <a:solidFill>
            <a:srgbClr val="F1F5FE"/>
          </a:solidFill>
          <a:ln>
            <a:noFill/>
          </a:ln>
        </p:spPr>
        <p:txBody>
          <a:bodyPr anchorCtr="0" anchor="t" bIns="82275" lIns="182875" spcFirstLastPara="1" rIns="182875" wrap="square" tIns="82275">
            <a:noAutofit/>
          </a:bodyPr>
          <a:lstStyle/>
          <a:p>
            <a:pPr indent="0" lvl="0" marL="0" marR="0" rtl="0" algn="l">
              <a:lnSpc>
                <a:spcPct val="100000"/>
              </a:lnSpc>
              <a:spcBef>
                <a:spcPts val="0"/>
              </a:spcBef>
              <a:spcAft>
                <a:spcPts val="0"/>
              </a:spcAft>
              <a:buNone/>
            </a:pPr>
            <a:r>
              <a:rPr b="1" i="0" lang="en" sz="1680" u="none" cap="none" strike="noStrike">
                <a:solidFill>
                  <a:srgbClr val="4285F4"/>
                </a:solidFill>
                <a:latin typeface="Lato"/>
                <a:ea typeface="Lato"/>
                <a:cs typeface="Lato"/>
                <a:sym typeface="Lato"/>
              </a:rPr>
              <a:t>A real CLI + tests</a:t>
            </a:r>
            <a:endParaRPr b="1" i="0" sz="1680" u="none" cap="none" strike="noStrike">
              <a:solidFill>
                <a:srgbClr val="4285F4"/>
              </a:solidFill>
              <a:latin typeface="Lato"/>
              <a:ea typeface="Lato"/>
              <a:cs typeface="Lato"/>
              <a:sym typeface="Lato"/>
            </a:endParaRPr>
          </a:p>
          <a:p>
            <a:pPr indent="0" lvl="0" marL="0" marR="0" rtl="0" algn="l">
              <a:lnSpc>
                <a:spcPct val="100000"/>
              </a:lnSpc>
              <a:spcBef>
                <a:spcPts val="0"/>
              </a:spcBef>
              <a:spcAft>
                <a:spcPts val="0"/>
              </a:spcAft>
              <a:buNone/>
            </a:pPr>
            <a:r>
              <a:t/>
            </a:r>
            <a:endParaRPr b="1" sz="1680">
              <a:solidFill>
                <a:srgbClr val="4285F4"/>
              </a:solidFill>
              <a:latin typeface="Lato"/>
              <a:ea typeface="Lato"/>
              <a:cs typeface="Lato"/>
              <a:sym typeface="Lato"/>
            </a:endParaRPr>
          </a:p>
          <a:p>
            <a:pPr indent="0" lvl="0" marL="0" marR="0" rtl="0" algn="l">
              <a:lnSpc>
                <a:spcPct val="100000"/>
              </a:lnSpc>
              <a:spcBef>
                <a:spcPts val="0"/>
              </a:spcBef>
              <a:spcAft>
                <a:spcPts val="0"/>
              </a:spcAft>
              <a:buNone/>
            </a:pPr>
            <a:r>
              <a:rPr b="1" i="0" lang="en" sz="1500" u="none" cap="none" strike="noStrike">
                <a:solidFill>
                  <a:srgbClr val="304D80"/>
                </a:solidFill>
                <a:latin typeface="Lato"/>
                <a:ea typeface="Lato"/>
                <a:cs typeface="Lato"/>
                <a:sym typeface="Lato"/>
              </a:rPr>
              <a:t>extract · reextract · audit · report · export-csv · migrate</a:t>
            </a:r>
            <a:r>
              <a:rPr b="0" i="0" lang="en" sz="1500" u="none" cap="none" strike="noStrike">
                <a:solidFill>
                  <a:srgbClr val="304D80"/>
                </a:solidFill>
                <a:latin typeface="Lato"/>
                <a:ea typeface="Lato"/>
                <a:cs typeface="Lato"/>
                <a:sym typeface="Lato"/>
              </a:rPr>
              <a:t>, each a command. </a:t>
            </a:r>
            <a:endParaRPr b="0" i="0" sz="1500" u="none" cap="none" strike="noStrike">
              <a:solidFill>
                <a:srgbClr val="304D80"/>
              </a:solidFill>
              <a:latin typeface="Lato"/>
              <a:ea typeface="Lato"/>
              <a:cs typeface="Lato"/>
              <a:sym typeface="Lato"/>
            </a:endParaRPr>
          </a:p>
          <a:p>
            <a:pPr indent="0" lvl="0" marL="0" marR="0" rtl="0" algn="l">
              <a:lnSpc>
                <a:spcPct val="100000"/>
              </a:lnSpc>
              <a:spcBef>
                <a:spcPts val="0"/>
              </a:spcBef>
              <a:spcAft>
                <a:spcPts val="0"/>
              </a:spcAft>
              <a:buNone/>
            </a:pPr>
            <a:r>
              <a:t/>
            </a:r>
            <a:endParaRPr sz="1500">
              <a:solidFill>
                <a:srgbClr val="304D80"/>
              </a:solidFill>
              <a:latin typeface="Lato"/>
              <a:ea typeface="Lato"/>
              <a:cs typeface="Lato"/>
              <a:sym typeface="Lato"/>
            </a:endParaRPr>
          </a:p>
          <a:p>
            <a:pPr indent="0" lvl="0" marL="0" marR="0" rtl="0" algn="l">
              <a:lnSpc>
                <a:spcPct val="100000"/>
              </a:lnSpc>
              <a:spcBef>
                <a:spcPts val="0"/>
              </a:spcBef>
              <a:spcAft>
                <a:spcPts val="0"/>
              </a:spcAft>
              <a:buNone/>
            </a:pPr>
            <a:r>
              <a:rPr b="0" i="0" lang="en" sz="1500" u="none" cap="none" strike="noStrike">
                <a:solidFill>
                  <a:srgbClr val="304D80"/>
                </a:solidFill>
                <a:latin typeface="Lato"/>
                <a:ea typeface="Lato"/>
                <a:cs typeface="Lato"/>
                <a:sym typeface="Lato"/>
              </a:rPr>
              <a:t>131 tests cover parsers, sources, and pipeline fixes.</a:t>
            </a:r>
            <a:endParaRPr sz="1500"/>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41" name="Shape 641"/>
        <p:cNvGrpSpPr/>
        <p:nvPr/>
      </p:nvGrpSpPr>
      <p:grpSpPr>
        <a:xfrm>
          <a:off x="0" y="0"/>
          <a:ext cx="0" cy="0"/>
          <a:chOff x="0" y="0"/>
          <a:chExt cx="0" cy="0"/>
        </a:xfrm>
      </p:grpSpPr>
      <p:sp>
        <p:nvSpPr>
          <p:cNvPr id="642" name="Google Shape;642;p63"/>
          <p:cNvSpPr txBox="1"/>
          <p:nvPr/>
        </p:nvSpPr>
        <p:spPr>
          <a:xfrm>
            <a:off x="502920" y="342900"/>
            <a:ext cx="8138100" cy="403800"/>
          </a:xfrm>
          <a:prstGeom prst="rect">
            <a:avLst/>
          </a:prstGeom>
          <a:noFill/>
          <a:ln>
            <a:noFill/>
          </a:ln>
        </p:spPr>
        <p:txBody>
          <a:bodyPr anchorCtr="0" anchor="t" bIns="24675" lIns="54850" spcFirstLastPara="1" rIns="54850" wrap="square" tIns="24675">
            <a:spAutoFit/>
          </a:bodyPr>
          <a:lstStyle/>
          <a:p>
            <a:pPr indent="0" lvl="0" marL="0" marR="0" rtl="0" algn="l">
              <a:lnSpc>
                <a:spcPct val="100000"/>
              </a:lnSpc>
              <a:spcBef>
                <a:spcPts val="0"/>
              </a:spcBef>
              <a:spcAft>
                <a:spcPts val="0"/>
              </a:spcAft>
              <a:buNone/>
            </a:pPr>
            <a:r>
              <a:rPr b="1" i="0" lang="en" sz="2300" u="none" cap="none" strike="noStrike">
                <a:solidFill>
                  <a:srgbClr val="212121"/>
                </a:solidFill>
                <a:latin typeface="Lato"/>
                <a:ea typeface="Lato"/>
                <a:cs typeface="Lato"/>
                <a:sym typeface="Lato"/>
              </a:rPr>
              <a:t>Every Board Publishes Differently, So Discovery Is Pluggable</a:t>
            </a:r>
            <a:endParaRPr sz="1500"/>
          </a:p>
        </p:txBody>
      </p:sp>
      <p:sp>
        <p:nvSpPr>
          <p:cNvPr id="643" name="Google Shape;643;p63"/>
          <p:cNvSpPr txBox="1"/>
          <p:nvPr/>
        </p:nvSpPr>
        <p:spPr>
          <a:xfrm>
            <a:off x="502920" y="1131570"/>
            <a:ext cx="8138100" cy="603900"/>
          </a:xfrm>
          <a:prstGeom prst="rect">
            <a:avLst/>
          </a:prstGeom>
          <a:noFill/>
          <a:ln>
            <a:noFill/>
          </a:ln>
        </p:spPr>
        <p:txBody>
          <a:bodyPr anchorCtr="0" anchor="t" bIns="24675" lIns="54850" spcFirstLastPara="1" rIns="54850" wrap="square" tIns="24675">
            <a:spAutoFit/>
          </a:bodyPr>
          <a:lstStyle/>
          <a:p>
            <a:pPr indent="0" lvl="0" marL="0" marR="0" rtl="0" algn="l">
              <a:lnSpc>
                <a:spcPct val="100000"/>
              </a:lnSpc>
              <a:spcBef>
                <a:spcPts val="0"/>
              </a:spcBef>
              <a:spcAft>
                <a:spcPts val="0"/>
              </a:spcAft>
              <a:buNone/>
            </a:pPr>
            <a:r>
              <a:rPr b="0" i="0" lang="en" sz="1800" u="none" cap="none" strike="noStrike">
                <a:solidFill>
                  <a:srgbClr val="304D80"/>
                </a:solidFill>
                <a:latin typeface="Lato"/>
                <a:ea typeface="Lato"/>
                <a:cs typeface="Lato"/>
                <a:sym typeface="Lato"/>
              </a:rPr>
              <a:t>Five source adapters feed one shared pipeline. The board’s YAML names its adapter; everything downstream is identical.</a:t>
            </a:r>
            <a:endParaRPr sz="1500"/>
          </a:p>
        </p:txBody>
      </p:sp>
      <p:sp>
        <p:nvSpPr>
          <p:cNvPr id="644" name="Google Shape;644;p63"/>
          <p:cNvSpPr txBox="1"/>
          <p:nvPr/>
        </p:nvSpPr>
        <p:spPr>
          <a:xfrm>
            <a:off x="502920" y="1920240"/>
            <a:ext cx="8138100" cy="3251400"/>
          </a:xfrm>
          <a:prstGeom prst="rect">
            <a:avLst/>
          </a:prstGeom>
          <a:noFill/>
          <a:ln>
            <a:noFill/>
          </a:ln>
        </p:spPr>
        <p:txBody>
          <a:bodyPr anchorCtr="0" anchor="t" bIns="24675" lIns="54850" spcFirstLastPara="1" rIns="54850" wrap="square" tIns="24675">
            <a:spAutoFit/>
          </a:bodyPr>
          <a:lstStyle/>
          <a:p>
            <a:pPr indent="0" lvl="0" marL="0" marR="0" rtl="0" algn="l">
              <a:lnSpc>
                <a:spcPct val="100000"/>
              </a:lnSpc>
              <a:spcBef>
                <a:spcPts val="0"/>
              </a:spcBef>
              <a:spcAft>
                <a:spcPts val="0"/>
              </a:spcAft>
              <a:buNone/>
            </a:pPr>
            <a:r>
              <a:rPr b="1" i="0" lang="en" sz="1600" u="none" cap="none" strike="noStrike">
                <a:solidFill>
                  <a:srgbClr val="212121"/>
                </a:solidFill>
                <a:latin typeface="Lato"/>
                <a:ea typeface="Lato"/>
                <a:cs typeface="Lato"/>
                <a:sym typeface="Lato"/>
              </a:rPr>
              <a:t>NYCGovAssetsSource  </a:t>
            </a:r>
            <a:r>
              <a:rPr b="0" i="0" lang="en" sz="1600" u="none" cap="none" strike="noStrike">
                <a:solidFill>
                  <a:srgbClr val="304D80"/>
                </a:solidFill>
                <a:latin typeface="Lato"/>
                <a:ea typeface="Lato"/>
                <a:cs typeface="Lato"/>
                <a:sym typeface="Lato"/>
              </a:rPr>
              <a:t>MCB3: bundled meeting-minute PDFs on nyc.gov, four URL eras back to 2002</a:t>
            </a:r>
            <a:endParaRPr b="0" i="0" sz="1600" u="none" cap="none" strike="noStrike">
              <a:solidFill>
                <a:srgbClr val="304D80"/>
              </a:solidFill>
              <a:latin typeface="Lato"/>
              <a:ea typeface="Lato"/>
              <a:cs typeface="Lato"/>
              <a:sym typeface="Lato"/>
            </a:endParaRPr>
          </a:p>
          <a:p>
            <a:pPr indent="0" lvl="0" marL="0" marR="0" rtl="0" algn="l">
              <a:lnSpc>
                <a:spcPct val="100000"/>
              </a:lnSpc>
              <a:spcBef>
                <a:spcPts val="0"/>
              </a:spcBef>
              <a:spcAft>
                <a:spcPts val="0"/>
              </a:spcAft>
              <a:buNone/>
            </a:pPr>
            <a:r>
              <a:t/>
            </a:r>
            <a:endParaRPr sz="1600">
              <a:solidFill>
                <a:srgbClr val="304D80"/>
              </a:solidFill>
              <a:latin typeface="Lato"/>
              <a:ea typeface="Lato"/>
              <a:cs typeface="Lato"/>
              <a:sym typeface="Lato"/>
            </a:endParaRPr>
          </a:p>
          <a:p>
            <a:pPr indent="0" lvl="0" marL="0" marR="0" rtl="0" algn="l">
              <a:lnSpc>
                <a:spcPct val="100000"/>
              </a:lnSpc>
              <a:spcBef>
                <a:spcPts val="0"/>
              </a:spcBef>
              <a:spcAft>
                <a:spcPts val="0"/>
              </a:spcAft>
              <a:buNone/>
            </a:pPr>
            <a:r>
              <a:rPr b="1" i="0" lang="en" sz="1600" u="none" cap="none" strike="noStrike">
                <a:solidFill>
                  <a:srgbClr val="212121"/>
                </a:solidFill>
                <a:latin typeface="Lato"/>
                <a:ea typeface="Lato"/>
                <a:cs typeface="Lato"/>
                <a:sym typeface="Lato"/>
              </a:rPr>
              <a:t>WordPressIndexSource  </a:t>
            </a:r>
            <a:r>
              <a:rPr b="0" i="0" lang="en" sz="1600" u="none" cap="none" strike="noStrike">
                <a:solidFill>
                  <a:srgbClr val="304D80"/>
                </a:solidFill>
                <a:latin typeface="Lato"/>
                <a:ea typeface="Lato"/>
                <a:cs typeface="Lato"/>
                <a:sym typeface="Lato"/>
              </a:rPr>
              <a:t>MCB2, 4, 9, 10: scrapes the boards’ WordPress index pages for document links</a:t>
            </a:r>
            <a:endParaRPr b="0" i="0" sz="1600" u="none" cap="none" strike="noStrike">
              <a:solidFill>
                <a:srgbClr val="304D80"/>
              </a:solidFill>
              <a:latin typeface="Lato"/>
              <a:ea typeface="Lato"/>
              <a:cs typeface="Lato"/>
              <a:sym typeface="Lato"/>
            </a:endParaRPr>
          </a:p>
          <a:p>
            <a:pPr indent="0" lvl="0" marL="0" marR="0" rtl="0" algn="l">
              <a:lnSpc>
                <a:spcPct val="100000"/>
              </a:lnSpc>
              <a:spcBef>
                <a:spcPts val="0"/>
              </a:spcBef>
              <a:spcAft>
                <a:spcPts val="0"/>
              </a:spcAft>
              <a:buNone/>
            </a:pPr>
            <a:r>
              <a:t/>
            </a:r>
            <a:endParaRPr sz="1600">
              <a:solidFill>
                <a:srgbClr val="304D80"/>
              </a:solidFill>
              <a:latin typeface="Lato"/>
              <a:ea typeface="Lato"/>
              <a:cs typeface="Lato"/>
              <a:sym typeface="Lato"/>
            </a:endParaRPr>
          </a:p>
          <a:p>
            <a:pPr indent="0" lvl="0" marL="0" marR="0" rtl="0" algn="l">
              <a:lnSpc>
                <a:spcPct val="100000"/>
              </a:lnSpc>
              <a:spcBef>
                <a:spcPts val="0"/>
              </a:spcBef>
              <a:spcAft>
                <a:spcPts val="0"/>
              </a:spcAft>
              <a:buNone/>
            </a:pPr>
            <a:r>
              <a:rPr b="1" i="0" lang="en" sz="1600" u="none" cap="none" strike="noStrike">
                <a:solidFill>
                  <a:srgbClr val="212121"/>
                </a:solidFill>
                <a:latin typeface="Lato"/>
                <a:ea typeface="Lato"/>
                <a:cs typeface="Lato"/>
                <a:sym typeface="Lato"/>
              </a:rPr>
              <a:t>GoogleDriveFolderSource  </a:t>
            </a:r>
            <a:r>
              <a:rPr b="0" i="0" lang="en" sz="1600" u="none" cap="none" strike="noStrike">
                <a:solidFill>
                  <a:srgbClr val="304D80"/>
                </a:solidFill>
                <a:latin typeface="Lato"/>
                <a:ea typeface="Lato"/>
                <a:cs typeface="Lato"/>
                <a:sym typeface="Lato"/>
              </a:rPr>
              <a:t>MCB7: lists a public Google Drive folder, 380 PDFs back to 2000</a:t>
            </a:r>
            <a:endParaRPr b="0" i="0" sz="1600" u="none" cap="none" strike="noStrike">
              <a:solidFill>
                <a:srgbClr val="304D80"/>
              </a:solidFill>
              <a:latin typeface="Lato"/>
              <a:ea typeface="Lato"/>
              <a:cs typeface="Lato"/>
              <a:sym typeface="Lato"/>
            </a:endParaRPr>
          </a:p>
          <a:p>
            <a:pPr indent="0" lvl="0" marL="0" marR="0" rtl="0" algn="l">
              <a:lnSpc>
                <a:spcPct val="100000"/>
              </a:lnSpc>
              <a:spcBef>
                <a:spcPts val="0"/>
              </a:spcBef>
              <a:spcAft>
                <a:spcPts val="0"/>
              </a:spcAft>
              <a:buNone/>
            </a:pPr>
            <a:r>
              <a:t/>
            </a:r>
            <a:endParaRPr sz="1600">
              <a:solidFill>
                <a:srgbClr val="304D80"/>
              </a:solidFill>
              <a:latin typeface="Lato"/>
              <a:ea typeface="Lato"/>
              <a:cs typeface="Lato"/>
              <a:sym typeface="Lato"/>
            </a:endParaRPr>
          </a:p>
          <a:p>
            <a:pPr indent="0" lvl="0" marL="0" marR="0" rtl="0" algn="l">
              <a:lnSpc>
                <a:spcPct val="100000"/>
              </a:lnSpc>
              <a:spcBef>
                <a:spcPts val="0"/>
              </a:spcBef>
              <a:spcAft>
                <a:spcPts val="0"/>
              </a:spcAft>
              <a:buNone/>
            </a:pPr>
            <a:r>
              <a:rPr b="1" i="0" lang="en" sz="1600" u="none" cap="none" strike="noStrike">
                <a:solidFill>
                  <a:srgbClr val="212121"/>
                </a:solidFill>
                <a:latin typeface="Lato"/>
                <a:ea typeface="Lato"/>
                <a:cs typeface="Lato"/>
                <a:sym typeface="Lato"/>
              </a:rPr>
              <a:t>WaybackCdxSource  </a:t>
            </a:r>
            <a:r>
              <a:rPr b="0" i="0" lang="en" sz="1600" u="none" cap="none" strike="noStrike">
                <a:solidFill>
                  <a:srgbClr val="304D80"/>
                </a:solidFill>
                <a:latin typeface="Lato"/>
                <a:ea typeface="Lato"/>
                <a:cs typeface="Lato"/>
                <a:sym typeface="Lato"/>
              </a:rPr>
              <a:t>MCB5, 8: queries the Internet Archive’s CDX index when a board’s own site can’t be crawled</a:t>
            </a:r>
            <a:endParaRPr b="0" i="0" sz="1600" u="none" cap="none" strike="noStrike">
              <a:solidFill>
                <a:srgbClr val="304D80"/>
              </a:solidFill>
              <a:latin typeface="Lato"/>
              <a:ea typeface="Lato"/>
              <a:cs typeface="Lato"/>
              <a:sym typeface="Lato"/>
            </a:endParaRPr>
          </a:p>
          <a:p>
            <a:pPr indent="0" lvl="0" marL="0" marR="0" rtl="0" algn="l">
              <a:lnSpc>
                <a:spcPct val="100000"/>
              </a:lnSpc>
              <a:spcBef>
                <a:spcPts val="0"/>
              </a:spcBef>
              <a:spcAft>
                <a:spcPts val="0"/>
              </a:spcAft>
              <a:buNone/>
            </a:pPr>
            <a:r>
              <a:t/>
            </a:r>
            <a:endParaRPr sz="1600">
              <a:solidFill>
                <a:srgbClr val="304D80"/>
              </a:solidFill>
              <a:latin typeface="Lato"/>
              <a:ea typeface="Lato"/>
              <a:cs typeface="Lato"/>
              <a:sym typeface="Lato"/>
            </a:endParaRPr>
          </a:p>
          <a:p>
            <a:pPr indent="0" lvl="0" marL="0" marR="0" rtl="0" algn="l">
              <a:lnSpc>
                <a:spcPct val="100000"/>
              </a:lnSpc>
              <a:spcBef>
                <a:spcPts val="0"/>
              </a:spcBef>
              <a:spcAft>
                <a:spcPts val="0"/>
              </a:spcAft>
              <a:buNone/>
            </a:pPr>
            <a:r>
              <a:rPr b="1" i="0" lang="en" sz="1600" u="none" cap="none" strike="noStrike">
                <a:solidFill>
                  <a:srgbClr val="212121"/>
                </a:solidFill>
                <a:latin typeface="Lato"/>
                <a:ea typeface="Lato"/>
                <a:cs typeface="Lato"/>
                <a:sym typeface="Lato"/>
              </a:rPr>
              <a:t>AirtableSource  </a:t>
            </a:r>
            <a:r>
              <a:rPr b="0" i="0" lang="en" sz="1600" u="none" cap="none" strike="noStrike">
                <a:solidFill>
                  <a:srgbClr val="304D80"/>
                </a:solidFill>
                <a:latin typeface="Lato"/>
                <a:ea typeface="Lato"/>
                <a:cs typeface="Lato"/>
                <a:sym typeface="Lato"/>
              </a:rPr>
              <a:t>MCB1, 6, 11, 12: reads boards that moved their records into Airtable bases</a:t>
            </a:r>
            <a:endParaRPr sz="1500"/>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48" name="Shape 648"/>
        <p:cNvGrpSpPr/>
        <p:nvPr/>
      </p:nvGrpSpPr>
      <p:grpSpPr>
        <a:xfrm>
          <a:off x="0" y="0"/>
          <a:ext cx="0" cy="0"/>
          <a:chOff x="0" y="0"/>
          <a:chExt cx="0" cy="0"/>
        </a:xfrm>
      </p:grpSpPr>
      <p:sp>
        <p:nvSpPr>
          <p:cNvPr id="649" name="Google Shape;649;p64"/>
          <p:cNvSpPr txBox="1"/>
          <p:nvPr/>
        </p:nvSpPr>
        <p:spPr>
          <a:xfrm>
            <a:off x="502920" y="342900"/>
            <a:ext cx="8138100" cy="403800"/>
          </a:xfrm>
          <a:prstGeom prst="rect">
            <a:avLst/>
          </a:prstGeom>
          <a:noFill/>
          <a:ln>
            <a:noFill/>
          </a:ln>
        </p:spPr>
        <p:txBody>
          <a:bodyPr anchorCtr="0" anchor="t" bIns="24675" lIns="54850" spcFirstLastPara="1" rIns="54850" wrap="square" tIns="24675">
            <a:spAutoFit/>
          </a:bodyPr>
          <a:lstStyle/>
          <a:p>
            <a:pPr indent="0" lvl="0" marL="0" marR="0" rtl="0" algn="l">
              <a:lnSpc>
                <a:spcPct val="100000"/>
              </a:lnSpc>
              <a:spcBef>
                <a:spcPts val="0"/>
              </a:spcBef>
              <a:spcAft>
                <a:spcPts val="0"/>
              </a:spcAft>
              <a:buNone/>
            </a:pPr>
            <a:r>
              <a:rPr b="1" i="0" lang="en" sz="2300" u="none" cap="none" strike="noStrike">
                <a:solidFill>
                  <a:srgbClr val="212121"/>
                </a:solidFill>
                <a:latin typeface="Lato"/>
                <a:ea typeface="Lato"/>
                <a:cs typeface="Lato"/>
                <a:sym typeface="Lato"/>
              </a:rPr>
              <a:t>Some of It Was Pure Detective Work</a:t>
            </a:r>
            <a:endParaRPr sz="1500"/>
          </a:p>
        </p:txBody>
      </p:sp>
      <p:sp>
        <p:nvSpPr>
          <p:cNvPr id="650" name="Google Shape;650;p64"/>
          <p:cNvSpPr/>
          <p:nvPr/>
        </p:nvSpPr>
        <p:spPr>
          <a:xfrm>
            <a:off x="502920" y="1097280"/>
            <a:ext cx="3886200" cy="2400300"/>
          </a:xfrm>
          <a:prstGeom prst="roundRect">
            <a:avLst>
              <a:gd fmla="val 5000" name="adj"/>
            </a:avLst>
          </a:prstGeom>
          <a:solidFill>
            <a:srgbClr val="F1F5FE"/>
          </a:solidFill>
          <a:ln>
            <a:noFill/>
          </a:ln>
        </p:spPr>
        <p:txBody>
          <a:bodyPr anchorCtr="0" anchor="t" bIns="90525" lIns="201150" spcFirstLastPara="1" rIns="201150" wrap="square" tIns="90525">
            <a:noAutofit/>
          </a:bodyPr>
          <a:lstStyle/>
          <a:p>
            <a:pPr indent="0" lvl="0" marL="0" marR="0" rtl="0" algn="l">
              <a:lnSpc>
                <a:spcPct val="100000"/>
              </a:lnSpc>
              <a:spcBef>
                <a:spcPts val="0"/>
              </a:spcBef>
              <a:spcAft>
                <a:spcPts val="0"/>
              </a:spcAft>
              <a:buNone/>
            </a:pPr>
            <a:r>
              <a:rPr b="1" i="0" lang="en" sz="1680" u="none" cap="none" strike="noStrike">
                <a:solidFill>
                  <a:srgbClr val="4285F4"/>
                </a:solidFill>
                <a:latin typeface="Lato"/>
                <a:ea typeface="Lato"/>
                <a:cs typeface="Lato"/>
                <a:sym typeface="Lato"/>
              </a:rPr>
              <a:t>MCB7: the Drive folder in the JS bundle</a:t>
            </a:r>
            <a:endParaRPr sz="1500"/>
          </a:p>
          <a:p>
            <a:pPr indent="0" lvl="0" marL="0" marR="0" rtl="0" algn="l">
              <a:lnSpc>
                <a:spcPct val="100000"/>
              </a:lnSpc>
              <a:spcBef>
                <a:spcPts val="0"/>
              </a:spcBef>
              <a:spcAft>
                <a:spcPts val="0"/>
              </a:spcAft>
              <a:buNone/>
            </a:pPr>
            <a:r>
              <a:rPr b="0" i="0" lang="en" sz="1500" u="none" cap="none" strike="noStrike">
                <a:solidFill>
                  <a:srgbClr val="304D80"/>
                </a:solidFill>
                <a:latin typeface="Lato"/>
                <a:ea typeface="Lato"/>
                <a:cs typeface="Lato"/>
                <a:sym typeface="Lato"/>
              </a:rPr>
              <a:t>CB7 rebuilt its site as a React app with no document index. The public Google Drive folder ID was sitting in the compiled JavaScript: 380 dated PDFs back to 2000.</a:t>
            </a:r>
            <a:endParaRPr sz="1500"/>
          </a:p>
        </p:txBody>
      </p:sp>
      <p:sp>
        <p:nvSpPr>
          <p:cNvPr id="651" name="Google Shape;651;p64"/>
          <p:cNvSpPr/>
          <p:nvPr/>
        </p:nvSpPr>
        <p:spPr>
          <a:xfrm>
            <a:off x="4754880" y="1097280"/>
            <a:ext cx="3886200" cy="2400300"/>
          </a:xfrm>
          <a:prstGeom prst="roundRect">
            <a:avLst>
              <a:gd fmla="val 5000" name="adj"/>
            </a:avLst>
          </a:prstGeom>
          <a:solidFill>
            <a:srgbClr val="F1F5FE"/>
          </a:solidFill>
          <a:ln>
            <a:noFill/>
          </a:ln>
        </p:spPr>
        <p:txBody>
          <a:bodyPr anchorCtr="0" anchor="t" bIns="90525" lIns="201150" spcFirstLastPara="1" rIns="201150" wrap="square" tIns="90525">
            <a:noAutofit/>
          </a:bodyPr>
          <a:lstStyle/>
          <a:p>
            <a:pPr indent="0" lvl="0" marL="0" marR="0" rtl="0" algn="l">
              <a:lnSpc>
                <a:spcPct val="100000"/>
              </a:lnSpc>
              <a:spcBef>
                <a:spcPts val="0"/>
              </a:spcBef>
              <a:spcAft>
                <a:spcPts val="0"/>
              </a:spcAft>
              <a:buNone/>
            </a:pPr>
            <a:r>
              <a:rPr b="1" i="0" lang="en" sz="1680" u="none" cap="none" strike="noStrike">
                <a:solidFill>
                  <a:srgbClr val="4285F4"/>
                </a:solidFill>
                <a:latin typeface="Lato"/>
                <a:ea typeface="Lato"/>
                <a:cs typeface="Lato"/>
                <a:sym typeface="Lato"/>
              </a:rPr>
              <a:t>MCB5 &amp; 8: reading through the Wayback Machine</a:t>
            </a:r>
            <a:endParaRPr sz="1500"/>
          </a:p>
          <a:p>
            <a:pPr indent="0" lvl="0" marL="0" marR="0" rtl="0" algn="l">
              <a:lnSpc>
                <a:spcPct val="100000"/>
              </a:lnSpc>
              <a:spcBef>
                <a:spcPts val="0"/>
              </a:spcBef>
              <a:spcAft>
                <a:spcPts val="0"/>
              </a:spcAft>
              <a:buNone/>
            </a:pPr>
            <a:r>
              <a:rPr b="0" i="0" lang="en" sz="1500" u="none" cap="none" strike="noStrike">
                <a:solidFill>
                  <a:srgbClr val="304D80"/>
                </a:solidFill>
                <a:latin typeface="Lato"/>
                <a:ea typeface="Lato"/>
                <a:cs typeface="Lato"/>
                <a:sym typeface="Lato"/>
              </a:rPr>
              <a:t>Both sites sit behind Cloudflare bot protection. The Internet Archive’s CDX index of past crawls gave us nearly 2,000 MCB8 resolution PDFs anyway.</a:t>
            </a:r>
            <a:endParaRPr sz="1500"/>
          </a:p>
        </p:txBody>
      </p:sp>
      <p:sp>
        <p:nvSpPr>
          <p:cNvPr id="652" name="Google Shape;652;p64"/>
          <p:cNvSpPr/>
          <p:nvPr/>
        </p:nvSpPr>
        <p:spPr>
          <a:xfrm>
            <a:off x="502920" y="3771900"/>
            <a:ext cx="3886200" cy="2400300"/>
          </a:xfrm>
          <a:prstGeom prst="roundRect">
            <a:avLst>
              <a:gd fmla="val 5000" name="adj"/>
            </a:avLst>
          </a:prstGeom>
          <a:solidFill>
            <a:srgbClr val="F1F5FE"/>
          </a:solidFill>
          <a:ln>
            <a:noFill/>
          </a:ln>
        </p:spPr>
        <p:txBody>
          <a:bodyPr anchorCtr="0" anchor="t" bIns="90525" lIns="201150" spcFirstLastPara="1" rIns="201150" wrap="square" tIns="90525">
            <a:noAutofit/>
          </a:bodyPr>
          <a:lstStyle/>
          <a:p>
            <a:pPr indent="0" lvl="0" marL="0" marR="0" rtl="0" algn="l">
              <a:lnSpc>
                <a:spcPct val="100000"/>
              </a:lnSpc>
              <a:spcBef>
                <a:spcPts val="0"/>
              </a:spcBef>
              <a:spcAft>
                <a:spcPts val="0"/>
              </a:spcAft>
              <a:buNone/>
            </a:pPr>
            <a:r>
              <a:rPr b="1" i="0" lang="en" sz="1680" u="none" cap="none" strike="noStrike">
                <a:solidFill>
                  <a:srgbClr val="4285F4"/>
                </a:solidFill>
                <a:latin typeface="Lato"/>
                <a:ea typeface="Lato"/>
                <a:cs typeface="Lato"/>
                <a:sym typeface="Lato"/>
              </a:rPr>
              <a:t>MCB4: letters back to 1997</a:t>
            </a:r>
            <a:endParaRPr sz="1500"/>
          </a:p>
          <a:p>
            <a:pPr indent="0" lvl="0" marL="0" marR="0" rtl="0" algn="l">
              <a:lnSpc>
                <a:spcPct val="100000"/>
              </a:lnSpc>
              <a:spcBef>
                <a:spcPts val="0"/>
              </a:spcBef>
              <a:spcAft>
                <a:spcPts val="0"/>
              </a:spcAft>
              <a:buNone/>
            </a:pPr>
            <a:r>
              <a:rPr b="0" i="0" lang="en" sz="1500" u="none" cap="none" strike="noStrike">
                <a:solidFill>
                  <a:srgbClr val="304D80"/>
                </a:solidFill>
                <a:latin typeface="Lato"/>
                <a:ea typeface="Lato"/>
                <a:cs typeface="Lato"/>
                <a:sym typeface="Lato"/>
              </a:rPr>
              <a:t>35 year-archives of board letters, the oldest records in the corpus. Dates had to be recovered from the letter datelines themselves: 1,929 → 4,663 dated documents.</a:t>
            </a:r>
            <a:endParaRPr sz="1500"/>
          </a:p>
        </p:txBody>
      </p:sp>
      <p:sp>
        <p:nvSpPr>
          <p:cNvPr id="653" name="Google Shape;653;p64"/>
          <p:cNvSpPr/>
          <p:nvPr/>
        </p:nvSpPr>
        <p:spPr>
          <a:xfrm>
            <a:off x="4754880" y="3771900"/>
            <a:ext cx="3886200" cy="2400300"/>
          </a:xfrm>
          <a:prstGeom prst="roundRect">
            <a:avLst>
              <a:gd fmla="val 5000" name="adj"/>
            </a:avLst>
          </a:prstGeom>
          <a:solidFill>
            <a:srgbClr val="FFF3F5"/>
          </a:solidFill>
          <a:ln>
            <a:noFill/>
          </a:ln>
        </p:spPr>
        <p:txBody>
          <a:bodyPr anchorCtr="0" anchor="t" bIns="90525" lIns="201150" spcFirstLastPara="1" rIns="201150" wrap="square" tIns="90525">
            <a:noAutofit/>
          </a:bodyPr>
          <a:lstStyle/>
          <a:p>
            <a:pPr indent="0" lvl="0" marL="0" marR="0" rtl="0" algn="l">
              <a:lnSpc>
                <a:spcPct val="100000"/>
              </a:lnSpc>
              <a:spcBef>
                <a:spcPts val="0"/>
              </a:spcBef>
              <a:spcAft>
                <a:spcPts val="0"/>
              </a:spcAft>
              <a:buNone/>
            </a:pPr>
            <a:r>
              <a:rPr b="1" i="0" lang="en" sz="1680" u="none" cap="none" strike="noStrike">
                <a:solidFill>
                  <a:srgbClr val="ED315D"/>
                </a:solidFill>
                <a:latin typeface="Lato"/>
                <a:ea typeface="Lato"/>
                <a:cs typeface="Lato"/>
                <a:sym typeface="Lato"/>
              </a:rPr>
              <a:t>And some walls are real</a:t>
            </a:r>
            <a:endParaRPr sz="1500"/>
          </a:p>
          <a:p>
            <a:pPr indent="0" lvl="0" marL="0" marR="0" rtl="0" algn="l">
              <a:lnSpc>
                <a:spcPct val="100000"/>
              </a:lnSpc>
              <a:spcBef>
                <a:spcPts val="0"/>
              </a:spcBef>
              <a:spcAft>
                <a:spcPts val="0"/>
              </a:spcAft>
              <a:buNone/>
            </a:pPr>
            <a:r>
              <a:rPr b="0" i="0" lang="en" sz="1500" u="none" cap="none" strike="noStrike">
                <a:solidFill>
                  <a:srgbClr val="304D80"/>
                </a:solidFill>
                <a:latin typeface="Lato"/>
                <a:ea typeface="Lato"/>
                <a:cs typeface="Lato"/>
                <a:sym typeface="Lato"/>
              </a:rPr>
              <a:t>MCB9’s minutes are scanned images (OCR needed). Two boards’ Airtable bases haven’t been located. Token scopes gate two more. Honest gaps, tracked per board.</a:t>
            </a:r>
            <a:endParaRPr sz="1500"/>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57" name="Shape 657"/>
        <p:cNvGrpSpPr/>
        <p:nvPr/>
      </p:nvGrpSpPr>
      <p:grpSpPr>
        <a:xfrm>
          <a:off x="0" y="0"/>
          <a:ext cx="0" cy="0"/>
          <a:chOff x="0" y="0"/>
          <a:chExt cx="0" cy="0"/>
        </a:xfrm>
      </p:grpSpPr>
      <p:sp>
        <p:nvSpPr>
          <p:cNvPr id="658" name="Google Shape;658;p65"/>
          <p:cNvSpPr txBox="1"/>
          <p:nvPr/>
        </p:nvSpPr>
        <p:spPr>
          <a:xfrm>
            <a:off x="502920" y="342900"/>
            <a:ext cx="8138100" cy="757800"/>
          </a:xfrm>
          <a:prstGeom prst="rect">
            <a:avLst/>
          </a:prstGeom>
          <a:noFill/>
          <a:ln>
            <a:noFill/>
          </a:ln>
        </p:spPr>
        <p:txBody>
          <a:bodyPr anchorCtr="0" anchor="t" bIns="24675" lIns="54850" spcFirstLastPara="1" rIns="54850" wrap="square" tIns="24675">
            <a:spAutoFit/>
          </a:bodyPr>
          <a:lstStyle/>
          <a:p>
            <a:pPr indent="0" lvl="0" marL="0" marR="0" rtl="0" algn="l">
              <a:lnSpc>
                <a:spcPct val="100000"/>
              </a:lnSpc>
              <a:spcBef>
                <a:spcPts val="0"/>
              </a:spcBef>
              <a:spcAft>
                <a:spcPts val="0"/>
              </a:spcAft>
              <a:buNone/>
            </a:pPr>
            <a:r>
              <a:rPr b="1" i="0" lang="en" sz="2300" u="none" cap="none" strike="noStrike">
                <a:solidFill>
                  <a:srgbClr val="212121"/>
                </a:solidFill>
                <a:latin typeface="Lato"/>
                <a:ea typeface="Lato"/>
                <a:cs typeface="Lato"/>
                <a:sym typeface="Lato"/>
              </a:rPr>
              <a:t>Extraction Is Now Hybrid: Regex First, Claude When It Matters</a:t>
            </a:r>
            <a:endParaRPr sz="1500"/>
          </a:p>
        </p:txBody>
      </p:sp>
      <p:sp>
        <p:nvSpPr>
          <p:cNvPr id="659" name="Google Shape;659;p65"/>
          <p:cNvSpPr/>
          <p:nvPr/>
        </p:nvSpPr>
        <p:spPr>
          <a:xfrm>
            <a:off x="502920" y="1303020"/>
            <a:ext cx="2469000" cy="2880300"/>
          </a:xfrm>
          <a:prstGeom prst="roundRect">
            <a:avLst>
              <a:gd fmla="val 5000" name="adj"/>
            </a:avLst>
          </a:prstGeom>
          <a:solidFill>
            <a:srgbClr val="003585"/>
          </a:solidFill>
          <a:ln>
            <a:noFill/>
          </a:ln>
        </p:spPr>
        <p:txBody>
          <a:bodyPr anchorCtr="0" anchor="t" bIns="90525" lIns="201150" spcFirstLastPara="1" rIns="201150" wrap="square" tIns="90525">
            <a:noAutofit/>
          </a:bodyPr>
          <a:lstStyle/>
          <a:p>
            <a:pPr indent="0" lvl="0" marL="0" marR="0" rtl="0" algn="l">
              <a:lnSpc>
                <a:spcPct val="100000"/>
              </a:lnSpc>
              <a:spcBef>
                <a:spcPts val="0"/>
              </a:spcBef>
              <a:spcAft>
                <a:spcPts val="0"/>
              </a:spcAft>
              <a:buNone/>
            </a:pPr>
            <a:r>
              <a:rPr b="1" i="0" lang="en" sz="1800" u="none" cap="none" strike="noStrike">
                <a:solidFill>
                  <a:srgbClr val="FFFFFF"/>
                </a:solidFill>
                <a:latin typeface="Lato"/>
                <a:ea typeface="Lato"/>
                <a:cs typeface="Lato"/>
                <a:sym typeface="Lato"/>
              </a:rPr>
              <a:t>1 · Regex parser</a:t>
            </a:r>
            <a:endParaRPr sz="1500"/>
          </a:p>
          <a:p>
            <a:pPr indent="0" lvl="0" marL="0" marR="0" rtl="0" algn="l">
              <a:lnSpc>
                <a:spcPct val="100000"/>
              </a:lnSpc>
              <a:spcBef>
                <a:spcPts val="0"/>
              </a:spcBef>
              <a:spcAft>
                <a:spcPts val="0"/>
              </a:spcAft>
              <a:buNone/>
            </a:pPr>
            <a:r>
              <a:rPr b="0" i="0" lang="en" sz="1500" u="none" cap="none" strike="noStrike">
                <a:solidFill>
                  <a:srgbClr val="D6E4FF"/>
                </a:solidFill>
                <a:latin typeface="Lato"/>
                <a:ea typeface="Lato"/>
                <a:cs typeface="Lato"/>
                <a:sym typeface="Lato"/>
              </a:rPr>
              <a:t>Ported from the original extractor. Handles the standard formats at zero token cost.</a:t>
            </a:r>
            <a:endParaRPr sz="1500"/>
          </a:p>
        </p:txBody>
      </p:sp>
      <p:sp>
        <p:nvSpPr>
          <p:cNvPr id="660" name="Google Shape;660;p65"/>
          <p:cNvSpPr/>
          <p:nvPr/>
        </p:nvSpPr>
        <p:spPr>
          <a:xfrm>
            <a:off x="3337560" y="1303020"/>
            <a:ext cx="2469000" cy="2880300"/>
          </a:xfrm>
          <a:prstGeom prst="roundRect">
            <a:avLst>
              <a:gd fmla="val 5000" name="adj"/>
            </a:avLst>
          </a:prstGeom>
          <a:solidFill>
            <a:srgbClr val="00BBEA"/>
          </a:solidFill>
          <a:ln>
            <a:noFill/>
          </a:ln>
        </p:spPr>
        <p:txBody>
          <a:bodyPr anchorCtr="0" anchor="t" bIns="90525" lIns="201150" spcFirstLastPara="1" rIns="201150" wrap="square" tIns="90525">
            <a:noAutofit/>
          </a:bodyPr>
          <a:lstStyle/>
          <a:p>
            <a:pPr indent="0" lvl="0" marL="0" marR="0" rtl="0" algn="l">
              <a:lnSpc>
                <a:spcPct val="100000"/>
              </a:lnSpc>
              <a:spcBef>
                <a:spcPts val="0"/>
              </a:spcBef>
              <a:spcAft>
                <a:spcPts val="0"/>
              </a:spcAft>
              <a:buNone/>
            </a:pPr>
            <a:r>
              <a:rPr b="1" i="0" lang="en" sz="1800" u="none" cap="none" strike="noStrike">
                <a:solidFill>
                  <a:srgbClr val="FFFFFF"/>
                </a:solidFill>
                <a:latin typeface="Lato"/>
                <a:ea typeface="Lato"/>
                <a:cs typeface="Lato"/>
                <a:sym typeface="Lato"/>
              </a:rPr>
              <a:t>2 · Quality gates</a:t>
            </a:r>
            <a:endParaRPr sz="1500"/>
          </a:p>
          <a:p>
            <a:pPr indent="0" lvl="0" marL="0" marR="0" rtl="0" algn="l">
              <a:lnSpc>
                <a:spcPct val="100000"/>
              </a:lnSpc>
              <a:spcBef>
                <a:spcPts val="0"/>
              </a:spcBef>
              <a:spcAft>
                <a:spcPts val="0"/>
              </a:spcAft>
              <a:buNone/>
            </a:pPr>
            <a:r>
              <a:rPr b="0" i="0" lang="en" sz="1500" u="none" cap="none" strike="noStrike">
                <a:solidFill>
                  <a:srgbClr val="FFFFFF"/>
                </a:solidFill>
                <a:latin typeface="Lato"/>
                <a:ea typeface="Lato"/>
                <a:cs typeface="Lato"/>
                <a:sym typeface="Lato"/>
              </a:rPr>
              <a:t>Heuristics score every parse; missing clauses, suspicious titles, and empty bodies trigger escalation.</a:t>
            </a:r>
            <a:endParaRPr sz="1500"/>
          </a:p>
        </p:txBody>
      </p:sp>
      <p:sp>
        <p:nvSpPr>
          <p:cNvPr id="661" name="Google Shape;661;p65"/>
          <p:cNvSpPr/>
          <p:nvPr/>
        </p:nvSpPr>
        <p:spPr>
          <a:xfrm>
            <a:off x="6172200" y="1303020"/>
            <a:ext cx="2469000" cy="2880300"/>
          </a:xfrm>
          <a:prstGeom prst="roundRect">
            <a:avLst>
              <a:gd fmla="val 5000" name="adj"/>
            </a:avLst>
          </a:prstGeom>
          <a:solidFill>
            <a:srgbClr val="04D99D"/>
          </a:solidFill>
          <a:ln>
            <a:noFill/>
          </a:ln>
        </p:spPr>
        <p:txBody>
          <a:bodyPr anchorCtr="0" anchor="t" bIns="90525" lIns="201150" spcFirstLastPara="1" rIns="201150" wrap="square" tIns="90525">
            <a:noAutofit/>
          </a:bodyPr>
          <a:lstStyle/>
          <a:p>
            <a:pPr indent="0" lvl="0" marL="0" marR="0" rtl="0" algn="l">
              <a:lnSpc>
                <a:spcPct val="100000"/>
              </a:lnSpc>
              <a:spcBef>
                <a:spcPts val="0"/>
              </a:spcBef>
              <a:spcAft>
                <a:spcPts val="0"/>
              </a:spcAft>
              <a:buNone/>
            </a:pPr>
            <a:r>
              <a:rPr b="1" i="0" lang="en" sz="1800" u="none" cap="none" strike="noStrike">
                <a:solidFill>
                  <a:srgbClr val="FFFFFF"/>
                </a:solidFill>
                <a:latin typeface="Lato"/>
                <a:ea typeface="Lato"/>
                <a:cs typeface="Lato"/>
                <a:sym typeface="Lato"/>
              </a:rPr>
              <a:t>3 · Claude fallback</a:t>
            </a:r>
            <a:endParaRPr sz="1500"/>
          </a:p>
          <a:p>
            <a:pPr indent="0" lvl="0" marL="0" marR="0" rtl="0" algn="l">
              <a:lnSpc>
                <a:spcPct val="100000"/>
              </a:lnSpc>
              <a:spcBef>
                <a:spcPts val="0"/>
              </a:spcBef>
              <a:spcAft>
                <a:spcPts val="0"/>
              </a:spcAft>
              <a:buNone/>
            </a:pPr>
            <a:r>
              <a:rPr b="0" i="0" lang="en" sz="1500" u="none" cap="none" strike="noStrike">
                <a:solidFill>
                  <a:srgbClr val="FFFFFF"/>
                </a:solidFill>
                <a:latin typeface="Lato"/>
                <a:ea typeface="Lato"/>
                <a:cs typeface="Lato"/>
                <a:sym typeface="Lato"/>
              </a:rPr>
              <a:t>Documents that fail the gates go to Claude Sonnet for structured extraction instead.</a:t>
            </a:r>
            <a:endParaRPr sz="1500"/>
          </a:p>
        </p:txBody>
      </p:sp>
      <p:sp>
        <p:nvSpPr>
          <p:cNvPr id="662" name="Google Shape;662;p65"/>
          <p:cNvSpPr/>
          <p:nvPr/>
        </p:nvSpPr>
        <p:spPr>
          <a:xfrm>
            <a:off x="502920" y="4594860"/>
            <a:ext cx="8138100" cy="1440300"/>
          </a:xfrm>
          <a:prstGeom prst="roundRect">
            <a:avLst>
              <a:gd fmla="val 5000" name="adj"/>
            </a:avLst>
          </a:prstGeom>
          <a:solidFill>
            <a:srgbClr val="F1F5FE"/>
          </a:solidFill>
          <a:ln>
            <a:noFill/>
          </a:ln>
        </p:spPr>
        <p:txBody>
          <a:bodyPr anchorCtr="0" anchor="t" bIns="82275" lIns="182875" spcFirstLastPara="1" rIns="182875" wrap="square" tIns="82275">
            <a:noAutofit/>
          </a:bodyPr>
          <a:lstStyle/>
          <a:p>
            <a:pPr indent="0" lvl="0" marL="0" marR="0" rtl="0" algn="l">
              <a:lnSpc>
                <a:spcPct val="100000"/>
              </a:lnSpc>
              <a:spcBef>
                <a:spcPts val="0"/>
              </a:spcBef>
              <a:spcAft>
                <a:spcPts val="0"/>
              </a:spcAft>
              <a:buNone/>
            </a:pPr>
            <a:r>
              <a:rPr b="1" i="0" lang="en" sz="1600" u="none" cap="none" strike="noStrike">
                <a:solidFill>
                  <a:srgbClr val="212121"/>
                </a:solidFill>
                <a:latin typeface="Lato"/>
                <a:ea typeface="Lato"/>
                <a:cs typeface="Lato"/>
                <a:sym typeface="Lato"/>
              </a:rPr>
              <a:t>Trust, but verify:</a:t>
            </a:r>
            <a:r>
              <a:rPr b="0" i="0" lang="en" sz="1600" u="none" cap="none" strike="noStrike">
                <a:solidFill>
                  <a:srgbClr val="304D80"/>
                </a:solidFill>
                <a:latin typeface="Lato"/>
                <a:ea typeface="Lato"/>
                <a:cs typeface="Lato"/>
                <a:sym typeface="Lato"/>
              </a:rPr>
              <a:t> every run also re-parses a deterministic 5% sample with </a:t>
            </a:r>
            <a:r>
              <a:rPr b="1" i="0" lang="en" sz="1600" u="none" cap="none" strike="noStrike">
                <a:solidFill>
                  <a:srgbClr val="304D80"/>
                </a:solidFill>
                <a:latin typeface="Lato"/>
                <a:ea typeface="Lato"/>
                <a:cs typeface="Lato"/>
                <a:sym typeface="Lato"/>
              </a:rPr>
              <a:t>both</a:t>
            </a:r>
            <a:r>
              <a:rPr b="0" i="0" lang="en" sz="1600" u="none" cap="none" strike="noStrike">
                <a:solidFill>
                  <a:srgbClr val="304D80"/>
                </a:solidFill>
                <a:latin typeface="Lato"/>
                <a:ea typeface="Lato"/>
                <a:cs typeface="Lato"/>
                <a:sym typeface="Lato"/>
              </a:rPr>
              <a:t> methods and compares them, so format drift on any board surfaces as a diff, not as silent data corruption.</a:t>
            </a:r>
            <a:endParaRPr sz="1500"/>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66" name="Shape 666"/>
        <p:cNvGrpSpPr/>
        <p:nvPr/>
      </p:nvGrpSpPr>
      <p:grpSpPr>
        <a:xfrm>
          <a:off x="0" y="0"/>
          <a:ext cx="0" cy="0"/>
          <a:chOff x="0" y="0"/>
          <a:chExt cx="0" cy="0"/>
        </a:xfrm>
      </p:grpSpPr>
      <p:sp>
        <p:nvSpPr>
          <p:cNvPr id="667" name="Google Shape;667;p66"/>
          <p:cNvSpPr txBox="1"/>
          <p:nvPr/>
        </p:nvSpPr>
        <p:spPr>
          <a:xfrm>
            <a:off x="502920" y="342900"/>
            <a:ext cx="8138100" cy="403800"/>
          </a:xfrm>
          <a:prstGeom prst="rect">
            <a:avLst/>
          </a:prstGeom>
          <a:noFill/>
          <a:ln>
            <a:noFill/>
          </a:ln>
        </p:spPr>
        <p:txBody>
          <a:bodyPr anchorCtr="0" anchor="t" bIns="24675" lIns="54850" spcFirstLastPara="1" rIns="54850" wrap="square" tIns="24675">
            <a:spAutoFit/>
          </a:bodyPr>
          <a:lstStyle/>
          <a:p>
            <a:pPr indent="0" lvl="0" marL="0" marR="0" rtl="0" algn="l">
              <a:lnSpc>
                <a:spcPct val="100000"/>
              </a:lnSpc>
              <a:spcBef>
                <a:spcPts val="0"/>
              </a:spcBef>
              <a:spcAft>
                <a:spcPts val="0"/>
              </a:spcAft>
              <a:buNone/>
            </a:pPr>
            <a:r>
              <a:rPr b="1" i="0" lang="en" sz="2300" u="none" cap="none" strike="noStrike">
                <a:solidFill>
                  <a:srgbClr val="212121"/>
                </a:solidFill>
                <a:latin typeface="Lato"/>
                <a:ea typeface="Lato"/>
                <a:cs typeface="Lato"/>
                <a:sym typeface="Lato"/>
              </a:rPr>
              <a:t>Teaching One Parser Nine Dialects</a:t>
            </a:r>
            <a:endParaRPr sz="1500"/>
          </a:p>
        </p:txBody>
      </p:sp>
      <p:sp>
        <p:nvSpPr>
          <p:cNvPr id="668" name="Google Shape;668;p66"/>
          <p:cNvSpPr txBox="1"/>
          <p:nvPr/>
        </p:nvSpPr>
        <p:spPr>
          <a:xfrm>
            <a:off x="502920" y="1028700"/>
            <a:ext cx="8138100" cy="1158000"/>
          </a:xfrm>
          <a:prstGeom prst="rect">
            <a:avLst/>
          </a:prstGeom>
          <a:noFill/>
          <a:ln>
            <a:noFill/>
          </a:ln>
        </p:spPr>
        <p:txBody>
          <a:bodyPr anchorCtr="0" anchor="t" bIns="24675" lIns="54850" spcFirstLastPara="1" rIns="54850" wrap="square" tIns="24675">
            <a:spAutoFit/>
          </a:bodyPr>
          <a:lstStyle/>
          <a:p>
            <a:pPr indent="0" lvl="0" marL="0" marR="0" rtl="0" algn="l">
              <a:lnSpc>
                <a:spcPct val="100000"/>
              </a:lnSpc>
              <a:spcBef>
                <a:spcPts val="0"/>
              </a:spcBef>
              <a:spcAft>
                <a:spcPts val="0"/>
              </a:spcAft>
              <a:buNone/>
            </a:pPr>
            <a:r>
              <a:rPr b="0" i="0" lang="en" sz="1800" u="none" cap="none" strike="noStrike">
                <a:solidFill>
                  <a:srgbClr val="304D80"/>
                </a:solidFill>
                <a:latin typeface="Lato"/>
                <a:ea typeface="Lato"/>
                <a:cs typeface="Lato"/>
                <a:sym typeface="Lato"/>
              </a:rPr>
              <a:t>Each new board broke assumptions MCB3 never tested. </a:t>
            </a:r>
            <a:endParaRPr b="0" i="0" sz="1800" u="none" cap="none" strike="noStrike">
              <a:solidFill>
                <a:srgbClr val="304D80"/>
              </a:solidFill>
              <a:latin typeface="Lato"/>
              <a:ea typeface="Lato"/>
              <a:cs typeface="Lato"/>
              <a:sym typeface="Lato"/>
            </a:endParaRPr>
          </a:p>
          <a:p>
            <a:pPr indent="0" lvl="0" marL="0" marR="0" rtl="0" algn="l">
              <a:lnSpc>
                <a:spcPct val="100000"/>
              </a:lnSpc>
              <a:spcBef>
                <a:spcPts val="0"/>
              </a:spcBef>
              <a:spcAft>
                <a:spcPts val="0"/>
              </a:spcAft>
              <a:buNone/>
            </a:pPr>
            <a:r>
              <a:t/>
            </a:r>
            <a:endParaRPr sz="1800">
              <a:solidFill>
                <a:srgbClr val="304D80"/>
              </a:solidFill>
              <a:latin typeface="Lato"/>
              <a:ea typeface="Lato"/>
              <a:cs typeface="Lato"/>
              <a:sym typeface="Lato"/>
            </a:endParaRPr>
          </a:p>
          <a:p>
            <a:pPr indent="0" lvl="0" marL="0" marR="0" rtl="0" algn="l">
              <a:lnSpc>
                <a:spcPct val="100000"/>
              </a:lnSpc>
              <a:spcBef>
                <a:spcPts val="0"/>
              </a:spcBef>
              <a:spcAft>
                <a:spcPts val="0"/>
              </a:spcAft>
              <a:buNone/>
            </a:pPr>
            <a:r>
              <a:rPr b="0" i="0" lang="en" sz="1800" u="none" cap="none" strike="noStrike">
                <a:solidFill>
                  <a:srgbClr val="304D80"/>
                </a:solidFill>
                <a:latin typeface="Lato"/>
                <a:ea typeface="Lato"/>
                <a:cs typeface="Lato"/>
                <a:sym typeface="Lato"/>
              </a:rPr>
              <a:t>The fix loop: sample → fix → re-dump → scorecard. Four parser generations since March:</a:t>
            </a:r>
            <a:endParaRPr sz="1500"/>
          </a:p>
        </p:txBody>
      </p:sp>
      <p:sp>
        <p:nvSpPr>
          <p:cNvPr id="669" name="Google Shape;669;p66"/>
          <p:cNvSpPr txBox="1"/>
          <p:nvPr/>
        </p:nvSpPr>
        <p:spPr>
          <a:xfrm>
            <a:off x="502920" y="2613293"/>
            <a:ext cx="8138100" cy="2512500"/>
          </a:xfrm>
          <a:prstGeom prst="rect">
            <a:avLst/>
          </a:prstGeom>
          <a:noFill/>
          <a:ln>
            <a:noFill/>
          </a:ln>
        </p:spPr>
        <p:txBody>
          <a:bodyPr anchorCtr="0" anchor="t" bIns="24675" lIns="54850" spcFirstLastPara="1" rIns="54850" wrap="square" tIns="24675">
            <a:spAutoFit/>
          </a:bodyPr>
          <a:lstStyle/>
          <a:p>
            <a:pPr indent="0" lvl="0" marL="0" marR="0" rtl="0" algn="l">
              <a:lnSpc>
                <a:spcPct val="100000"/>
              </a:lnSpc>
              <a:spcBef>
                <a:spcPts val="0"/>
              </a:spcBef>
              <a:spcAft>
                <a:spcPts val="0"/>
              </a:spcAft>
              <a:buNone/>
            </a:pPr>
            <a:r>
              <a:rPr b="1" i="0" lang="en" sz="1600" u="none" cap="none" strike="noStrike">
                <a:solidFill>
                  <a:srgbClr val="212121"/>
                </a:solidFill>
                <a:latin typeface="Lato"/>
                <a:ea typeface="Lato"/>
                <a:cs typeface="Lato"/>
                <a:sym typeface="Lato"/>
              </a:rPr>
              <a:t>Envelope &amp; letterhead stripping  </a:t>
            </a:r>
            <a:r>
              <a:rPr b="0" i="0" lang="en" sz="1600" u="none" cap="none" strike="noStrike">
                <a:solidFill>
                  <a:srgbClr val="304D80"/>
                </a:solidFill>
                <a:latin typeface="Lato"/>
                <a:ea typeface="Lato"/>
                <a:cs typeface="Lato"/>
                <a:sym typeface="Lato"/>
              </a:rPr>
              <a:t>CB letters wrap resolutions in addresses and salutations; letterhead leaking into text fell 83% → 1% on MCB2</a:t>
            </a:r>
            <a:endParaRPr sz="1500"/>
          </a:p>
          <a:p>
            <a:pPr indent="0" lvl="0" marL="0" marR="0" rtl="0" algn="l">
              <a:lnSpc>
                <a:spcPct val="100000"/>
              </a:lnSpc>
              <a:spcBef>
                <a:spcPts val="0"/>
              </a:spcBef>
              <a:spcAft>
                <a:spcPts val="0"/>
              </a:spcAft>
              <a:buNone/>
            </a:pPr>
            <a:r>
              <a:rPr b="1" i="0" lang="en" sz="1600" u="none" cap="none" strike="noStrike">
                <a:solidFill>
                  <a:srgbClr val="212121"/>
                </a:solidFill>
                <a:latin typeface="Lato"/>
                <a:ea typeface="Lato"/>
                <a:cs typeface="Lato"/>
                <a:sym typeface="Lato"/>
              </a:rPr>
              <a:t>Bundle splitting  </a:t>
            </a:r>
            <a:r>
              <a:rPr b="0" i="0" lang="en" sz="1600" u="none" cap="none" strike="noStrike">
                <a:solidFill>
                  <a:srgbClr val="304D80"/>
                </a:solidFill>
                <a:latin typeface="Lato"/>
                <a:ea typeface="Lato"/>
                <a:cs typeface="Lato"/>
                <a:sym typeface="Lato"/>
              </a:rPr>
              <a:t>One PDF often holds many resolutions; numbered-item and tally-terminated splitting recovered them as separate records</a:t>
            </a:r>
            <a:endParaRPr sz="1500"/>
          </a:p>
          <a:p>
            <a:pPr indent="0" lvl="0" marL="0" marR="0" rtl="0" algn="l">
              <a:lnSpc>
                <a:spcPct val="100000"/>
              </a:lnSpc>
              <a:spcBef>
                <a:spcPts val="0"/>
              </a:spcBef>
              <a:spcAft>
                <a:spcPts val="0"/>
              </a:spcAft>
              <a:buNone/>
            </a:pPr>
            <a:r>
              <a:rPr b="1" i="0" lang="en" sz="1600" u="none" cap="none" strike="noStrike">
                <a:solidFill>
                  <a:srgbClr val="212121"/>
                </a:solidFill>
                <a:latin typeface="Lato"/>
                <a:ea typeface="Lato"/>
                <a:cs typeface="Lato"/>
                <a:sym typeface="Lato"/>
              </a:rPr>
              <a:t>Prose vote tallies  </a:t>
            </a:r>
            <a:r>
              <a:rPr b="0" i="0" lang="en" sz="1600" u="none" cap="none" strike="noStrike">
                <a:solidFill>
                  <a:srgbClr val="304D80"/>
                </a:solidFill>
                <a:latin typeface="Lato"/>
                <a:ea typeface="Lato"/>
                <a:cs typeface="Lato"/>
                <a:sym typeface="Lato"/>
              </a:rPr>
              <a:t>“12 in favor, 2 opposed” written as sentences now parses into structured counts</a:t>
            </a:r>
            <a:endParaRPr sz="1500"/>
          </a:p>
          <a:p>
            <a:pPr indent="0" lvl="0" marL="0" marR="0" rtl="0" algn="l">
              <a:lnSpc>
                <a:spcPct val="100000"/>
              </a:lnSpc>
              <a:spcBef>
                <a:spcPts val="0"/>
              </a:spcBef>
              <a:spcAft>
                <a:spcPts val="0"/>
              </a:spcAft>
              <a:buNone/>
            </a:pPr>
            <a:r>
              <a:rPr b="1" i="0" lang="en" sz="1600" u="none" cap="none" strike="noStrike">
                <a:solidFill>
                  <a:srgbClr val="212121"/>
                </a:solidFill>
                <a:latin typeface="Lato"/>
                <a:ea typeface="Lato"/>
                <a:cs typeface="Lato"/>
                <a:sym typeface="Lato"/>
              </a:rPr>
              <a:t>Noise-title filters  </a:t>
            </a:r>
            <a:r>
              <a:rPr b="0" i="0" lang="en" sz="1600" u="none" cap="none" strike="noStrike">
                <a:solidFill>
                  <a:srgbClr val="304D80"/>
                </a:solidFill>
                <a:latin typeface="Lato"/>
                <a:ea typeface="Lato"/>
                <a:cs typeface="Lato"/>
                <a:sym typeface="Lato"/>
              </a:rPr>
              <a:t>Rows titled with bare dates or vote tallies are dropped board-wide; zero-clause rows on MCB2 fell 76% → 8%</a:t>
            </a:r>
            <a:endParaRPr sz="1500"/>
          </a:p>
          <a:p>
            <a:pPr indent="0" lvl="0" marL="0" marR="0" rtl="0" algn="l">
              <a:lnSpc>
                <a:spcPct val="100000"/>
              </a:lnSpc>
              <a:spcBef>
                <a:spcPts val="0"/>
              </a:spcBef>
              <a:spcAft>
                <a:spcPts val="0"/>
              </a:spcAft>
              <a:buNone/>
            </a:pPr>
            <a:r>
              <a:rPr b="1" i="0" lang="en" sz="1600" u="none" cap="none" strike="noStrike">
                <a:solidFill>
                  <a:srgbClr val="212121"/>
                </a:solidFill>
                <a:latin typeface="Lato"/>
                <a:ea typeface="Lato"/>
                <a:cs typeface="Lato"/>
                <a:sym typeface="Lato"/>
              </a:rPr>
              <a:t>True meeting counts  </a:t>
            </a:r>
            <a:r>
              <a:rPr b="0" i="0" lang="en" sz="1600" u="none" cap="none" strike="noStrike">
                <a:solidFill>
                  <a:srgbClr val="304D80"/>
                </a:solidFill>
                <a:latin typeface="Lato"/>
                <a:ea typeface="Lato"/>
                <a:cs typeface="Lato"/>
                <a:sym typeface="Lato"/>
              </a:rPr>
              <a:t>Meetings now key on board + date, so one-PDF-per-resolution boards stopped reporting one “meeting” per document</a:t>
            </a:r>
            <a:endParaRPr sz="1500"/>
          </a:p>
        </p:txBody>
      </p:sp>
      <p:sp>
        <p:nvSpPr>
          <p:cNvPr id="670" name="Google Shape;670;p66"/>
          <p:cNvSpPr txBox="1"/>
          <p:nvPr/>
        </p:nvSpPr>
        <p:spPr>
          <a:xfrm>
            <a:off x="502920" y="5829300"/>
            <a:ext cx="8138100" cy="545400"/>
          </a:xfrm>
          <a:prstGeom prst="rect">
            <a:avLst/>
          </a:prstGeom>
          <a:noFill/>
          <a:ln>
            <a:noFill/>
          </a:ln>
        </p:spPr>
        <p:txBody>
          <a:bodyPr anchorCtr="0" anchor="t" bIns="24675" lIns="54850" spcFirstLastPara="1" rIns="54850" wrap="square" tIns="24675">
            <a:spAutoFit/>
          </a:bodyPr>
          <a:lstStyle/>
          <a:p>
            <a:pPr indent="0" lvl="0" marL="0" marR="0" rtl="0" algn="l">
              <a:lnSpc>
                <a:spcPct val="100000"/>
              </a:lnSpc>
              <a:spcBef>
                <a:spcPts val="0"/>
              </a:spcBef>
              <a:spcAft>
                <a:spcPts val="0"/>
              </a:spcAft>
              <a:buNone/>
            </a:pPr>
            <a:r>
              <a:rPr b="0" i="1" lang="en" sz="1610" u="none" cap="none" strike="noStrike">
                <a:solidFill>
                  <a:srgbClr val="757575"/>
                </a:solidFill>
                <a:latin typeface="Lato"/>
                <a:ea typeface="Lato"/>
                <a:cs typeface="Lato"/>
                <a:sym typeface="Lato"/>
              </a:rPr>
              <a:t>Every change lands in a per-board scorecard with counts and dates, so methodology drift is a ledger entry, not a mystery.</a:t>
            </a:r>
            <a:endParaRPr sz="1500"/>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74" name="Shape 674"/>
        <p:cNvGrpSpPr/>
        <p:nvPr/>
      </p:nvGrpSpPr>
      <p:grpSpPr>
        <a:xfrm>
          <a:off x="0" y="0"/>
          <a:ext cx="0" cy="0"/>
          <a:chOff x="0" y="0"/>
          <a:chExt cx="0" cy="0"/>
        </a:xfrm>
      </p:grpSpPr>
      <p:sp>
        <p:nvSpPr>
          <p:cNvPr id="675" name="Google Shape;675;p67"/>
          <p:cNvSpPr txBox="1"/>
          <p:nvPr/>
        </p:nvSpPr>
        <p:spPr>
          <a:xfrm>
            <a:off x="502920" y="342900"/>
            <a:ext cx="8138100" cy="403800"/>
          </a:xfrm>
          <a:prstGeom prst="rect">
            <a:avLst/>
          </a:prstGeom>
          <a:noFill/>
          <a:ln>
            <a:noFill/>
          </a:ln>
        </p:spPr>
        <p:txBody>
          <a:bodyPr anchorCtr="0" anchor="t" bIns="24675" lIns="54850" spcFirstLastPara="1" rIns="54850" wrap="square" tIns="24675">
            <a:spAutoFit/>
          </a:bodyPr>
          <a:lstStyle/>
          <a:p>
            <a:pPr indent="0" lvl="0" marL="0" marR="0" rtl="0" algn="l">
              <a:lnSpc>
                <a:spcPct val="100000"/>
              </a:lnSpc>
              <a:spcBef>
                <a:spcPts val="0"/>
              </a:spcBef>
              <a:spcAft>
                <a:spcPts val="0"/>
              </a:spcAft>
              <a:buNone/>
            </a:pPr>
            <a:r>
              <a:rPr b="1" i="0" lang="en" sz="2300" u="none" cap="none" strike="noStrike">
                <a:solidFill>
                  <a:srgbClr val="212121"/>
                </a:solidFill>
                <a:latin typeface="Lato"/>
                <a:ea typeface="Lato"/>
                <a:cs typeface="Lato"/>
                <a:sym typeface="Lato"/>
              </a:rPr>
              <a:t>Every Resolution Now Carries More</a:t>
            </a:r>
            <a:endParaRPr sz="1500"/>
          </a:p>
        </p:txBody>
      </p:sp>
      <p:sp>
        <p:nvSpPr>
          <p:cNvPr id="676" name="Google Shape;676;p67"/>
          <p:cNvSpPr txBox="1"/>
          <p:nvPr/>
        </p:nvSpPr>
        <p:spPr>
          <a:xfrm>
            <a:off x="502920" y="1028700"/>
            <a:ext cx="8138100" cy="327000"/>
          </a:xfrm>
          <a:prstGeom prst="rect">
            <a:avLst/>
          </a:prstGeom>
          <a:noFill/>
          <a:ln>
            <a:noFill/>
          </a:ln>
        </p:spPr>
        <p:txBody>
          <a:bodyPr anchorCtr="0" anchor="t" bIns="24675" lIns="54850" spcFirstLastPara="1" rIns="54850" wrap="square" tIns="24675">
            <a:spAutoFit/>
          </a:bodyPr>
          <a:lstStyle/>
          <a:p>
            <a:pPr indent="0" lvl="0" marL="0" marR="0" rtl="0" algn="l">
              <a:lnSpc>
                <a:spcPct val="100000"/>
              </a:lnSpc>
              <a:spcBef>
                <a:spcPts val="0"/>
              </a:spcBef>
              <a:spcAft>
                <a:spcPts val="0"/>
              </a:spcAft>
              <a:buNone/>
            </a:pPr>
            <a:r>
              <a:rPr b="0" i="0" lang="en" sz="1800" u="none" cap="none" strike="noStrike">
                <a:solidFill>
                  <a:srgbClr val="304D80"/>
                </a:solidFill>
                <a:latin typeface="Lato"/>
                <a:ea typeface="Lato"/>
                <a:cs typeface="Lato"/>
                <a:sym typeface="Lato"/>
              </a:rPr>
              <a:t>The March schema stored a title, clauses, and a vote. New extractions add:</a:t>
            </a:r>
            <a:endParaRPr sz="1500"/>
          </a:p>
        </p:txBody>
      </p:sp>
      <p:sp>
        <p:nvSpPr>
          <p:cNvPr id="677" name="Google Shape;677;p67"/>
          <p:cNvSpPr/>
          <p:nvPr/>
        </p:nvSpPr>
        <p:spPr>
          <a:xfrm>
            <a:off x="502920" y="1714500"/>
            <a:ext cx="3886200" cy="1920300"/>
          </a:xfrm>
          <a:prstGeom prst="roundRect">
            <a:avLst>
              <a:gd fmla="val 5000" name="adj"/>
            </a:avLst>
          </a:prstGeom>
          <a:solidFill>
            <a:srgbClr val="F1F5FE"/>
          </a:solidFill>
          <a:ln>
            <a:noFill/>
          </a:ln>
        </p:spPr>
        <p:txBody>
          <a:bodyPr anchorCtr="0" anchor="t" bIns="90525" lIns="201150" spcFirstLastPara="1" rIns="201150" wrap="square" tIns="90525">
            <a:noAutofit/>
          </a:bodyPr>
          <a:lstStyle/>
          <a:p>
            <a:pPr indent="0" lvl="0" marL="0" marR="0" rtl="0" algn="l">
              <a:lnSpc>
                <a:spcPct val="100000"/>
              </a:lnSpc>
              <a:spcBef>
                <a:spcPts val="0"/>
              </a:spcBef>
              <a:spcAft>
                <a:spcPts val="0"/>
              </a:spcAft>
              <a:buNone/>
            </a:pPr>
            <a:r>
              <a:rPr b="1" i="0" lang="en" sz="1680" u="none" cap="none" strike="noStrike">
                <a:solidFill>
                  <a:srgbClr val="4285F4"/>
                </a:solidFill>
                <a:latin typeface="Lato"/>
                <a:ea typeface="Lato"/>
                <a:cs typeface="Lato"/>
                <a:sym typeface="Lato"/>
              </a:rPr>
              <a:t>Verbatim text + provenance</a:t>
            </a:r>
            <a:endParaRPr sz="1500"/>
          </a:p>
          <a:p>
            <a:pPr indent="0" lvl="0" marL="0" marR="0" rtl="0" algn="l">
              <a:lnSpc>
                <a:spcPct val="100000"/>
              </a:lnSpc>
              <a:spcBef>
                <a:spcPts val="0"/>
              </a:spcBef>
              <a:spcAft>
                <a:spcPts val="0"/>
              </a:spcAft>
              <a:buNone/>
            </a:pPr>
            <a:r>
              <a:rPr b="0" i="0" lang="en" sz="1500" u="none" cap="none" strike="noStrike">
                <a:solidFill>
                  <a:srgbClr val="304D80"/>
                </a:solidFill>
                <a:latin typeface="Lato"/>
                <a:ea typeface="Lato"/>
                <a:cs typeface="Lato"/>
                <a:sym typeface="Lato"/>
              </a:rPr>
              <a:t>The exact source text of every clause, plus which document and parser version produced each record.</a:t>
            </a:r>
            <a:endParaRPr sz="1500"/>
          </a:p>
        </p:txBody>
      </p:sp>
      <p:sp>
        <p:nvSpPr>
          <p:cNvPr id="678" name="Google Shape;678;p67"/>
          <p:cNvSpPr/>
          <p:nvPr/>
        </p:nvSpPr>
        <p:spPr>
          <a:xfrm>
            <a:off x="4754880" y="1714500"/>
            <a:ext cx="3886200" cy="1920300"/>
          </a:xfrm>
          <a:prstGeom prst="roundRect">
            <a:avLst>
              <a:gd fmla="val 5000" name="adj"/>
            </a:avLst>
          </a:prstGeom>
          <a:solidFill>
            <a:srgbClr val="F1F5FE"/>
          </a:solidFill>
          <a:ln>
            <a:noFill/>
          </a:ln>
        </p:spPr>
        <p:txBody>
          <a:bodyPr anchorCtr="0" anchor="t" bIns="90525" lIns="201150" spcFirstLastPara="1" rIns="201150" wrap="square" tIns="90525">
            <a:noAutofit/>
          </a:bodyPr>
          <a:lstStyle/>
          <a:p>
            <a:pPr indent="0" lvl="0" marL="0" marR="0" rtl="0" algn="l">
              <a:lnSpc>
                <a:spcPct val="100000"/>
              </a:lnSpc>
              <a:spcBef>
                <a:spcPts val="0"/>
              </a:spcBef>
              <a:spcAft>
                <a:spcPts val="0"/>
              </a:spcAft>
              <a:buNone/>
            </a:pPr>
            <a:r>
              <a:rPr b="1" i="0" lang="en" sz="1680" u="none" cap="none" strike="noStrike">
                <a:solidFill>
                  <a:srgbClr val="4285F4"/>
                </a:solidFill>
                <a:latin typeface="Lato"/>
                <a:ea typeface="Lato"/>
                <a:cs typeface="Lato"/>
                <a:sym typeface="Lato"/>
              </a:rPr>
              <a:t>Three-field summaries</a:t>
            </a:r>
            <a:endParaRPr sz="1500"/>
          </a:p>
          <a:p>
            <a:pPr indent="0" lvl="0" marL="0" marR="0" rtl="0" algn="l">
              <a:lnSpc>
                <a:spcPct val="100000"/>
              </a:lnSpc>
              <a:spcBef>
                <a:spcPts val="0"/>
              </a:spcBef>
              <a:spcAft>
                <a:spcPts val="0"/>
              </a:spcAft>
              <a:buNone/>
            </a:pPr>
            <a:r>
              <a:rPr b="0" i="0" lang="en" sz="1500" u="none" cap="none" strike="noStrike">
                <a:solidFill>
                  <a:srgbClr val="304D80"/>
                </a:solidFill>
                <a:latin typeface="Lato"/>
                <a:ea typeface="Lato"/>
                <a:cs typeface="Lato"/>
                <a:sym typeface="Lato"/>
              </a:rPr>
              <a:t>Claude Haiku writes a structured </a:t>
            </a:r>
            <a:r>
              <a:rPr b="1" i="0" lang="en" sz="1500" u="none" cap="none" strike="noStrike">
                <a:solidFill>
                  <a:srgbClr val="304D80"/>
                </a:solidFill>
                <a:latin typeface="Lato"/>
                <a:ea typeface="Lato"/>
                <a:cs typeface="Lato"/>
                <a:sym typeface="Lato"/>
              </a:rPr>
              <a:t>title / context / action</a:t>
            </a:r>
            <a:r>
              <a:rPr b="0" i="0" lang="en" sz="1500" u="none" cap="none" strike="noStrike">
                <a:solidFill>
                  <a:srgbClr val="304D80"/>
                </a:solidFill>
                <a:latin typeface="Lato"/>
                <a:ea typeface="Lato"/>
                <a:cs typeface="Lato"/>
                <a:sym typeface="Lato"/>
              </a:rPr>
              <a:t> summary per resolution (the exact shape blockparty.studio renders).</a:t>
            </a:r>
            <a:endParaRPr sz="1500"/>
          </a:p>
        </p:txBody>
      </p:sp>
      <p:sp>
        <p:nvSpPr>
          <p:cNvPr id="679" name="Google Shape;679;p67"/>
          <p:cNvSpPr/>
          <p:nvPr/>
        </p:nvSpPr>
        <p:spPr>
          <a:xfrm>
            <a:off x="502920" y="3840480"/>
            <a:ext cx="3886200" cy="1920300"/>
          </a:xfrm>
          <a:prstGeom prst="roundRect">
            <a:avLst>
              <a:gd fmla="val 5000" name="adj"/>
            </a:avLst>
          </a:prstGeom>
          <a:solidFill>
            <a:srgbClr val="F1F5FE"/>
          </a:solidFill>
          <a:ln>
            <a:noFill/>
          </a:ln>
        </p:spPr>
        <p:txBody>
          <a:bodyPr anchorCtr="0" anchor="t" bIns="90525" lIns="201150" spcFirstLastPara="1" rIns="201150" wrap="square" tIns="90525">
            <a:noAutofit/>
          </a:bodyPr>
          <a:lstStyle/>
          <a:p>
            <a:pPr indent="0" lvl="0" marL="0" marR="0" rtl="0" algn="l">
              <a:lnSpc>
                <a:spcPct val="100000"/>
              </a:lnSpc>
              <a:spcBef>
                <a:spcPts val="0"/>
              </a:spcBef>
              <a:spcAft>
                <a:spcPts val="0"/>
              </a:spcAft>
              <a:buNone/>
            </a:pPr>
            <a:r>
              <a:rPr b="1" i="0" lang="en" sz="1680" u="none" cap="none" strike="noStrike">
                <a:solidFill>
                  <a:srgbClr val="4285F4"/>
                </a:solidFill>
                <a:latin typeface="Lato"/>
                <a:ea typeface="Lato"/>
                <a:cs typeface="Lato"/>
                <a:sym typeface="Lato"/>
              </a:rPr>
              <a:t>Bigger embeddings</a:t>
            </a:r>
            <a:endParaRPr sz="1500"/>
          </a:p>
          <a:p>
            <a:pPr indent="0" lvl="0" marL="0" marR="0" rtl="0" algn="l">
              <a:lnSpc>
                <a:spcPct val="100000"/>
              </a:lnSpc>
              <a:spcBef>
                <a:spcPts val="0"/>
              </a:spcBef>
              <a:spcAft>
                <a:spcPts val="0"/>
              </a:spcAft>
              <a:buNone/>
            </a:pPr>
            <a:r>
              <a:rPr b="0" i="0" lang="en" sz="1500" u="none" cap="none" strike="noStrike">
                <a:solidFill>
                  <a:srgbClr val="304D80"/>
                </a:solidFill>
                <a:latin typeface="Lato"/>
                <a:ea typeface="Lato"/>
                <a:cs typeface="Lato"/>
                <a:sym typeface="Lato"/>
              </a:rPr>
              <a:t>Chunk vectors upgraded to text-embedding-3-large (3,072 dimensions) for sharper semantic search across boards.</a:t>
            </a:r>
            <a:endParaRPr sz="1500"/>
          </a:p>
        </p:txBody>
      </p:sp>
      <p:sp>
        <p:nvSpPr>
          <p:cNvPr id="680" name="Google Shape;680;p67"/>
          <p:cNvSpPr/>
          <p:nvPr/>
        </p:nvSpPr>
        <p:spPr>
          <a:xfrm>
            <a:off x="4754880" y="3840480"/>
            <a:ext cx="3886200" cy="1920300"/>
          </a:xfrm>
          <a:prstGeom prst="roundRect">
            <a:avLst>
              <a:gd fmla="val 5000" name="adj"/>
            </a:avLst>
          </a:prstGeom>
          <a:solidFill>
            <a:srgbClr val="F1F5FE"/>
          </a:solidFill>
          <a:ln>
            <a:noFill/>
          </a:ln>
        </p:spPr>
        <p:txBody>
          <a:bodyPr anchorCtr="0" anchor="t" bIns="90525" lIns="201150" spcFirstLastPara="1" rIns="201150" wrap="square" tIns="90525">
            <a:noAutofit/>
          </a:bodyPr>
          <a:lstStyle/>
          <a:p>
            <a:pPr indent="0" lvl="0" marL="0" marR="0" rtl="0" algn="l">
              <a:lnSpc>
                <a:spcPct val="100000"/>
              </a:lnSpc>
              <a:spcBef>
                <a:spcPts val="0"/>
              </a:spcBef>
              <a:spcAft>
                <a:spcPts val="0"/>
              </a:spcAft>
              <a:buNone/>
            </a:pPr>
            <a:r>
              <a:rPr b="1" i="0" lang="en" sz="1680" u="none" cap="none" strike="noStrike">
                <a:solidFill>
                  <a:srgbClr val="4285F4"/>
                </a:solidFill>
                <a:latin typeface="Lato"/>
                <a:ea typeface="Lato"/>
                <a:cs typeface="Lato"/>
                <a:sym typeface="Lato"/>
              </a:rPr>
              <a:t>Structured votes</a:t>
            </a:r>
            <a:endParaRPr sz="1500"/>
          </a:p>
          <a:p>
            <a:pPr indent="0" lvl="0" marL="0" marR="0" rtl="0" algn="l">
              <a:lnSpc>
                <a:spcPct val="100000"/>
              </a:lnSpc>
              <a:spcBef>
                <a:spcPts val="0"/>
              </a:spcBef>
              <a:spcAft>
                <a:spcPts val="0"/>
              </a:spcAft>
              <a:buNone/>
            </a:pPr>
            <a:r>
              <a:rPr b="0" i="0" lang="en" sz="1500" u="none" cap="none" strike="noStrike">
                <a:solidFill>
                  <a:srgbClr val="304D80"/>
                </a:solidFill>
                <a:latin typeface="Lato"/>
                <a:ea typeface="Lato"/>
                <a:cs typeface="Lato"/>
                <a:sym typeface="Lato"/>
              </a:rPr>
              <a:t>Yes / no / abstain / present-not-voting counts and outcome, parsed even from prose tallies in letter formats.</a:t>
            </a:r>
            <a:endParaRPr sz="1500"/>
          </a:p>
        </p:txBody>
      </p:sp>
      <p:sp>
        <p:nvSpPr>
          <p:cNvPr id="681" name="Google Shape;681;p67"/>
          <p:cNvSpPr txBox="1"/>
          <p:nvPr/>
        </p:nvSpPr>
        <p:spPr>
          <a:xfrm>
            <a:off x="502920" y="6035040"/>
            <a:ext cx="8138100" cy="297600"/>
          </a:xfrm>
          <a:prstGeom prst="rect">
            <a:avLst/>
          </a:prstGeom>
          <a:noFill/>
          <a:ln>
            <a:noFill/>
          </a:ln>
        </p:spPr>
        <p:txBody>
          <a:bodyPr anchorCtr="0" anchor="t" bIns="24675" lIns="54850" spcFirstLastPara="1" rIns="54850" wrap="square" tIns="24675">
            <a:spAutoFit/>
          </a:bodyPr>
          <a:lstStyle/>
          <a:p>
            <a:pPr indent="0" lvl="0" marL="0" marR="0" rtl="0" algn="l">
              <a:lnSpc>
                <a:spcPct val="100000"/>
              </a:lnSpc>
              <a:spcBef>
                <a:spcPts val="0"/>
              </a:spcBef>
              <a:spcAft>
                <a:spcPts val="0"/>
              </a:spcAft>
              <a:buNone/>
            </a:pPr>
            <a:r>
              <a:rPr b="1" i="0" lang="en" sz="1610" u="none" cap="none" strike="noStrike">
                <a:solidFill>
                  <a:srgbClr val="00BBEA"/>
                </a:solidFill>
                <a:latin typeface="Lato"/>
                <a:ea typeface="Lato"/>
                <a:cs typeface="Lato"/>
                <a:sym typeface="Lato"/>
              </a:rPr>
              <a:t>Summaries + provenance mean a reader can trust the gist and still check the source.</a:t>
            </a:r>
            <a:endParaRPr sz="1500"/>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85" name="Shape 685"/>
        <p:cNvGrpSpPr/>
        <p:nvPr/>
      </p:nvGrpSpPr>
      <p:grpSpPr>
        <a:xfrm>
          <a:off x="0" y="0"/>
          <a:ext cx="0" cy="0"/>
          <a:chOff x="0" y="0"/>
          <a:chExt cx="0" cy="0"/>
        </a:xfrm>
      </p:grpSpPr>
      <p:sp>
        <p:nvSpPr>
          <p:cNvPr id="686" name="Google Shape;686;p68"/>
          <p:cNvSpPr txBox="1"/>
          <p:nvPr/>
        </p:nvSpPr>
        <p:spPr>
          <a:xfrm>
            <a:off x="502920" y="342900"/>
            <a:ext cx="8138100" cy="403800"/>
          </a:xfrm>
          <a:prstGeom prst="rect">
            <a:avLst/>
          </a:prstGeom>
          <a:noFill/>
          <a:ln>
            <a:noFill/>
          </a:ln>
        </p:spPr>
        <p:txBody>
          <a:bodyPr anchorCtr="0" anchor="t" bIns="24675" lIns="54850" spcFirstLastPara="1" rIns="54850" wrap="square" tIns="24675">
            <a:spAutoFit/>
          </a:bodyPr>
          <a:lstStyle/>
          <a:p>
            <a:pPr indent="0" lvl="0" marL="0" marR="0" rtl="0" algn="l">
              <a:lnSpc>
                <a:spcPct val="100000"/>
              </a:lnSpc>
              <a:spcBef>
                <a:spcPts val="0"/>
              </a:spcBef>
              <a:spcAft>
                <a:spcPts val="0"/>
              </a:spcAft>
              <a:buNone/>
            </a:pPr>
            <a:r>
              <a:rPr b="1" i="0" lang="en" sz="2300" u="none" cap="none" strike="noStrike">
                <a:solidFill>
                  <a:srgbClr val="212121"/>
                </a:solidFill>
                <a:latin typeface="Lato"/>
                <a:ea typeface="Lato"/>
                <a:cs typeface="Lato"/>
                <a:sym typeface="Lato"/>
              </a:rPr>
              <a:t>The Plumbing Became Real Infrastructure</a:t>
            </a:r>
            <a:endParaRPr sz="1500"/>
          </a:p>
        </p:txBody>
      </p:sp>
      <p:sp>
        <p:nvSpPr>
          <p:cNvPr id="687" name="Google Shape;687;p68"/>
          <p:cNvSpPr txBox="1"/>
          <p:nvPr/>
        </p:nvSpPr>
        <p:spPr>
          <a:xfrm>
            <a:off x="502920" y="1165860"/>
            <a:ext cx="3886200" cy="2500200"/>
          </a:xfrm>
          <a:prstGeom prst="rect">
            <a:avLst/>
          </a:prstGeom>
          <a:noFill/>
          <a:ln>
            <a:noFill/>
          </a:ln>
        </p:spPr>
        <p:txBody>
          <a:bodyPr anchorCtr="0" anchor="t" bIns="24675" lIns="54850" spcFirstLastPara="1" rIns="54850" wrap="square" tIns="24675">
            <a:spAutoFit/>
          </a:bodyPr>
          <a:lstStyle/>
          <a:p>
            <a:pPr indent="0" lvl="0" marL="0" marR="0" rtl="0" algn="l">
              <a:lnSpc>
                <a:spcPct val="100000"/>
              </a:lnSpc>
              <a:spcBef>
                <a:spcPts val="0"/>
              </a:spcBef>
              <a:spcAft>
                <a:spcPts val="0"/>
              </a:spcAft>
              <a:buNone/>
            </a:pPr>
            <a:r>
              <a:rPr b="1" i="0" lang="en" sz="1760" u="none" cap="none" strike="noStrike">
                <a:solidFill>
                  <a:srgbClr val="4285F4"/>
                </a:solidFill>
                <a:latin typeface="Lato"/>
                <a:ea typeface="Lato"/>
                <a:cs typeface="Lato"/>
                <a:sym typeface="Lato"/>
              </a:rPr>
              <a:t>Storage</a:t>
            </a:r>
            <a:endParaRPr b="1" i="0" sz="1760" u="none" cap="none" strike="noStrike">
              <a:solidFill>
                <a:srgbClr val="4285F4"/>
              </a:solidFill>
              <a:latin typeface="Lato"/>
              <a:ea typeface="Lato"/>
              <a:cs typeface="Lato"/>
              <a:sym typeface="Lato"/>
            </a:endParaRPr>
          </a:p>
          <a:p>
            <a:pPr indent="0" lvl="0" marL="0" marR="0" rtl="0" algn="l">
              <a:lnSpc>
                <a:spcPct val="100000"/>
              </a:lnSpc>
              <a:spcBef>
                <a:spcPts val="0"/>
              </a:spcBef>
              <a:spcAft>
                <a:spcPts val="0"/>
              </a:spcAft>
              <a:buNone/>
            </a:pPr>
            <a:r>
              <a:t/>
            </a:r>
            <a:endParaRPr b="1" sz="1760">
              <a:solidFill>
                <a:srgbClr val="4285F4"/>
              </a:solidFill>
              <a:latin typeface="Lato"/>
              <a:ea typeface="Lato"/>
              <a:cs typeface="Lato"/>
              <a:sym typeface="Lato"/>
            </a:endParaRPr>
          </a:p>
          <a:p>
            <a:pPr indent="0" lvl="0" marL="0" marR="0" rtl="0" algn="l">
              <a:lnSpc>
                <a:spcPct val="100000"/>
              </a:lnSpc>
              <a:spcBef>
                <a:spcPts val="0"/>
              </a:spcBef>
              <a:spcAft>
                <a:spcPts val="0"/>
              </a:spcAft>
              <a:buNone/>
            </a:pPr>
            <a:r>
              <a:rPr b="0" i="0" lang="en" sz="1550" u="none" cap="none" strike="noStrike">
                <a:solidFill>
                  <a:srgbClr val="304D80"/>
                </a:solidFill>
                <a:latin typeface="Lato"/>
                <a:ea typeface="Lato"/>
                <a:cs typeface="Lato"/>
                <a:sym typeface="Lato"/>
              </a:rPr>
              <a:t>·  Supabase Postgres + pgvector is the source of truth</a:t>
            </a:r>
            <a:br>
              <a:rPr b="0" i="0" lang="en" sz="1500" u="none" cap="none" strike="noStrike">
                <a:solidFill>
                  <a:srgbClr val="000000"/>
                </a:solidFill>
                <a:latin typeface="Arial"/>
                <a:ea typeface="Arial"/>
                <a:cs typeface="Arial"/>
                <a:sym typeface="Arial"/>
              </a:rPr>
            </a:br>
            <a:r>
              <a:rPr b="0" i="0" lang="en" sz="1550" u="none" cap="none" strike="noStrike">
                <a:solidFill>
                  <a:srgbClr val="304D80"/>
                </a:solidFill>
                <a:latin typeface="Lato"/>
                <a:ea typeface="Lato"/>
                <a:cs typeface="Lato"/>
                <a:sym typeface="Lato"/>
              </a:rPr>
              <a:t>·  Three tables: meetings, resolutions, text chunks</a:t>
            </a:r>
            <a:br>
              <a:rPr b="0" i="0" lang="en" sz="1500" u="none" cap="none" strike="noStrike">
                <a:solidFill>
                  <a:srgbClr val="000000"/>
                </a:solidFill>
                <a:latin typeface="Arial"/>
                <a:ea typeface="Arial"/>
                <a:cs typeface="Arial"/>
                <a:sym typeface="Arial"/>
              </a:rPr>
            </a:br>
            <a:r>
              <a:rPr b="0" i="0" lang="en" sz="1550" u="none" cap="none" strike="noStrike">
                <a:solidFill>
                  <a:srgbClr val="304D80"/>
                </a:solidFill>
                <a:latin typeface="Lato"/>
                <a:ea typeface="Lato"/>
                <a:cs typeface="Lato"/>
                <a:sym typeface="Lato"/>
              </a:rPr>
              <a:t>·  Schema changes ship as numbered migrations</a:t>
            </a:r>
            <a:br>
              <a:rPr b="0" i="0" lang="en" sz="1500" u="none" cap="none" strike="noStrike">
                <a:solidFill>
                  <a:srgbClr val="000000"/>
                </a:solidFill>
                <a:latin typeface="Arial"/>
                <a:ea typeface="Arial"/>
                <a:cs typeface="Arial"/>
                <a:sym typeface="Arial"/>
              </a:rPr>
            </a:br>
            <a:r>
              <a:rPr b="0" i="0" lang="en" sz="1550" u="none" cap="none" strike="noStrike">
                <a:solidFill>
                  <a:srgbClr val="304D80"/>
                </a:solidFill>
                <a:latin typeface="Lato"/>
                <a:ea typeface="Lato"/>
                <a:cs typeface="Lato"/>
                <a:sym typeface="Lato"/>
              </a:rPr>
              <a:t>·  Re-runs preserve existing record UUIDs, so links never break</a:t>
            </a:r>
            <a:endParaRPr sz="1500"/>
          </a:p>
        </p:txBody>
      </p:sp>
      <p:sp>
        <p:nvSpPr>
          <p:cNvPr id="688" name="Google Shape;688;p68"/>
          <p:cNvSpPr txBox="1"/>
          <p:nvPr/>
        </p:nvSpPr>
        <p:spPr>
          <a:xfrm>
            <a:off x="4754880" y="1165860"/>
            <a:ext cx="3886200" cy="2261700"/>
          </a:xfrm>
          <a:prstGeom prst="rect">
            <a:avLst/>
          </a:prstGeom>
          <a:noFill/>
          <a:ln>
            <a:noFill/>
          </a:ln>
        </p:spPr>
        <p:txBody>
          <a:bodyPr anchorCtr="0" anchor="t" bIns="24675" lIns="54850" spcFirstLastPara="1" rIns="54850" wrap="square" tIns="24675">
            <a:spAutoFit/>
          </a:bodyPr>
          <a:lstStyle/>
          <a:p>
            <a:pPr indent="0" lvl="0" marL="0" marR="0" rtl="0" algn="l">
              <a:lnSpc>
                <a:spcPct val="100000"/>
              </a:lnSpc>
              <a:spcBef>
                <a:spcPts val="0"/>
              </a:spcBef>
              <a:spcAft>
                <a:spcPts val="0"/>
              </a:spcAft>
              <a:buNone/>
            </a:pPr>
            <a:r>
              <a:rPr b="1" i="0" lang="en" sz="1760" u="none" cap="none" strike="noStrike">
                <a:solidFill>
                  <a:srgbClr val="4285F4"/>
                </a:solidFill>
                <a:latin typeface="Lato"/>
                <a:ea typeface="Lato"/>
                <a:cs typeface="Lato"/>
                <a:sym typeface="Lato"/>
              </a:rPr>
              <a:t>Automation</a:t>
            </a:r>
            <a:endParaRPr b="1" i="0" sz="1760" u="none" cap="none" strike="noStrike">
              <a:solidFill>
                <a:srgbClr val="4285F4"/>
              </a:solidFill>
              <a:latin typeface="Lato"/>
              <a:ea typeface="Lato"/>
              <a:cs typeface="Lato"/>
              <a:sym typeface="Lato"/>
            </a:endParaRPr>
          </a:p>
          <a:p>
            <a:pPr indent="0" lvl="0" marL="0" marR="0" rtl="0" algn="l">
              <a:lnSpc>
                <a:spcPct val="100000"/>
              </a:lnSpc>
              <a:spcBef>
                <a:spcPts val="0"/>
              </a:spcBef>
              <a:spcAft>
                <a:spcPts val="0"/>
              </a:spcAft>
              <a:buNone/>
            </a:pPr>
            <a:r>
              <a:t/>
            </a:r>
            <a:endParaRPr b="1" sz="1760">
              <a:solidFill>
                <a:srgbClr val="4285F4"/>
              </a:solidFill>
              <a:latin typeface="Lato"/>
              <a:ea typeface="Lato"/>
              <a:cs typeface="Lato"/>
              <a:sym typeface="Lato"/>
            </a:endParaRPr>
          </a:p>
          <a:p>
            <a:pPr indent="0" lvl="0" marL="0" marR="0" rtl="0" algn="l">
              <a:lnSpc>
                <a:spcPct val="100000"/>
              </a:lnSpc>
              <a:spcBef>
                <a:spcPts val="0"/>
              </a:spcBef>
              <a:spcAft>
                <a:spcPts val="0"/>
              </a:spcAft>
              <a:buNone/>
            </a:pPr>
            <a:r>
              <a:rPr b="0" i="0" lang="en" sz="1550" u="none" cap="none" strike="noStrike">
                <a:solidFill>
                  <a:srgbClr val="304D80"/>
                </a:solidFill>
                <a:latin typeface="Lato"/>
                <a:ea typeface="Lato"/>
                <a:cs typeface="Lato"/>
                <a:sym typeface="Lato"/>
              </a:rPr>
              <a:t>·  Weekly GitHub Actions cron: discover → extract → audit → export → commit</a:t>
            </a:r>
            <a:br>
              <a:rPr b="0" i="0" lang="en" sz="1500" u="none" cap="none" strike="noStrike">
                <a:solidFill>
                  <a:srgbClr val="000000"/>
                </a:solidFill>
                <a:latin typeface="Arial"/>
                <a:ea typeface="Arial"/>
                <a:cs typeface="Arial"/>
                <a:sym typeface="Arial"/>
              </a:rPr>
            </a:br>
            <a:r>
              <a:rPr b="0" i="0" lang="en" sz="1550" u="none" cap="none" strike="noStrike">
                <a:solidFill>
                  <a:srgbClr val="304D80"/>
                </a:solidFill>
                <a:latin typeface="Lato"/>
                <a:ea typeface="Lato"/>
                <a:cs typeface="Lato"/>
                <a:sym typeface="Lato"/>
              </a:rPr>
              <a:t>·  Dry-run mode for safe rehearsal</a:t>
            </a:r>
            <a:br>
              <a:rPr b="0" i="0" lang="en" sz="1500" u="none" cap="none" strike="noStrike">
                <a:solidFill>
                  <a:srgbClr val="000000"/>
                </a:solidFill>
                <a:latin typeface="Arial"/>
                <a:ea typeface="Arial"/>
                <a:cs typeface="Arial"/>
                <a:sym typeface="Arial"/>
              </a:rPr>
            </a:br>
            <a:r>
              <a:rPr b="0" i="0" lang="en" sz="1550" u="none" cap="none" strike="noStrike">
                <a:solidFill>
                  <a:srgbClr val="304D80"/>
                </a:solidFill>
                <a:latin typeface="Lato"/>
                <a:ea typeface="Lato"/>
                <a:cs typeface="Lato"/>
                <a:sym typeface="Lato"/>
              </a:rPr>
              <a:t>·  Content-addressed PDF cache makes re-extraction cheap</a:t>
            </a:r>
            <a:br>
              <a:rPr b="0" i="0" lang="en" sz="1500" u="none" cap="none" strike="noStrike">
                <a:solidFill>
                  <a:srgbClr val="000000"/>
                </a:solidFill>
                <a:latin typeface="Arial"/>
                <a:ea typeface="Arial"/>
                <a:cs typeface="Arial"/>
                <a:sym typeface="Arial"/>
              </a:rPr>
            </a:br>
            <a:r>
              <a:rPr b="0" i="0" lang="en" sz="1550" u="none" cap="none" strike="noStrike">
                <a:solidFill>
                  <a:srgbClr val="304D80"/>
                </a:solidFill>
                <a:latin typeface="Lato"/>
                <a:ea typeface="Lato"/>
                <a:cs typeface="Lato"/>
                <a:sym typeface="Lato"/>
              </a:rPr>
              <a:t>·  Audit + report commands catch regressions between runs</a:t>
            </a:r>
            <a:endParaRPr sz="1500"/>
          </a:p>
        </p:txBody>
      </p:sp>
      <p:sp>
        <p:nvSpPr>
          <p:cNvPr id="689" name="Google Shape;689;p68"/>
          <p:cNvSpPr/>
          <p:nvPr/>
        </p:nvSpPr>
        <p:spPr>
          <a:xfrm>
            <a:off x="502920" y="4389120"/>
            <a:ext cx="8138100" cy="1645800"/>
          </a:xfrm>
          <a:prstGeom prst="roundRect">
            <a:avLst>
              <a:gd fmla="val 5000" name="adj"/>
            </a:avLst>
          </a:prstGeom>
          <a:solidFill>
            <a:srgbClr val="F1F5FE"/>
          </a:solidFill>
          <a:ln>
            <a:noFill/>
          </a:ln>
        </p:spPr>
        <p:txBody>
          <a:bodyPr anchorCtr="0" anchor="t" bIns="90525" lIns="201150" spcFirstLastPara="1" rIns="201150" wrap="square" tIns="90525">
            <a:noAutofit/>
          </a:bodyPr>
          <a:lstStyle/>
          <a:p>
            <a:pPr indent="0" lvl="0" marL="0" marR="0" rtl="0" algn="l">
              <a:lnSpc>
                <a:spcPct val="100000"/>
              </a:lnSpc>
              <a:spcBef>
                <a:spcPts val="0"/>
              </a:spcBef>
              <a:spcAft>
                <a:spcPts val="0"/>
              </a:spcAft>
              <a:buNone/>
            </a:pPr>
            <a:r>
              <a:rPr b="1" i="0" lang="en" sz="1600" u="none" cap="none" strike="noStrike">
                <a:solidFill>
                  <a:srgbClr val="212121"/>
                </a:solidFill>
                <a:latin typeface="Lato"/>
                <a:ea typeface="Lato"/>
                <a:cs typeface="Lato"/>
                <a:sym typeface="Lato"/>
              </a:rPr>
              <a:t>Battle scars included:</a:t>
            </a:r>
            <a:r>
              <a:rPr b="0" i="0" lang="en" sz="1600" u="none" cap="none" strike="noStrike">
                <a:solidFill>
                  <a:srgbClr val="304D80"/>
                </a:solidFill>
                <a:latin typeface="Lato"/>
                <a:ea typeface="Lato"/>
                <a:cs typeface="Lato"/>
                <a:sym typeface="Lato"/>
              </a:rPr>
              <a:t> the cron shook out real-world bugs: nyc.gov blocking bot user-agents, token-limit truncation on 19-resolution meetings, streaming requirements on long extractions. Each fix is now a regression test.</a:t>
            </a:r>
            <a:endParaRPr sz="1500"/>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93" name="Shape 693"/>
        <p:cNvGrpSpPr/>
        <p:nvPr/>
      </p:nvGrpSpPr>
      <p:grpSpPr>
        <a:xfrm>
          <a:off x="0" y="0"/>
          <a:ext cx="0" cy="0"/>
          <a:chOff x="0" y="0"/>
          <a:chExt cx="0" cy="0"/>
        </a:xfrm>
      </p:grpSpPr>
      <p:sp>
        <p:nvSpPr>
          <p:cNvPr id="694" name="Google Shape;694;p69"/>
          <p:cNvSpPr txBox="1"/>
          <p:nvPr/>
        </p:nvSpPr>
        <p:spPr>
          <a:xfrm>
            <a:off x="502920" y="342900"/>
            <a:ext cx="8138100" cy="403800"/>
          </a:xfrm>
          <a:prstGeom prst="rect">
            <a:avLst/>
          </a:prstGeom>
          <a:noFill/>
          <a:ln>
            <a:noFill/>
          </a:ln>
        </p:spPr>
        <p:txBody>
          <a:bodyPr anchorCtr="0" anchor="t" bIns="24675" lIns="54850" spcFirstLastPara="1" rIns="54850" wrap="square" tIns="24675">
            <a:spAutoFit/>
          </a:bodyPr>
          <a:lstStyle/>
          <a:p>
            <a:pPr indent="0" lvl="0" marL="0" marR="0" rtl="0" algn="l">
              <a:lnSpc>
                <a:spcPct val="100000"/>
              </a:lnSpc>
              <a:spcBef>
                <a:spcPts val="0"/>
              </a:spcBef>
              <a:spcAft>
                <a:spcPts val="0"/>
              </a:spcAft>
              <a:buNone/>
            </a:pPr>
            <a:r>
              <a:rPr b="1" i="0" lang="en" sz="2300" u="none" cap="none" strike="noStrike">
                <a:solidFill>
                  <a:srgbClr val="212121"/>
                </a:solidFill>
                <a:latin typeface="Lato"/>
                <a:ea typeface="Lato"/>
                <a:cs typeface="Lato"/>
                <a:sym typeface="Lato"/>
              </a:rPr>
              <a:t>The Corpus Today</a:t>
            </a:r>
            <a:endParaRPr sz="1500"/>
          </a:p>
        </p:txBody>
      </p:sp>
      <p:sp>
        <p:nvSpPr>
          <p:cNvPr id="695" name="Google Shape;695;p69"/>
          <p:cNvSpPr txBox="1"/>
          <p:nvPr/>
        </p:nvSpPr>
        <p:spPr>
          <a:xfrm>
            <a:off x="502920" y="1097280"/>
            <a:ext cx="1874400" cy="867300"/>
          </a:xfrm>
          <a:prstGeom prst="rect">
            <a:avLst/>
          </a:prstGeom>
          <a:noFill/>
          <a:ln>
            <a:noFill/>
          </a:ln>
        </p:spPr>
        <p:txBody>
          <a:bodyPr anchorCtr="0" anchor="t" bIns="24675" lIns="54850" spcFirstLastPara="1" rIns="54850" wrap="square" tIns="24675">
            <a:spAutoFit/>
          </a:bodyPr>
          <a:lstStyle/>
          <a:p>
            <a:pPr indent="0" lvl="0" marL="0" marR="0" rtl="0" algn="ctr">
              <a:lnSpc>
                <a:spcPct val="100000"/>
              </a:lnSpc>
              <a:spcBef>
                <a:spcPts val="0"/>
              </a:spcBef>
              <a:spcAft>
                <a:spcPts val="0"/>
              </a:spcAft>
              <a:buNone/>
            </a:pPr>
            <a:r>
              <a:rPr b="0" i="0" lang="en" sz="3840" u="none" cap="none" strike="noStrike">
                <a:solidFill>
                  <a:srgbClr val="4285F4"/>
                </a:solidFill>
                <a:latin typeface="Lato"/>
                <a:ea typeface="Lato"/>
                <a:cs typeface="Lato"/>
                <a:sym typeface="Lato"/>
              </a:rPr>
              <a:t>7</a:t>
            </a:r>
            <a:br>
              <a:rPr b="0" i="0" lang="en" sz="1500" u="none" cap="none" strike="noStrike">
                <a:solidFill>
                  <a:srgbClr val="000000"/>
                </a:solidFill>
                <a:latin typeface="Arial"/>
                <a:ea typeface="Arial"/>
                <a:cs typeface="Arial"/>
                <a:sym typeface="Arial"/>
              </a:rPr>
            </a:br>
            <a:r>
              <a:rPr b="0" i="0" lang="en" sz="1470" u="none" cap="none" strike="noStrike">
                <a:solidFill>
                  <a:srgbClr val="757575"/>
                </a:solidFill>
                <a:latin typeface="Lato"/>
                <a:ea typeface="Lato"/>
                <a:cs typeface="Lato"/>
                <a:sym typeface="Lato"/>
              </a:rPr>
              <a:t>boards extracted</a:t>
            </a:r>
            <a:endParaRPr sz="1500"/>
          </a:p>
        </p:txBody>
      </p:sp>
      <p:sp>
        <p:nvSpPr>
          <p:cNvPr id="696" name="Google Shape;696;p69"/>
          <p:cNvSpPr txBox="1"/>
          <p:nvPr/>
        </p:nvSpPr>
        <p:spPr>
          <a:xfrm>
            <a:off x="2560320" y="1097280"/>
            <a:ext cx="2011800" cy="867300"/>
          </a:xfrm>
          <a:prstGeom prst="rect">
            <a:avLst/>
          </a:prstGeom>
          <a:noFill/>
          <a:ln>
            <a:noFill/>
          </a:ln>
        </p:spPr>
        <p:txBody>
          <a:bodyPr anchorCtr="0" anchor="t" bIns="24675" lIns="54850" spcFirstLastPara="1" rIns="54850" wrap="square" tIns="24675">
            <a:spAutoFit/>
          </a:bodyPr>
          <a:lstStyle/>
          <a:p>
            <a:pPr indent="0" lvl="0" marL="0" marR="0" rtl="0" algn="ctr">
              <a:lnSpc>
                <a:spcPct val="100000"/>
              </a:lnSpc>
              <a:spcBef>
                <a:spcPts val="0"/>
              </a:spcBef>
              <a:spcAft>
                <a:spcPts val="0"/>
              </a:spcAft>
              <a:buNone/>
            </a:pPr>
            <a:r>
              <a:rPr b="0" i="0" lang="en" sz="3840" u="none" cap="none" strike="noStrike">
                <a:solidFill>
                  <a:srgbClr val="4285F4"/>
                </a:solidFill>
                <a:latin typeface="Lato"/>
                <a:ea typeface="Lato"/>
                <a:cs typeface="Lato"/>
                <a:sym typeface="Lato"/>
              </a:rPr>
              <a:t>20,287</a:t>
            </a:r>
            <a:br>
              <a:rPr b="0" i="0" lang="en" sz="1500" u="none" cap="none" strike="noStrike">
                <a:solidFill>
                  <a:srgbClr val="000000"/>
                </a:solidFill>
                <a:latin typeface="Arial"/>
                <a:ea typeface="Arial"/>
                <a:cs typeface="Arial"/>
                <a:sym typeface="Arial"/>
              </a:rPr>
            </a:br>
            <a:r>
              <a:rPr b="0" i="0" lang="en" sz="1470" u="none" cap="none" strike="noStrike">
                <a:solidFill>
                  <a:srgbClr val="757575"/>
                </a:solidFill>
                <a:latin typeface="Lato"/>
                <a:ea typeface="Lato"/>
                <a:cs typeface="Lato"/>
                <a:sym typeface="Lato"/>
              </a:rPr>
              <a:t>resolutions</a:t>
            </a:r>
            <a:endParaRPr sz="1500"/>
          </a:p>
        </p:txBody>
      </p:sp>
      <p:sp>
        <p:nvSpPr>
          <p:cNvPr id="697" name="Google Shape;697;p69"/>
          <p:cNvSpPr txBox="1"/>
          <p:nvPr/>
        </p:nvSpPr>
        <p:spPr>
          <a:xfrm>
            <a:off x="4754880" y="1097280"/>
            <a:ext cx="1874400" cy="867300"/>
          </a:xfrm>
          <a:prstGeom prst="rect">
            <a:avLst/>
          </a:prstGeom>
          <a:noFill/>
          <a:ln>
            <a:noFill/>
          </a:ln>
        </p:spPr>
        <p:txBody>
          <a:bodyPr anchorCtr="0" anchor="t" bIns="24675" lIns="54850" spcFirstLastPara="1" rIns="54850" wrap="square" tIns="24675">
            <a:spAutoFit/>
          </a:bodyPr>
          <a:lstStyle/>
          <a:p>
            <a:pPr indent="0" lvl="0" marL="0" marR="0" rtl="0" algn="ctr">
              <a:lnSpc>
                <a:spcPct val="100000"/>
              </a:lnSpc>
              <a:spcBef>
                <a:spcPts val="0"/>
              </a:spcBef>
              <a:spcAft>
                <a:spcPts val="0"/>
              </a:spcAft>
              <a:buNone/>
            </a:pPr>
            <a:r>
              <a:rPr b="0" i="0" lang="en" sz="3840" u="none" cap="none" strike="noStrike">
                <a:solidFill>
                  <a:srgbClr val="4285F4"/>
                </a:solidFill>
                <a:latin typeface="Lato"/>
                <a:ea typeface="Lato"/>
                <a:cs typeface="Lato"/>
                <a:sym typeface="Lato"/>
              </a:rPr>
              <a:t>1,794</a:t>
            </a:r>
            <a:br>
              <a:rPr b="0" i="0" lang="en" sz="1500" u="none" cap="none" strike="noStrike">
                <a:solidFill>
                  <a:srgbClr val="000000"/>
                </a:solidFill>
                <a:latin typeface="Arial"/>
                <a:ea typeface="Arial"/>
                <a:cs typeface="Arial"/>
                <a:sym typeface="Arial"/>
              </a:rPr>
            </a:br>
            <a:r>
              <a:rPr b="0" i="0" lang="en" sz="1470" u="none" cap="none" strike="noStrike">
                <a:solidFill>
                  <a:srgbClr val="757575"/>
                </a:solidFill>
                <a:latin typeface="Lato"/>
                <a:ea typeface="Lato"/>
                <a:cs typeface="Lato"/>
                <a:sym typeface="Lato"/>
              </a:rPr>
              <a:t>board meetings</a:t>
            </a:r>
            <a:endParaRPr sz="1500"/>
          </a:p>
        </p:txBody>
      </p:sp>
      <p:sp>
        <p:nvSpPr>
          <p:cNvPr id="698" name="Google Shape;698;p69"/>
          <p:cNvSpPr txBox="1"/>
          <p:nvPr/>
        </p:nvSpPr>
        <p:spPr>
          <a:xfrm>
            <a:off x="6766560" y="1097280"/>
            <a:ext cx="1874400" cy="867300"/>
          </a:xfrm>
          <a:prstGeom prst="rect">
            <a:avLst/>
          </a:prstGeom>
          <a:noFill/>
          <a:ln>
            <a:noFill/>
          </a:ln>
        </p:spPr>
        <p:txBody>
          <a:bodyPr anchorCtr="0" anchor="t" bIns="24675" lIns="54850" spcFirstLastPara="1" rIns="54850" wrap="square" tIns="24675">
            <a:spAutoFit/>
          </a:bodyPr>
          <a:lstStyle/>
          <a:p>
            <a:pPr indent="0" lvl="0" marL="0" marR="0" rtl="0" algn="ctr">
              <a:lnSpc>
                <a:spcPct val="100000"/>
              </a:lnSpc>
              <a:spcBef>
                <a:spcPts val="0"/>
              </a:spcBef>
              <a:spcAft>
                <a:spcPts val="0"/>
              </a:spcAft>
              <a:buNone/>
            </a:pPr>
            <a:r>
              <a:rPr b="0" i="0" lang="en" sz="3840" u="none" cap="none" strike="noStrike">
                <a:solidFill>
                  <a:srgbClr val="4285F4"/>
                </a:solidFill>
                <a:latin typeface="Lato"/>
                <a:ea typeface="Lato"/>
                <a:cs typeface="Lato"/>
                <a:sym typeface="Lato"/>
              </a:rPr>
              <a:t>66,523</a:t>
            </a:r>
            <a:br>
              <a:rPr b="0" i="0" lang="en" sz="1500" u="none" cap="none" strike="noStrike">
                <a:solidFill>
                  <a:srgbClr val="000000"/>
                </a:solidFill>
                <a:latin typeface="Arial"/>
                <a:ea typeface="Arial"/>
                <a:cs typeface="Arial"/>
                <a:sym typeface="Arial"/>
              </a:rPr>
            </a:br>
            <a:r>
              <a:rPr b="0" i="0" lang="en" sz="1470" u="none" cap="none" strike="noStrike">
                <a:solidFill>
                  <a:srgbClr val="757575"/>
                </a:solidFill>
                <a:latin typeface="Lato"/>
                <a:ea typeface="Lato"/>
                <a:cs typeface="Lato"/>
                <a:sym typeface="Lato"/>
              </a:rPr>
              <a:t>text chunks</a:t>
            </a:r>
            <a:endParaRPr sz="1500"/>
          </a:p>
        </p:txBody>
      </p:sp>
      <p:sp>
        <p:nvSpPr>
          <p:cNvPr id="699" name="Google Shape;699;p69"/>
          <p:cNvSpPr txBox="1"/>
          <p:nvPr/>
        </p:nvSpPr>
        <p:spPr>
          <a:xfrm>
            <a:off x="502920" y="2537460"/>
            <a:ext cx="8138100" cy="1719900"/>
          </a:xfrm>
          <a:prstGeom prst="rect">
            <a:avLst/>
          </a:prstGeom>
          <a:noFill/>
          <a:ln>
            <a:noFill/>
          </a:ln>
        </p:spPr>
        <p:txBody>
          <a:bodyPr anchorCtr="0" anchor="t" bIns="24675" lIns="54850" spcFirstLastPara="1" rIns="54850" wrap="square" tIns="24675">
            <a:spAutoFit/>
          </a:bodyPr>
          <a:lstStyle/>
          <a:p>
            <a:pPr indent="0" lvl="0" marL="0" marR="0" rtl="0" algn="l">
              <a:lnSpc>
                <a:spcPct val="100000"/>
              </a:lnSpc>
              <a:spcBef>
                <a:spcPts val="0"/>
              </a:spcBef>
              <a:spcAft>
                <a:spcPts val="0"/>
              </a:spcAft>
              <a:buNone/>
            </a:pPr>
            <a:r>
              <a:rPr b="1" i="0" lang="en" sz="1550" u="none" cap="none" strike="noStrike">
                <a:solidFill>
                  <a:srgbClr val="212121"/>
                </a:solidFill>
                <a:latin typeface="Lato"/>
                <a:ea typeface="Lato"/>
                <a:cs typeface="Lato"/>
                <a:sym typeface="Lato"/>
              </a:rPr>
              <a:t>MCB3  </a:t>
            </a:r>
            <a:r>
              <a:rPr b="0" i="0" lang="en" sz="1550" u="none" cap="none" strike="noStrike">
                <a:solidFill>
                  <a:srgbClr val="304D80"/>
                </a:solidFill>
                <a:latin typeface="Lato"/>
                <a:ea typeface="Lato"/>
                <a:cs typeface="Lato"/>
                <a:sym typeface="Lato"/>
              </a:rPr>
              <a:t>6,347 resolutions · 2004–2026 · nyc.gov minutes</a:t>
            </a:r>
            <a:endParaRPr sz="1500"/>
          </a:p>
          <a:p>
            <a:pPr indent="0" lvl="0" marL="0" marR="0" rtl="0" algn="l">
              <a:lnSpc>
                <a:spcPct val="100000"/>
              </a:lnSpc>
              <a:spcBef>
                <a:spcPts val="0"/>
              </a:spcBef>
              <a:spcAft>
                <a:spcPts val="0"/>
              </a:spcAft>
              <a:buNone/>
            </a:pPr>
            <a:r>
              <a:rPr b="1" i="0" lang="en" sz="1550" u="none" cap="none" strike="noStrike">
                <a:solidFill>
                  <a:srgbClr val="212121"/>
                </a:solidFill>
                <a:latin typeface="Lato"/>
                <a:ea typeface="Lato"/>
                <a:cs typeface="Lato"/>
                <a:sym typeface="Lato"/>
              </a:rPr>
              <a:t>MCB4  </a:t>
            </a:r>
            <a:r>
              <a:rPr b="0" i="0" lang="en" sz="1550" u="none" cap="none" strike="noStrike">
                <a:solidFill>
                  <a:srgbClr val="304D80"/>
                </a:solidFill>
                <a:latin typeface="Lato"/>
                <a:ea typeface="Lato"/>
                <a:cs typeface="Lato"/>
                <a:sym typeface="Lato"/>
              </a:rPr>
              <a:t>4,775 resolutions · 1997–2026 · board letter archives, the deepest history in the corpus</a:t>
            </a:r>
            <a:endParaRPr sz="1500"/>
          </a:p>
          <a:p>
            <a:pPr indent="0" lvl="0" marL="0" marR="0" rtl="0" algn="l">
              <a:lnSpc>
                <a:spcPct val="100000"/>
              </a:lnSpc>
              <a:spcBef>
                <a:spcPts val="0"/>
              </a:spcBef>
              <a:spcAft>
                <a:spcPts val="0"/>
              </a:spcAft>
              <a:buNone/>
            </a:pPr>
            <a:r>
              <a:rPr b="1" i="0" lang="en" sz="1550" u="none" cap="none" strike="noStrike">
                <a:solidFill>
                  <a:srgbClr val="212121"/>
                </a:solidFill>
                <a:latin typeface="Lato"/>
                <a:ea typeface="Lato"/>
                <a:cs typeface="Lato"/>
                <a:sym typeface="Lato"/>
              </a:rPr>
              <a:t>MCB2  </a:t>
            </a:r>
            <a:r>
              <a:rPr b="0" i="0" lang="en" sz="1550" u="none" cap="none" strike="noStrike">
                <a:solidFill>
                  <a:srgbClr val="304D80"/>
                </a:solidFill>
                <a:latin typeface="Lato"/>
                <a:ea typeface="Lato"/>
                <a:cs typeface="Lato"/>
                <a:sym typeface="Lato"/>
              </a:rPr>
              <a:t>3,937 resolutions · 2013–2026 · one PDF per resolution</a:t>
            </a:r>
            <a:endParaRPr sz="1500"/>
          </a:p>
          <a:p>
            <a:pPr indent="0" lvl="0" marL="0" marR="0" rtl="0" algn="l">
              <a:lnSpc>
                <a:spcPct val="100000"/>
              </a:lnSpc>
              <a:spcBef>
                <a:spcPts val="0"/>
              </a:spcBef>
              <a:spcAft>
                <a:spcPts val="0"/>
              </a:spcAft>
              <a:buNone/>
            </a:pPr>
            <a:r>
              <a:rPr b="1" i="0" lang="en" sz="1550" u="none" cap="none" strike="noStrike">
                <a:solidFill>
                  <a:srgbClr val="212121"/>
                </a:solidFill>
                <a:latin typeface="Lato"/>
                <a:ea typeface="Lato"/>
                <a:cs typeface="Lato"/>
                <a:sym typeface="Lato"/>
              </a:rPr>
              <a:t>MCB7  </a:t>
            </a:r>
            <a:r>
              <a:rPr b="0" i="0" lang="en" sz="1550" u="none" cap="none" strike="noStrike">
                <a:solidFill>
                  <a:srgbClr val="304D80"/>
                </a:solidFill>
                <a:latin typeface="Lato"/>
                <a:ea typeface="Lato"/>
                <a:cs typeface="Lato"/>
                <a:sym typeface="Lato"/>
              </a:rPr>
              <a:t>3,504 resolutions · 2000–2026 · Google Drive archive</a:t>
            </a:r>
            <a:endParaRPr sz="1500"/>
          </a:p>
          <a:p>
            <a:pPr indent="0" lvl="0" marL="0" marR="0" rtl="0" algn="l">
              <a:lnSpc>
                <a:spcPct val="100000"/>
              </a:lnSpc>
              <a:spcBef>
                <a:spcPts val="0"/>
              </a:spcBef>
              <a:spcAft>
                <a:spcPts val="0"/>
              </a:spcAft>
              <a:buNone/>
            </a:pPr>
            <a:r>
              <a:rPr b="1" i="0" lang="en" sz="1550" u="none" cap="none" strike="noStrike">
                <a:solidFill>
                  <a:srgbClr val="212121"/>
                </a:solidFill>
                <a:latin typeface="Lato"/>
                <a:ea typeface="Lato"/>
                <a:cs typeface="Lato"/>
                <a:sym typeface="Lato"/>
              </a:rPr>
              <a:t>MCB8  </a:t>
            </a:r>
            <a:r>
              <a:rPr b="0" i="0" lang="en" sz="1550" u="none" cap="none" strike="noStrike">
                <a:solidFill>
                  <a:srgbClr val="304D80"/>
                </a:solidFill>
                <a:latin typeface="Lato"/>
                <a:ea typeface="Lato"/>
                <a:cs typeface="Lato"/>
                <a:sym typeface="Lato"/>
              </a:rPr>
              <a:t>1,527 resolutions · 2010–2026 · via Internet Archive</a:t>
            </a:r>
            <a:endParaRPr sz="1500"/>
          </a:p>
          <a:p>
            <a:pPr indent="0" lvl="0" marL="0" marR="0" rtl="0" algn="l">
              <a:lnSpc>
                <a:spcPct val="100000"/>
              </a:lnSpc>
              <a:spcBef>
                <a:spcPts val="0"/>
              </a:spcBef>
              <a:spcAft>
                <a:spcPts val="0"/>
              </a:spcAft>
              <a:buNone/>
            </a:pPr>
            <a:r>
              <a:rPr b="1" i="0" lang="en" sz="1550" u="none" cap="none" strike="noStrike">
                <a:solidFill>
                  <a:srgbClr val="212121"/>
                </a:solidFill>
                <a:latin typeface="Lato"/>
                <a:ea typeface="Lato"/>
                <a:cs typeface="Lato"/>
                <a:sym typeface="Lato"/>
              </a:rPr>
              <a:t>MCB10 + MCB5  </a:t>
            </a:r>
            <a:r>
              <a:rPr b="0" i="0" lang="en" sz="1550" u="none" cap="none" strike="noStrike">
                <a:solidFill>
                  <a:srgbClr val="304D80"/>
                </a:solidFill>
                <a:latin typeface="Lato"/>
                <a:ea typeface="Lato"/>
                <a:cs typeface="Lato"/>
                <a:sym typeface="Lato"/>
              </a:rPr>
              <a:t>197 resolutions · smaller archives; MCB5 partial behind Cloudflare</a:t>
            </a:r>
            <a:endParaRPr sz="1500"/>
          </a:p>
        </p:txBody>
      </p:sp>
      <p:sp>
        <p:nvSpPr>
          <p:cNvPr id="700" name="Google Shape;700;p69"/>
          <p:cNvSpPr txBox="1"/>
          <p:nvPr/>
        </p:nvSpPr>
        <p:spPr>
          <a:xfrm>
            <a:off x="502920" y="6035040"/>
            <a:ext cx="8138100" cy="557700"/>
          </a:xfrm>
          <a:prstGeom prst="rect">
            <a:avLst/>
          </a:prstGeom>
          <a:noFill/>
          <a:ln>
            <a:noFill/>
          </a:ln>
        </p:spPr>
        <p:txBody>
          <a:bodyPr anchorCtr="0" anchor="t" bIns="24675" lIns="54850" spcFirstLastPara="1" rIns="54850" wrap="square" tIns="24675">
            <a:spAutoFit/>
          </a:bodyPr>
          <a:lstStyle/>
          <a:p>
            <a:pPr indent="0" lvl="0" marL="0" marR="0" rtl="0" algn="l">
              <a:lnSpc>
                <a:spcPct val="100000"/>
              </a:lnSpc>
              <a:spcBef>
                <a:spcPts val="0"/>
              </a:spcBef>
              <a:spcAft>
                <a:spcPts val="0"/>
              </a:spcAft>
              <a:buNone/>
            </a:pPr>
            <a:r>
              <a:rPr b="1" i="0" lang="en" sz="1650" u="none" cap="none" strike="noStrike">
                <a:solidFill>
                  <a:srgbClr val="00BBEA"/>
                </a:solidFill>
                <a:latin typeface="Lato"/>
                <a:ea typeface="Lato"/>
                <a:cs typeface="Lato"/>
                <a:sym typeface="Lato"/>
              </a:rPr>
              <a:t>March: one board, 6,511 resolutions. July: seven boards, 20,287, a 3× corpus in three months.</a:t>
            </a:r>
            <a:endParaRPr sz="1500"/>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04" name="Shape 704"/>
        <p:cNvGrpSpPr/>
        <p:nvPr/>
      </p:nvGrpSpPr>
      <p:grpSpPr>
        <a:xfrm>
          <a:off x="0" y="0"/>
          <a:ext cx="0" cy="0"/>
          <a:chOff x="0" y="0"/>
          <a:chExt cx="0" cy="0"/>
        </a:xfrm>
      </p:grpSpPr>
      <p:sp>
        <p:nvSpPr>
          <p:cNvPr id="705" name="Google Shape;705;p70"/>
          <p:cNvSpPr txBox="1"/>
          <p:nvPr/>
        </p:nvSpPr>
        <p:spPr>
          <a:xfrm>
            <a:off x="502920" y="342900"/>
            <a:ext cx="8138100" cy="403800"/>
          </a:xfrm>
          <a:prstGeom prst="rect">
            <a:avLst/>
          </a:prstGeom>
          <a:noFill/>
          <a:ln>
            <a:noFill/>
          </a:ln>
        </p:spPr>
        <p:txBody>
          <a:bodyPr anchorCtr="0" anchor="t" bIns="24675" lIns="54850" spcFirstLastPara="1" rIns="54850" wrap="square" tIns="24675">
            <a:spAutoFit/>
          </a:bodyPr>
          <a:lstStyle/>
          <a:p>
            <a:pPr indent="0" lvl="0" marL="0" marR="0" rtl="0" algn="l">
              <a:lnSpc>
                <a:spcPct val="100000"/>
              </a:lnSpc>
              <a:spcBef>
                <a:spcPts val="0"/>
              </a:spcBef>
              <a:spcAft>
                <a:spcPts val="0"/>
              </a:spcAft>
              <a:buNone/>
            </a:pPr>
            <a:r>
              <a:rPr b="1" i="0" lang="en" sz="2300" u="none" cap="none" strike="noStrike">
                <a:solidFill>
                  <a:srgbClr val="212121"/>
                </a:solidFill>
                <a:latin typeface="Lato"/>
                <a:ea typeface="Lato"/>
                <a:cs typeface="Lato"/>
                <a:sym typeface="Lato"/>
              </a:rPr>
              <a:t>Manhattan, Board by Board: the Honest Status</a:t>
            </a:r>
            <a:endParaRPr sz="1500"/>
          </a:p>
        </p:txBody>
      </p:sp>
      <p:sp>
        <p:nvSpPr>
          <p:cNvPr id="706" name="Google Shape;706;p70"/>
          <p:cNvSpPr/>
          <p:nvPr/>
        </p:nvSpPr>
        <p:spPr>
          <a:xfrm>
            <a:off x="502920" y="1097280"/>
            <a:ext cx="3931800" cy="2331600"/>
          </a:xfrm>
          <a:prstGeom prst="roundRect">
            <a:avLst>
              <a:gd fmla="val 5000" name="adj"/>
            </a:avLst>
          </a:prstGeom>
          <a:solidFill>
            <a:srgbClr val="F0FBF4"/>
          </a:solidFill>
          <a:ln>
            <a:noFill/>
          </a:ln>
        </p:spPr>
        <p:txBody>
          <a:bodyPr anchorCtr="0" anchor="t" bIns="82275" lIns="182875" spcFirstLastPara="1" rIns="182875" wrap="square" tIns="82275">
            <a:noAutofit/>
          </a:bodyPr>
          <a:lstStyle/>
          <a:p>
            <a:pPr indent="0" lvl="0" marL="0" marR="0" rtl="0" algn="l">
              <a:lnSpc>
                <a:spcPct val="100000"/>
              </a:lnSpc>
              <a:spcBef>
                <a:spcPts val="0"/>
              </a:spcBef>
              <a:spcAft>
                <a:spcPts val="0"/>
              </a:spcAft>
              <a:buNone/>
            </a:pPr>
            <a:r>
              <a:rPr b="1" i="0" lang="en" sz="1650" u="none" cap="none" strike="noStrike">
                <a:solidFill>
                  <a:srgbClr val="38761D"/>
                </a:solidFill>
                <a:latin typeface="Lato"/>
                <a:ea typeface="Lato"/>
                <a:cs typeface="Lato"/>
                <a:sym typeface="Lato"/>
              </a:rPr>
              <a:t>✅  Extracted (7)</a:t>
            </a:r>
            <a:endParaRPr sz="1500"/>
          </a:p>
          <a:p>
            <a:pPr indent="0" lvl="0" marL="0" marR="0" rtl="0" algn="l">
              <a:lnSpc>
                <a:spcPct val="100000"/>
              </a:lnSpc>
              <a:spcBef>
                <a:spcPts val="0"/>
              </a:spcBef>
              <a:spcAft>
                <a:spcPts val="0"/>
              </a:spcAft>
              <a:buNone/>
            </a:pPr>
            <a:r>
              <a:rPr b="0" i="0" lang="en" sz="1500" u="none" cap="none" strike="noStrike">
                <a:solidFill>
                  <a:srgbClr val="274E13"/>
                </a:solidFill>
                <a:latin typeface="Lato"/>
                <a:ea typeface="Lato"/>
                <a:cs typeface="Lato"/>
                <a:sym typeface="Lato"/>
              </a:rPr>
              <a:t>MCB2, 3, 4, 5, 7, 8, 10: parsed, filtered, scorecarded, and browsable. MCB3 runs fully wet: database, embeddings, and summaries refresh on the weekly cron.</a:t>
            </a:r>
            <a:endParaRPr sz="1500"/>
          </a:p>
        </p:txBody>
      </p:sp>
      <p:sp>
        <p:nvSpPr>
          <p:cNvPr id="707" name="Google Shape;707;p70"/>
          <p:cNvSpPr/>
          <p:nvPr/>
        </p:nvSpPr>
        <p:spPr>
          <a:xfrm>
            <a:off x="4709160" y="1097280"/>
            <a:ext cx="3931800" cy="2331600"/>
          </a:xfrm>
          <a:prstGeom prst="roundRect">
            <a:avLst>
              <a:gd fmla="val 5000" name="adj"/>
            </a:avLst>
          </a:prstGeom>
          <a:solidFill>
            <a:srgbClr val="FFF9E8"/>
          </a:solidFill>
          <a:ln>
            <a:noFill/>
          </a:ln>
        </p:spPr>
        <p:txBody>
          <a:bodyPr anchorCtr="0" anchor="t" bIns="82275" lIns="182875" spcFirstLastPara="1" rIns="182875" wrap="square" tIns="82275">
            <a:noAutofit/>
          </a:bodyPr>
          <a:lstStyle/>
          <a:p>
            <a:pPr indent="0" lvl="0" marL="0" marR="0" rtl="0" algn="l">
              <a:lnSpc>
                <a:spcPct val="100000"/>
              </a:lnSpc>
              <a:spcBef>
                <a:spcPts val="0"/>
              </a:spcBef>
              <a:spcAft>
                <a:spcPts val="0"/>
              </a:spcAft>
              <a:buNone/>
            </a:pPr>
            <a:r>
              <a:rPr b="1" i="0" lang="en" sz="1650" u="none" cap="none" strike="noStrike">
                <a:solidFill>
                  <a:srgbClr val="B45309"/>
                </a:solidFill>
                <a:latin typeface="Lato"/>
                <a:ea typeface="Lato"/>
                <a:cs typeface="Lato"/>
                <a:sym typeface="Lato"/>
              </a:rPr>
              <a:t>🔒  Gated (3)</a:t>
            </a:r>
            <a:endParaRPr sz="1500"/>
          </a:p>
          <a:p>
            <a:pPr indent="0" lvl="0" marL="0" marR="0" rtl="0" algn="l">
              <a:lnSpc>
                <a:spcPct val="100000"/>
              </a:lnSpc>
              <a:spcBef>
                <a:spcPts val="0"/>
              </a:spcBef>
              <a:spcAft>
                <a:spcPts val="0"/>
              </a:spcAft>
              <a:buNone/>
            </a:pPr>
            <a:r>
              <a:rPr b="0" i="0" lang="en" sz="1500" u="none" cap="none" strike="noStrike">
                <a:solidFill>
                  <a:srgbClr val="78350F"/>
                </a:solidFill>
                <a:latin typeface="Lato"/>
                <a:ea typeface="Lato"/>
                <a:cs typeface="Lato"/>
                <a:sym typeface="Lato"/>
              </a:rPr>
              <a:t>MCB1 &amp; 12 live in Airtable and need API token scopes granted. MCB6 &amp; 11’s bases haven’t been located yet; their sites are unreachable.</a:t>
            </a:r>
            <a:endParaRPr sz="1500"/>
          </a:p>
        </p:txBody>
      </p:sp>
      <p:sp>
        <p:nvSpPr>
          <p:cNvPr id="708" name="Google Shape;708;p70"/>
          <p:cNvSpPr/>
          <p:nvPr/>
        </p:nvSpPr>
        <p:spPr>
          <a:xfrm>
            <a:off x="502920" y="3703320"/>
            <a:ext cx="3931800" cy="2331600"/>
          </a:xfrm>
          <a:prstGeom prst="roundRect">
            <a:avLst>
              <a:gd fmla="val 5000" name="adj"/>
            </a:avLst>
          </a:prstGeom>
          <a:solidFill>
            <a:srgbClr val="FFF3F5"/>
          </a:solidFill>
          <a:ln>
            <a:noFill/>
          </a:ln>
        </p:spPr>
        <p:txBody>
          <a:bodyPr anchorCtr="0" anchor="t" bIns="82275" lIns="182875" spcFirstLastPara="1" rIns="182875" wrap="square" tIns="82275">
            <a:noAutofit/>
          </a:bodyPr>
          <a:lstStyle/>
          <a:p>
            <a:pPr indent="0" lvl="0" marL="0" marR="0" rtl="0" algn="l">
              <a:lnSpc>
                <a:spcPct val="100000"/>
              </a:lnSpc>
              <a:spcBef>
                <a:spcPts val="0"/>
              </a:spcBef>
              <a:spcAft>
                <a:spcPts val="0"/>
              </a:spcAft>
              <a:buNone/>
            </a:pPr>
            <a:r>
              <a:rPr b="1" i="0" lang="en" sz="1650" u="none" cap="none" strike="noStrike">
                <a:solidFill>
                  <a:srgbClr val="ED315D"/>
                </a:solidFill>
                <a:latin typeface="Lato"/>
                <a:ea typeface="Lato"/>
                <a:cs typeface="Lato"/>
                <a:sym typeface="Lato"/>
              </a:rPr>
              <a:t>📄  Needs OCR (1)</a:t>
            </a:r>
            <a:endParaRPr sz="1500"/>
          </a:p>
          <a:p>
            <a:pPr indent="0" lvl="0" marL="0" marR="0" rtl="0" algn="l">
              <a:lnSpc>
                <a:spcPct val="100000"/>
              </a:lnSpc>
              <a:spcBef>
                <a:spcPts val="0"/>
              </a:spcBef>
              <a:spcAft>
                <a:spcPts val="0"/>
              </a:spcAft>
              <a:buNone/>
            </a:pPr>
            <a:r>
              <a:rPr b="0" i="0" lang="en" sz="1500" u="none" cap="none" strike="noStrike">
                <a:solidFill>
                  <a:srgbClr val="304D80"/>
                </a:solidFill>
                <a:latin typeface="Lato"/>
                <a:ea typeface="Lato"/>
                <a:cs typeface="Lato"/>
                <a:sym typeface="Lato"/>
              </a:rPr>
              <a:t>MCB9 posts minutes as scanned images: 82 of 83 PDFs have no text layer. It waits on an OCR stage rather than a worse parse.</a:t>
            </a:r>
            <a:endParaRPr sz="1500"/>
          </a:p>
        </p:txBody>
      </p:sp>
      <p:sp>
        <p:nvSpPr>
          <p:cNvPr id="709" name="Google Shape;709;p70"/>
          <p:cNvSpPr/>
          <p:nvPr/>
        </p:nvSpPr>
        <p:spPr>
          <a:xfrm>
            <a:off x="4709160" y="3703320"/>
            <a:ext cx="3931800" cy="2331600"/>
          </a:xfrm>
          <a:prstGeom prst="roundRect">
            <a:avLst>
              <a:gd fmla="val 5000" name="adj"/>
            </a:avLst>
          </a:prstGeom>
          <a:solidFill>
            <a:srgbClr val="F1F5FE"/>
          </a:solidFill>
          <a:ln>
            <a:noFill/>
          </a:ln>
        </p:spPr>
        <p:txBody>
          <a:bodyPr anchorCtr="0" anchor="t" bIns="82275" lIns="182875" spcFirstLastPara="1" rIns="182875" wrap="square" tIns="82275">
            <a:noAutofit/>
          </a:bodyPr>
          <a:lstStyle/>
          <a:p>
            <a:pPr indent="0" lvl="0" marL="0" marR="0" rtl="0" algn="l">
              <a:lnSpc>
                <a:spcPct val="100000"/>
              </a:lnSpc>
              <a:spcBef>
                <a:spcPts val="0"/>
              </a:spcBef>
              <a:spcAft>
                <a:spcPts val="0"/>
              </a:spcAft>
              <a:buNone/>
            </a:pPr>
            <a:r>
              <a:rPr b="1" i="0" lang="en" sz="1650" u="none" cap="none" strike="noStrike">
                <a:solidFill>
                  <a:srgbClr val="4285F4"/>
                </a:solidFill>
                <a:latin typeface="Lato"/>
                <a:ea typeface="Lato"/>
                <a:cs typeface="Lato"/>
                <a:sym typeface="Lato"/>
              </a:rPr>
              <a:t>⚠  Partial (1)</a:t>
            </a:r>
            <a:endParaRPr sz="1500"/>
          </a:p>
          <a:p>
            <a:pPr indent="0" lvl="0" marL="0" marR="0" rtl="0" algn="l">
              <a:lnSpc>
                <a:spcPct val="100000"/>
              </a:lnSpc>
              <a:spcBef>
                <a:spcPts val="0"/>
              </a:spcBef>
              <a:spcAft>
                <a:spcPts val="0"/>
              </a:spcAft>
              <a:buNone/>
            </a:pPr>
            <a:r>
              <a:rPr b="0" i="0" lang="en" sz="1500" u="none" cap="none" strike="noStrike">
                <a:solidFill>
                  <a:srgbClr val="304D80"/>
                </a:solidFill>
                <a:latin typeface="Lato"/>
                <a:ea typeface="Lato"/>
                <a:cs typeface="Lato"/>
                <a:sym typeface="Lato"/>
              </a:rPr>
              <a:t>MCB5’s Cloudflare wall also blocks the Internet Archive’s crawler, so its CDX trail is thin: 40 resolutions is a floor, not the corpus.</a:t>
            </a:r>
            <a:endParaRPr sz="1500"/>
          </a:p>
        </p:txBody>
      </p:sp>
      <p:sp>
        <p:nvSpPr>
          <p:cNvPr id="710" name="Google Shape;710;p70"/>
          <p:cNvSpPr txBox="1"/>
          <p:nvPr/>
        </p:nvSpPr>
        <p:spPr>
          <a:xfrm>
            <a:off x="502920" y="6206490"/>
            <a:ext cx="8138100" cy="286800"/>
          </a:xfrm>
          <a:prstGeom prst="rect">
            <a:avLst/>
          </a:prstGeom>
          <a:noFill/>
          <a:ln>
            <a:noFill/>
          </a:ln>
        </p:spPr>
        <p:txBody>
          <a:bodyPr anchorCtr="0" anchor="t" bIns="24675" lIns="54850" spcFirstLastPara="1" rIns="54850" wrap="square" tIns="24675">
            <a:spAutoFit/>
          </a:bodyPr>
          <a:lstStyle/>
          <a:p>
            <a:pPr indent="0" lvl="0" marL="0" marR="0" rtl="0" algn="l">
              <a:lnSpc>
                <a:spcPct val="100000"/>
              </a:lnSpc>
              <a:spcBef>
                <a:spcPts val="0"/>
              </a:spcBef>
              <a:spcAft>
                <a:spcPts val="0"/>
              </a:spcAft>
              <a:buNone/>
            </a:pPr>
            <a:r>
              <a:rPr b="0" i="1" lang="en" sz="1540" u="none" cap="none" strike="noStrike">
                <a:solidFill>
                  <a:srgbClr val="757575"/>
                </a:solidFill>
                <a:latin typeface="Lato"/>
                <a:ea typeface="Lato"/>
                <a:cs typeface="Lato"/>
                <a:sym typeface="Lato"/>
              </a:rPr>
              <a:t>No backfilled numbers, no false precision: a blank cell beats a made-up one.</a:t>
            </a:r>
            <a:endParaRPr sz="1500"/>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14" name="Shape 714"/>
        <p:cNvGrpSpPr/>
        <p:nvPr/>
      </p:nvGrpSpPr>
      <p:grpSpPr>
        <a:xfrm>
          <a:off x="0" y="0"/>
          <a:ext cx="0" cy="0"/>
          <a:chOff x="0" y="0"/>
          <a:chExt cx="0" cy="0"/>
        </a:xfrm>
      </p:grpSpPr>
      <p:sp>
        <p:nvSpPr>
          <p:cNvPr id="715" name="Google Shape;715;p71"/>
          <p:cNvSpPr txBox="1"/>
          <p:nvPr/>
        </p:nvSpPr>
        <p:spPr>
          <a:xfrm>
            <a:off x="502920" y="342900"/>
            <a:ext cx="8138100" cy="403800"/>
          </a:xfrm>
          <a:prstGeom prst="rect">
            <a:avLst/>
          </a:prstGeom>
          <a:noFill/>
          <a:ln>
            <a:noFill/>
          </a:ln>
        </p:spPr>
        <p:txBody>
          <a:bodyPr anchorCtr="0" anchor="t" bIns="24675" lIns="54850" spcFirstLastPara="1" rIns="54850" wrap="square" tIns="24675">
            <a:spAutoFit/>
          </a:bodyPr>
          <a:lstStyle/>
          <a:p>
            <a:pPr indent="0" lvl="0" marL="0" marR="0" rtl="0" algn="l">
              <a:lnSpc>
                <a:spcPct val="100000"/>
              </a:lnSpc>
              <a:spcBef>
                <a:spcPts val="0"/>
              </a:spcBef>
              <a:spcAft>
                <a:spcPts val="0"/>
              </a:spcAft>
              <a:buNone/>
            </a:pPr>
            <a:r>
              <a:rPr b="1" i="0" lang="en" sz="2300" u="none" cap="none" strike="noStrike">
                <a:solidFill>
                  <a:srgbClr val="212121"/>
                </a:solidFill>
                <a:latin typeface="Lato"/>
                <a:ea typeface="Lato"/>
                <a:cs typeface="Lato"/>
                <a:sym typeface="Lato"/>
              </a:rPr>
              <a:t>What Made It Hard (and What We Learned)</a:t>
            </a:r>
            <a:endParaRPr sz="1500"/>
          </a:p>
        </p:txBody>
      </p:sp>
      <p:sp>
        <p:nvSpPr>
          <p:cNvPr id="716" name="Google Shape;716;p71"/>
          <p:cNvSpPr txBox="1"/>
          <p:nvPr/>
        </p:nvSpPr>
        <p:spPr>
          <a:xfrm>
            <a:off x="502920" y="1165860"/>
            <a:ext cx="8138100" cy="3605400"/>
          </a:xfrm>
          <a:prstGeom prst="rect">
            <a:avLst/>
          </a:prstGeom>
          <a:noFill/>
          <a:ln>
            <a:noFill/>
          </a:ln>
        </p:spPr>
        <p:txBody>
          <a:bodyPr anchorCtr="0" anchor="t" bIns="24675" lIns="54850" spcFirstLastPara="1" rIns="54850" wrap="square" tIns="24675">
            <a:spAutoFit/>
          </a:bodyPr>
          <a:lstStyle/>
          <a:p>
            <a:pPr indent="0" lvl="0" marL="0" marR="0" rtl="0" algn="l">
              <a:lnSpc>
                <a:spcPct val="100000"/>
              </a:lnSpc>
              <a:spcBef>
                <a:spcPts val="0"/>
              </a:spcBef>
              <a:spcAft>
                <a:spcPts val="0"/>
              </a:spcAft>
              <a:buNone/>
            </a:pPr>
            <a:r>
              <a:rPr b="1" i="0" lang="en" sz="1650" u="none" cap="none" strike="noStrike">
                <a:solidFill>
                  <a:srgbClr val="212121"/>
                </a:solidFill>
                <a:latin typeface="Lato"/>
                <a:ea typeface="Lato"/>
                <a:cs typeface="Lato"/>
                <a:sym typeface="Lato"/>
              </a:rPr>
              <a:t>The web decays.  </a:t>
            </a:r>
            <a:r>
              <a:rPr b="0" i="0" lang="en" sz="1650" u="none" cap="none" strike="noStrike">
                <a:solidFill>
                  <a:srgbClr val="304D80"/>
                </a:solidFill>
                <a:latin typeface="Lato"/>
                <a:ea typeface="Lato"/>
                <a:cs typeface="Lato"/>
                <a:sym typeface="Lato"/>
              </a:rPr>
              <a:t>Four URL eras on one board, a site rebuilt into a React app, Cloudflare walls, dead domains. Public records rot in place.</a:t>
            </a:r>
            <a:endParaRPr b="0" i="0" sz="1650" u="none" cap="none" strike="noStrike">
              <a:solidFill>
                <a:srgbClr val="304D80"/>
              </a:solidFill>
              <a:latin typeface="Lato"/>
              <a:ea typeface="Lato"/>
              <a:cs typeface="Lato"/>
              <a:sym typeface="Lato"/>
            </a:endParaRPr>
          </a:p>
          <a:p>
            <a:pPr indent="0" lvl="0" marL="0" marR="0" rtl="0" algn="l">
              <a:lnSpc>
                <a:spcPct val="100000"/>
              </a:lnSpc>
              <a:spcBef>
                <a:spcPts val="0"/>
              </a:spcBef>
              <a:spcAft>
                <a:spcPts val="0"/>
              </a:spcAft>
              <a:buNone/>
            </a:pPr>
            <a:r>
              <a:t/>
            </a:r>
            <a:endParaRPr sz="1650">
              <a:solidFill>
                <a:srgbClr val="304D80"/>
              </a:solidFill>
              <a:latin typeface="Lato"/>
              <a:ea typeface="Lato"/>
              <a:cs typeface="Lato"/>
              <a:sym typeface="Lato"/>
            </a:endParaRPr>
          </a:p>
          <a:p>
            <a:pPr indent="0" lvl="0" marL="0" marR="0" rtl="0" algn="l">
              <a:lnSpc>
                <a:spcPct val="100000"/>
              </a:lnSpc>
              <a:spcBef>
                <a:spcPts val="0"/>
              </a:spcBef>
              <a:spcAft>
                <a:spcPts val="0"/>
              </a:spcAft>
              <a:buNone/>
            </a:pPr>
            <a:r>
              <a:rPr b="1" i="0" lang="en" sz="1650" u="none" cap="none" strike="noStrike">
                <a:solidFill>
                  <a:srgbClr val="212121"/>
                </a:solidFill>
                <a:latin typeface="Lato"/>
                <a:ea typeface="Lato"/>
                <a:cs typeface="Lato"/>
                <a:sym typeface="Lato"/>
              </a:rPr>
              <a:t>Formats lie.  </a:t>
            </a:r>
            <a:r>
              <a:rPr b="0" i="0" lang="en" sz="1650" u="none" cap="none" strike="noStrike">
                <a:solidFill>
                  <a:srgbClr val="304D80"/>
                </a:solidFill>
                <a:latin typeface="Lato"/>
                <a:ea typeface="Lato"/>
                <a:cs typeface="Lato"/>
                <a:sym typeface="Lato"/>
              </a:rPr>
              <a:t>Letters without vote markers, bundles pretending to be single resolutions, dates living only in datelines. Every assumption needs a test.</a:t>
            </a:r>
            <a:endParaRPr b="0" i="0" sz="1650" u="none" cap="none" strike="noStrike">
              <a:solidFill>
                <a:srgbClr val="304D80"/>
              </a:solidFill>
              <a:latin typeface="Lato"/>
              <a:ea typeface="Lato"/>
              <a:cs typeface="Lato"/>
              <a:sym typeface="Lato"/>
            </a:endParaRPr>
          </a:p>
          <a:p>
            <a:pPr indent="0" lvl="0" marL="0" marR="0" rtl="0" algn="l">
              <a:lnSpc>
                <a:spcPct val="100000"/>
              </a:lnSpc>
              <a:spcBef>
                <a:spcPts val="0"/>
              </a:spcBef>
              <a:spcAft>
                <a:spcPts val="0"/>
              </a:spcAft>
              <a:buNone/>
            </a:pPr>
            <a:r>
              <a:t/>
            </a:r>
            <a:endParaRPr sz="1650">
              <a:solidFill>
                <a:srgbClr val="304D80"/>
              </a:solidFill>
              <a:latin typeface="Lato"/>
              <a:ea typeface="Lato"/>
              <a:cs typeface="Lato"/>
              <a:sym typeface="Lato"/>
            </a:endParaRPr>
          </a:p>
          <a:p>
            <a:pPr indent="0" lvl="0" marL="0" marR="0" rtl="0" algn="l">
              <a:lnSpc>
                <a:spcPct val="100000"/>
              </a:lnSpc>
              <a:spcBef>
                <a:spcPts val="0"/>
              </a:spcBef>
              <a:spcAft>
                <a:spcPts val="0"/>
              </a:spcAft>
              <a:buNone/>
            </a:pPr>
            <a:r>
              <a:rPr b="1" i="0" lang="en" sz="1650" u="none" cap="none" strike="noStrike">
                <a:solidFill>
                  <a:srgbClr val="212121"/>
                </a:solidFill>
                <a:latin typeface="Lato"/>
                <a:ea typeface="Lato"/>
                <a:cs typeface="Lato"/>
                <a:sym typeface="Lato"/>
              </a:rPr>
              <a:t>Counts deceive.  </a:t>
            </a:r>
            <a:r>
              <a:rPr b="0" i="0" lang="en" sz="1650" u="none" cap="none" strike="noStrike">
                <a:solidFill>
                  <a:srgbClr val="304D80"/>
                </a:solidFill>
                <a:latin typeface="Lato"/>
                <a:ea typeface="Lato"/>
                <a:cs typeface="Lato"/>
                <a:sym typeface="Lato"/>
              </a:rPr>
              <a:t>“One meeting per PDF” inflated meeting counts on some boards until meetings were keyed on board + date.</a:t>
            </a:r>
            <a:endParaRPr b="0" i="0" sz="1650" u="none" cap="none" strike="noStrike">
              <a:solidFill>
                <a:srgbClr val="304D80"/>
              </a:solidFill>
              <a:latin typeface="Lato"/>
              <a:ea typeface="Lato"/>
              <a:cs typeface="Lato"/>
              <a:sym typeface="Lato"/>
            </a:endParaRPr>
          </a:p>
          <a:p>
            <a:pPr indent="0" lvl="0" marL="0" marR="0" rtl="0" algn="l">
              <a:lnSpc>
                <a:spcPct val="100000"/>
              </a:lnSpc>
              <a:spcBef>
                <a:spcPts val="0"/>
              </a:spcBef>
              <a:spcAft>
                <a:spcPts val="0"/>
              </a:spcAft>
              <a:buNone/>
            </a:pPr>
            <a:r>
              <a:t/>
            </a:r>
            <a:endParaRPr sz="1650">
              <a:solidFill>
                <a:srgbClr val="304D80"/>
              </a:solidFill>
              <a:latin typeface="Lato"/>
              <a:ea typeface="Lato"/>
              <a:cs typeface="Lato"/>
              <a:sym typeface="Lato"/>
            </a:endParaRPr>
          </a:p>
          <a:p>
            <a:pPr indent="0" lvl="0" marL="0" marR="0" rtl="0" algn="l">
              <a:lnSpc>
                <a:spcPct val="100000"/>
              </a:lnSpc>
              <a:spcBef>
                <a:spcPts val="0"/>
              </a:spcBef>
              <a:spcAft>
                <a:spcPts val="0"/>
              </a:spcAft>
              <a:buNone/>
            </a:pPr>
            <a:r>
              <a:rPr b="1" i="0" lang="en" sz="1650" u="none" cap="none" strike="noStrike">
                <a:solidFill>
                  <a:srgbClr val="212121"/>
                </a:solidFill>
                <a:latin typeface="Lato"/>
                <a:ea typeface="Lato"/>
                <a:cs typeface="Lato"/>
                <a:sym typeface="Lato"/>
              </a:rPr>
              <a:t>Quality is a loop, not a launch.  </a:t>
            </a:r>
            <a:r>
              <a:rPr b="0" i="0" lang="en" sz="1650" u="none" cap="none" strike="noStrike">
                <a:solidFill>
                  <a:srgbClr val="304D80"/>
                </a:solidFill>
                <a:latin typeface="Lato"/>
                <a:ea typeface="Lato"/>
                <a:cs typeface="Lato"/>
                <a:sym typeface="Lato"/>
              </a:rPr>
              <a:t>Two full sample→fix→re-dump cycles (titles first, then bodies) did more for accuracy than any single rewrite.</a:t>
            </a:r>
            <a:endParaRPr b="0" i="0" sz="1650" u="none" cap="none" strike="noStrike">
              <a:solidFill>
                <a:srgbClr val="304D80"/>
              </a:solidFill>
              <a:latin typeface="Lato"/>
              <a:ea typeface="Lato"/>
              <a:cs typeface="Lato"/>
              <a:sym typeface="Lato"/>
            </a:endParaRPr>
          </a:p>
          <a:p>
            <a:pPr indent="0" lvl="0" marL="0" marR="0" rtl="0" algn="l">
              <a:lnSpc>
                <a:spcPct val="100000"/>
              </a:lnSpc>
              <a:spcBef>
                <a:spcPts val="0"/>
              </a:spcBef>
              <a:spcAft>
                <a:spcPts val="0"/>
              </a:spcAft>
              <a:buNone/>
            </a:pPr>
            <a:r>
              <a:t/>
            </a:r>
            <a:endParaRPr sz="1650">
              <a:solidFill>
                <a:srgbClr val="304D80"/>
              </a:solidFill>
              <a:latin typeface="Lato"/>
              <a:ea typeface="Lato"/>
              <a:cs typeface="Lato"/>
              <a:sym typeface="Lato"/>
            </a:endParaRPr>
          </a:p>
          <a:p>
            <a:pPr indent="0" lvl="0" marL="0" marR="0" rtl="0" algn="l">
              <a:lnSpc>
                <a:spcPct val="100000"/>
              </a:lnSpc>
              <a:spcBef>
                <a:spcPts val="0"/>
              </a:spcBef>
              <a:spcAft>
                <a:spcPts val="0"/>
              </a:spcAft>
              <a:buNone/>
            </a:pPr>
            <a:r>
              <a:rPr b="1" i="0" lang="en" sz="1650" u="none" cap="none" strike="noStrike">
                <a:solidFill>
                  <a:srgbClr val="212121"/>
                </a:solidFill>
                <a:latin typeface="Lato"/>
                <a:ea typeface="Lato"/>
                <a:cs typeface="Lato"/>
                <a:sym typeface="Lato"/>
              </a:rPr>
              <a:t>Write it down.  </a:t>
            </a:r>
            <a:r>
              <a:rPr b="0" i="0" lang="en" sz="1650" u="none" cap="none" strike="noStrike">
                <a:solidFill>
                  <a:srgbClr val="304D80"/>
                </a:solidFill>
                <a:latin typeface="Lato"/>
                <a:ea typeface="Lato"/>
                <a:cs typeface="Lato"/>
                <a:sym typeface="Lato"/>
              </a:rPr>
              <a:t>Architecture docs, operations runbooks, a methodology ledger: the project survives handoffs because the decisions are on paper.</a:t>
            </a:r>
            <a:endParaRPr sz="1500"/>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20" name="Shape 720"/>
        <p:cNvGrpSpPr/>
        <p:nvPr/>
      </p:nvGrpSpPr>
      <p:grpSpPr>
        <a:xfrm>
          <a:off x="0" y="0"/>
          <a:ext cx="0" cy="0"/>
          <a:chOff x="0" y="0"/>
          <a:chExt cx="0" cy="0"/>
        </a:xfrm>
      </p:grpSpPr>
      <p:sp>
        <p:nvSpPr>
          <p:cNvPr id="721" name="Google Shape;721;p72"/>
          <p:cNvSpPr txBox="1"/>
          <p:nvPr/>
        </p:nvSpPr>
        <p:spPr>
          <a:xfrm>
            <a:off x="502920" y="342900"/>
            <a:ext cx="8138100" cy="403800"/>
          </a:xfrm>
          <a:prstGeom prst="rect">
            <a:avLst/>
          </a:prstGeom>
          <a:noFill/>
          <a:ln>
            <a:noFill/>
          </a:ln>
        </p:spPr>
        <p:txBody>
          <a:bodyPr anchorCtr="0" anchor="t" bIns="24675" lIns="54850" spcFirstLastPara="1" rIns="54850" wrap="square" tIns="24675">
            <a:spAutoFit/>
          </a:bodyPr>
          <a:lstStyle/>
          <a:p>
            <a:pPr indent="0" lvl="0" marL="0" marR="0" rtl="0" algn="l">
              <a:lnSpc>
                <a:spcPct val="100000"/>
              </a:lnSpc>
              <a:spcBef>
                <a:spcPts val="0"/>
              </a:spcBef>
              <a:spcAft>
                <a:spcPts val="0"/>
              </a:spcAft>
              <a:buNone/>
            </a:pPr>
            <a:r>
              <a:rPr b="1" i="0" lang="en" sz="2300" u="none" cap="none" strike="noStrike">
                <a:solidFill>
                  <a:srgbClr val="212121"/>
                </a:solidFill>
                <a:latin typeface="Lato"/>
                <a:ea typeface="Lato"/>
                <a:cs typeface="Lato"/>
                <a:sym typeface="Lato"/>
              </a:rPr>
              <a:t>What’s Next</a:t>
            </a:r>
            <a:endParaRPr sz="1500"/>
          </a:p>
        </p:txBody>
      </p:sp>
      <p:sp>
        <p:nvSpPr>
          <p:cNvPr id="722" name="Google Shape;722;p72"/>
          <p:cNvSpPr txBox="1"/>
          <p:nvPr/>
        </p:nvSpPr>
        <p:spPr>
          <a:xfrm>
            <a:off x="502920" y="1200150"/>
            <a:ext cx="8138100" cy="2032500"/>
          </a:xfrm>
          <a:prstGeom prst="rect">
            <a:avLst/>
          </a:prstGeom>
          <a:noFill/>
          <a:ln>
            <a:noFill/>
          </a:ln>
        </p:spPr>
        <p:txBody>
          <a:bodyPr anchorCtr="0" anchor="t" bIns="24675" lIns="54850" spcFirstLastPara="1" rIns="54850" wrap="square" tIns="24675">
            <a:spAutoFit/>
          </a:bodyPr>
          <a:lstStyle/>
          <a:p>
            <a:pPr indent="0" lvl="0" marL="0" marR="0" rtl="0" algn="l">
              <a:lnSpc>
                <a:spcPct val="100000"/>
              </a:lnSpc>
              <a:spcBef>
                <a:spcPts val="0"/>
              </a:spcBef>
              <a:spcAft>
                <a:spcPts val="0"/>
              </a:spcAft>
              <a:buNone/>
            </a:pPr>
            <a:r>
              <a:rPr b="1" i="0" lang="en" sz="1900" u="none" cap="none" strike="noStrike">
                <a:solidFill>
                  <a:srgbClr val="4285F4"/>
                </a:solidFill>
                <a:latin typeface="Lato"/>
                <a:ea typeface="Lato"/>
                <a:cs typeface="Lato"/>
                <a:sym typeface="Lato"/>
              </a:rPr>
              <a:t>1  </a:t>
            </a:r>
            <a:r>
              <a:rPr b="0" i="0" lang="en" sz="1760" u="none" cap="none" strike="noStrike">
                <a:solidFill>
                  <a:srgbClr val="304D80"/>
                </a:solidFill>
                <a:latin typeface="Lato"/>
                <a:ea typeface="Lato"/>
                <a:cs typeface="Lato"/>
                <a:sym typeface="Lato"/>
              </a:rPr>
              <a:t>Wet-run the ready boards into the production database: embeddings and summaries for all seven, not just MCB3</a:t>
            </a:r>
            <a:endParaRPr sz="1500"/>
          </a:p>
          <a:p>
            <a:pPr indent="0" lvl="0" marL="0" marR="0" rtl="0" algn="l">
              <a:lnSpc>
                <a:spcPct val="100000"/>
              </a:lnSpc>
              <a:spcBef>
                <a:spcPts val="0"/>
              </a:spcBef>
              <a:spcAft>
                <a:spcPts val="0"/>
              </a:spcAft>
              <a:buNone/>
            </a:pPr>
            <a:r>
              <a:rPr b="1" i="0" lang="en" sz="1900" u="none" cap="none" strike="noStrike">
                <a:solidFill>
                  <a:srgbClr val="4285F4"/>
                </a:solidFill>
                <a:latin typeface="Lato"/>
                <a:ea typeface="Lato"/>
                <a:cs typeface="Lato"/>
                <a:sym typeface="Lato"/>
              </a:rPr>
              <a:t>2  </a:t>
            </a:r>
            <a:r>
              <a:rPr b="0" i="0" lang="en" sz="1760" u="none" cap="none" strike="noStrike">
                <a:solidFill>
                  <a:srgbClr val="304D80"/>
                </a:solidFill>
                <a:latin typeface="Lato"/>
                <a:ea typeface="Lato"/>
                <a:cs typeface="Lato"/>
                <a:sym typeface="Lato"/>
              </a:rPr>
              <a:t>Close the gaps: Airtable access for MCB1 &amp; 12, OCR for MCB9, locate MCB6 &amp; 11’s records</a:t>
            </a:r>
            <a:endParaRPr sz="1500"/>
          </a:p>
          <a:p>
            <a:pPr indent="0" lvl="0" marL="0" marR="0" rtl="0" algn="l">
              <a:lnSpc>
                <a:spcPct val="100000"/>
              </a:lnSpc>
              <a:spcBef>
                <a:spcPts val="0"/>
              </a:spcBef>
              <a:spcAft>
                <a:spcPts val="0"/>
              </a:spcAft>
              <a:buNone/>
            </a:pPr>
            <a:r>
              <a:rPr b="1" i="0" lang="en" sz="1900" u="none" cap="none" strike="noStrike">
                <a:solidFill>
                  <a:srgbClr val="4285F4"/>
                </a:solidFill>
                <a:latin typeface="Lato"/>
                <a:ea typeface="Lato"/>
                <a:cs typeface="Lato"/>
                <a:sym typeface="Lato"/>
              </a:rPr>
              <a:t>3  </a:t>
            </a:r>
            <a:r>
              <a:rPr b="0" i="0" lang="en" sz="1760" u="none" cap="none" strike="noStrike">
                <a:solidFill>
                  <a:srgbClr val="304D80"/>
                </a:solidFill>
                <a:latin typeface="Lato"/>
                <a:ea typeface="Lato"/>
                <a:cs typeface="Lato"/>
                <a:sym typeface="Lato"/>
              </a:rPr>
              <a:t>Semantic search across boards on blockparty.studio: one question, every board’s answer, twenty years deep</a:t>
            </a:r>
            <a:endParaRPr sz="1500"/>
          </a:p>
          <a:p>
            <a:pPr indent="0" lvl="0" marL="0" marR="0" rtl="0" algn="l">
              <a:lnSpc>
                <a:spcPct val="100000"/>
              </a:lnSpc>
              <a:spcBef>
                <a:spcPts val="0"/>
              </a:spcBef>
              <a:spcAft>
                <a:spcPts val="0"/>
              </a:spcAft>
              <a:buNone/>
            </a:pPr>
            <a:r>
              <a:rPr b="1" i="0" lang="en" sz="1900" u="none" cap="none" strike="noStrike">
                <a:solidFill>
                  <a:srgbClr val="4285F4"/>
                </a:solidFill>
                <a:latin typeface="Lato"/>
                <a:ea typeface="Lato"/>
                <a:cs typeface="Lato"/>
                <a:sym typeface="Lato"/>
              </a:rPr>
              <a:t>4  </a:t>
            </a:r>
            <a:r>
              <a:rPr b="0" i="0" lang="en" sz="1760" u="none" cap="none" strike="noStrike">
                <a:solidFill>
                  <a:srgbClr val="304D80"/>
                </a:solidFill>
                <a:latin typeface="Lato"/>
                <a:ea typeface="Lato"/>
                <a:cs typeface="Lato"/>
                <a:sym typeface="Lato"/>
              </a:rPr>
              <a:t>Then past Manhattan: the adapters were built for 59 boards, not 12</a:t>
            </a:r>
            <a:endParaRPr sz="1500"/>
          </a:p>
        </p:txBody>
      </p:sp>
      <p:sp>
        <p:nvSpPr>
          <p:cNvPr id="723" name="Google Shape;723;p72"/>
          <p:cNvSpPr/>
          <p:nvPr/>
        </p:nvSpPr>
        <p:spPr>
          <a:xfrm>
            <a:off x="502920" y="5143500"/>
            <a:ext cx="8138100" cy="1028700"/>
          </a:xfrm>
          <a:prstGeom prst="roundRect">
            <a:avLst>
              <a:gd fmla="val 5000" name="adj"/>
            </a:avLst>
          </a:prstGeom>
          <a:solidFill>
            <a:srgbClr val="F1F5FE"/>
          </a:solidFill>
          <a:ln>
            <a:noFill/>
          </a:ln>
        </p:spPr>
        <p:txBody>
          <a:bodyPr anchorCtr="0" anchor="t" bIns="90525" lIns="201150" spcFirstLastPara="1" rIns="201150" wrap="square" tIns="90525">
            <a:noAutofit/>
          </a:bodyPr>
          <a:lstStyle/>
          <a:p>
            <a:pPr indent="0" lvl="0" marL="0" marR="0" rtl="0" algn="l">
              <a:lnSpc>
                <a:spcPct val="100000"/>
              </a:lnSpc>
              <a:spcBef>
                <a:spcPts val="0"/>
              </a:spcBef>
              <a:spcAft>
                <a:spcPts val="0"/>
              </a:spcAft>
              <a:buNone/>
            </a:pPr>
            <a:r>
              <a:rPr b="0" i="0" lang="en" sz="1650" u="none" cap="none" strike="noStrike">
                <a:solidFill>
                  <a:srgbClr val="304D80"/>
                </a:solidFill>
                <a:latin typeface="Lato"/>
                <a:ea typeface="Lato"/>
                <a:cs typeface="Lato"/>
                <a:sym typeface="Lato"/>
              </a:rPr>
              <a:t>The March deck asked whether the pipeline could generalize. It can. Now the work is turning coverage into a product people reach for.</a:t>
            </a:r>
            <a:endParaRPr sz="1500"/>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27" name="Shape 727"/>
        <p:cNvGrpSpPr/>
        <p:nvPr/>
      </p:nvGrpSpPr>
      <p:grpSpPr>
        <a:xfrm>
          <a:off x="0" y="0"/>
          <a:ext cx="0" cy="0"/>
          <a:chOff x="0" y="0"/>
          <a:chExt cx="0" cy="0"/>
        </a:xfrm>
      </p:grpSpPr>
      <p:sp>
        <p:nvSpPr>
          <p:cNvPr id="728" name="Google Shape;728;p73"/>
          <p:cNvSpPr txBox="1"/>
          <p:nvPr/>
        </p:nvSpPr>
        <p:spPr>
          <a:xfrm>
            <a:off x="301752" y="182880"/>
            <a:ext cx="7772400" cy="430800"/>
          </a:xfrm>
          <a:prstGeom prst="rect">
            <a:avLst/>
          </a:prstGeom>
          <a:noFill/>
          <a:ln>
            <a:noFill/>
          </a:ln>
        </p:spPr>
        <p:txBody>
          <a:bodyPr anchorCtr="0" anchor="t" bIns="45700" lIns="91425" spcFirstLastPara="1" rIns="91425" wrap="square" tIns="45700">
            <a:spAutoFit/>
          </a:bodyPr>
          <a:lstStyle/>
          <a:p>
            <a:pPr indent="0" lvl="0" marL="0" rtl="0" algn="l">
              <a:spcBef>
                <a:spcPts val="0"/>
              </a:spcBef>
              <a:spcAft>
                <a:spcPts val="0"/>
              </a:spcAft>
              <a:buNone/>
            </a:pPr>
            <a:r>
              <a:rPr b="1" lang="en" sz="2200">
                <a:solidFill>
                  <a:schemeClr val="accent2"/>
                </a:solidFill>
                <a:latin typeface="Lato"/>
                <a:ea typeface="Lato"/>
                <a:cs typeface="Lato"/>
                <a:sym typeface="Lato"/>
              </a:rPr>
              <a:t>Join the Party! There are More Questions to Explore</a:t>
            </a:r>
            <a:endParaRPr b="1" sz="2200">
              <a:solidFill>
                <a:srgbClr val="212121"/>
              </a:solidFill>
              <a:latin typeface="Lato"/>
              <a:ea typeface="Lato"/>
              <a:cs typeface="Lato"/>
              <a:sym typeface="Lato"/>
            </a:endParaRPr>
          </a:p>
        </p:txBody>
      </p:sp>
      <p:sp>
        <p:nvSpPr>
          <p:cNvPr id="729" name="Google Shape;729;p73"/>
          <p:cNvSpPr txBox="1"/>
          <p:nvPr/>
        </p:nvSpPr>
        <p:spPr>
          <a:xfrm>
            <a:off x="7863840" y="182880"/>
            <a:ext cx="1188600" cy="23070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 sz="900" u="none" cap="none" strike="noStrike">
                <a:solidFill>
                  <a:srgbClr val="757575"/>
                </a:solidFill>
                <a:latin typeface="Lato"/>
                <a:ea typeface="Lato"/>
                <a:cs typeface="Lato"/>
                <a:sym typeface="Lato"/>
              </a:rPr>
              <a:t>16 / 16</a:t>
            </a:r>
            <a:endParaRPr/>
          </a:p>
        </p:txBody>
      </p:sp>
      <p:sp>
        <p:nvSpPr>
          <p:cNvPr id="730" name="Google Shape;730;p73"/>
          <p:cNvSpPr/>
          <p:nvPr/>
        </p:nvSpPr>
        <p:spPr>
          <a:xfrm>
            <a:off x="0" y="841248"/>
            <a:ext cx="9144000" cy="41100"/>
          </a:xfrm>
          <a:prstGeom prst="rect">
            <a:avLst/>
          </a:prstGeom>
          <a:solidFill>
            <a:srgbClr val="00BBEA"/>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731" name="Google Shape;731;p73"/>
          <p:cNvSpPr txBox="1"/>
          <p:nvPr/>
        </p:nvSpPr>
        <p:spPr>
          <a:xfrm>
            <a:off x="301752" y="987552"/>
            <a:ext cx="384000" cy="3693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 sz="1800" u="none" cap="none" strike="noStrike">
                <a:solidFill>
                  <a:srgbClr val="ED315D"/>
                </a:solidFill>
                <a:latin typeface="Lato"/>
                <a:ea typeface="Lato"/>
                <a:cs typeface="Lato"/>
                <a:sym typeface="Lato"/>
              </a:rPr>
              <a:t>?</a:t>
            </a:r>
            <a:endParaRPr>
              <a:solidFill>
                <a:srgbClr val="ED315D"/>
              </a:solidFill>
            </a:endParaRPr>
          </a:p>
        </p:txBody>
      </p:sp>
      <p:sp>
        <p:nvSpPr>
          <p:cNvPr id="732" name="Google Shape;732;p73"/>
          <p:cNvSpPr txBox="1"/>
          <p:nvPr/>
        </p:nvSpPr>
        <p:spPr>
          <a:xfrm>
            <a:off x="713232" y="987552"/>
            <a:ext cx="8229600" cy="3387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 sz="1600">
                <a:solidFill>
                  <a:srgbClr val="212121"/>
                </a:solidFill>
                <a:latin typeface="Lato"/>
                <a:ea typeface="Lato"/>
                <a:cs typeface="Lato"/>
                <a:sym typeface="Lato"/>
              </a:rPr>
              <a:t>A Tool for Civic Inquiry</a:t>
            </a:r>
            <a:endParaRPr b="1" sz="1600">
              <a:latin typeface="Lato"/>
              <a:ea typeface="Lato"/>
              <a:cs typeface="Lato"/>
              <a:sym typeface="Lato"/>
            </a:endParaRPr>
          </a:p>
        </p:txBody>
      </p:sp>
      <p:sp>
        <p:nvSpPr>
          <p:cNvPr id="733" name="Google Shape;733;p73"/>
          <p:cNvSpPr txBox="1"/>
          <p:nvPr/>
        </p:nvSpPr>
        <p:spPr>
          <a:xfrm>
            <a:off x="713232" y="1335024"/>
            <a:ext cx="8229600" cy="3231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 sz="1500">
                <a:solidFill>
                  <a:srgbClr val="757575"/>
                </a:solidFill>
                <a:latin typeface="Lato"/>
                <a:ea typeface="Lato"/>
                <a:cs typeface="Lato"/>
                <a:sym typeface="Lato"/>
              </a:rPr>
              <a:t>W</a:t>
            </a:r>
            <a:r>
              <a:rPr i="0" lang="en" sz="1500" u="none" cap="none" strike="noStrike">
                <a:solidFill>
                  <a:srgbClr val="757575"/>
                </a:solidFill>
                <a:latin typeface="Lato"/>
                <a:ea typeface="Lato"/>
                <a:cs typeface="Lato"/>
                <a:sym typeface="Lato"/>
              </a:rPr>
              <a:t>hat happen</a:t>
            </a:r>
            <a:r>
              <a:rPr lang="en" sz="1500">
                <a:solidFill>
                  <a:srgbClr val="757575"/>
                </a:solidFill>
                <a:latin typeface="Lato"/>
                <a:ea typeface="Lato"/>
                <a:cs typeface="Lato"/>
                <a:sym typeface="Lato"/>
              </a:rPr>
              <a:t>s</a:t>
            </a:r>
            <a:r>
              <a:rPr i="0" lang="en" sz="1500" u="none" cap="none" strike="noStrike">
                <a:solidFill>
                  <a:srgbClr val="757575"/>
                </a:solidFill>
                <a:latin typeface="Lato"/>
                <a:ea typeface="Lato"/>
                <a:cs typeface="Lato"/>
                <a:sym typeface="Lato"/>
              </a:rPr>
              <a:t> next. Did the agency comply? Did the developer get approved?</a:t>
            </a:r>
            <a:r>
              <a:rPr lang="en" sz="1500">
                <a:solidFill>
                  <a:srgbClr val="757575"/>
                </a:solidFill>
                <a:latin typeface="Lato"/>
                <a:ea typeface="Lato"/>
                <a:cs typeface="Lato"/>
                <a:sym typeface="Lato"/>
              </a:rPr>
              <a:t> </a:t>
            </a:r>
            <a:endParaRPr sz="1500">
              <a:latin typeface="Lato"/>
              <a:ea typeface="Lato"/>
              <a:cs typeface="Lato"/>
              <a:sym typeface="Lato"/>
            </a:endParaRPr>
          </a:p>
        </p:txBody>
      </p:sp>
      <p:sp>
        <p:nvSpPr>
          <p:cNvPr id="734" name="Google Shape;734;p73"/>
          <p:cNvSpPr/>
          <p:nvPr/>
        </p:nvSpPr>
        <p:spPr>
          <a:xfrm>
            <a:off x="301752" y="1810512"/>
            <a:ext cx="8540400" cy="18300"/>
          </a:xfrm>
          <a:prstGeom prst="rect">
            <a:avLst/>
          </a:prstGeom>
          <a:solidFill>
            <a:srgbClr val="EEEEEE"/>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735" name="Google Shape;735;p73"/>
          <p:cNvSpPr txBox="1"/>
          <p:nvPr/>
        </p:nvSpPr>
        <p:spPr>
          <a:xfrm>
            <a:off x="301752" y="1920240"/>
            <a:ext cx="384000" cy="3693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 sz="1800" u="none" cap="none" strike="noStrike">
                <a:solidFill>
                  <a:srgbClr val="ED315D"/>
                </a:solidFill>
                <a:latin typeface="Lato"/>
                <a:ea typeface="Lato"/>
                <a:cs typeface="Lato"/>
                <a:sym typeface="Lato"/>
              </a:rPr>
              <a:t>?</a:t>
            </a:r>
            <a:endParaRPr>
              <a:solidFill>
                <a:srgbClr val="ED315D"/>
              </a:solidFill>
            </a:endParaRPr>
          </a:p>
        </p:txBody>
      </p:sp>
      <p:sp>
        <p:nvSpPr>
          <p:cNvPr id="736" name="Google Shape;736;p73"/>
          <p:cNvSpPr txBox="1"/>
          <p:nvPr/>
        </p:nvSpPr>
        <p:spPr>
          <a:xfrm>
            <a:off x="713232" y="1920240"/>
            <a:ext cx="8229600" cy="3387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 sz="1600" u="none" cap="none" strike="noStrike">
                <a:solidFill>
                  <a:srgbClr val="212121"/>
                </a:solidFill>
                <a:latin typeface="Lato"/>
                <a:ea typeface="Lato"/>
                <a:cs typeface="Lato"/>
                <a:sym typeface="Lato"/>
              </a:rPr>
              <a:t>Extend to all 59 </a:t>
            </a:r>
            <a:r>
              <a:rPr b="1" lang="en" sz="1600">
                <a:solidFill>
                  <a:srgbClr val="212121"/>
                </a:solidFill>
                <a:latin typeface="Lato"/>
                <a:ea typeface="Lato"/>
                <a:cs typeface="Lato"/>
                <a:sym typeface="Lato"/>
              </a:rPr>
              <a:t>Community Boards</a:t>
            </a:r>
            <a:endParaRPr b="1" sz="1600">
              <a:latin typeface="Lato"/>
              <a:ea typeface="Lato"/>
              <a:cs typeface="Lato"/>
              <a:sym typeface="Lato"/>
            </a:endParaRPr>
          </a:p>
        </p:txBody>
      </p:sp>
      <p:sp>
        <p:nvSpPr>
          <p:cNvPr id="737" name="Google Shape;737;p73"/>
          <p:cNvSpPr txBox="1"/>
          <p:nvPr/>
        </p:nvSpPr>
        <p:spPr>
          <a:xfrm>
            <a:off x="713232" y="2232550"/>
            <a:ext cx="8229600" cy="3231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i="0" lang="en" sz="1500" u="none" cap="none" strike="noStrike">
                <a:solidFill>
                  <a:srgbClr val="757575"/>
                </a:solidFill>
                <a:latin typeface="Lato"/>
                <a:ea typeface="Lato"/>
                <a:cs typeface="Lato"/>
                <a:sym typeface="Lato"/>
              </a:rPr>
              <a:t>How</a:t>
            </a:r>
            <a:r>
              <a:rPr lang="en" sz="1500">
                <a:solidFill>
                  <a:srgbClr val="757575"/>
                </a:solidFill>
                <a:latin typeface="Lato"/>
                <a:ea typeface="Lato"/>
                <a:cs typeface="Lato"/>
                <a:sym typeface="Lato"/>
              </a:rPr>
              <a:t> might we</a:t>
            </a:r>
            <a:r>
              <a:rPr i="0" lang="en" sz="1500" u="none" cap="none" strike="noStrike">
                <a:solidFill>
                  <a:srgbClr val="757575"/>
                </a:solidFill>
                <a:latin typeface="Lato"/>
                <a:ea typeface="Lato"/>
                <a:cs typeface="Lato"/>
                <a:sym typeface="Lato"/>
              </a:rPr>
              <a:t> generalize the pipeline? Each board </a:t>
            </a:r>
            <a:r>
              <a:rPr lang="en" sz="1500">
                <a:solidFill>
                  <a:srgbClr val="757575"/>
                </a:solidFill>
                <a:latin typeface="Lato"/>
                <a:ea typeface="Lato"/>
                <a:cs typeface="Lato"/>
                <a:sym typeface="Lato"/>
              </a:rPr>
              <a:t>formats their </a:t>
            </a:r>
            <a:r>
              <a:rPr i="0" lang="en" sz="1500" u="none" cap="none" strike="noStrike">
                <a:solidFill>
                  <a:srgbClr val="757575"/>
                </a:solidFill>
                <a:latin typeface="Lato"/>
                <a:ea typeface="Lato"/>
                <a:cs typeface="Lato"/>
                <a:sym typeface="Lato"/>
              </a:rPr>
              <a:t> minutes differently.</a:t>
            </a:r>
            <a:endParaRPr sz="1500">
              <a:latin typeface="Lato"/>
              <a:ea typeface="Lato"/>
              <a:cs typeface="Lato"/>
              <a:sym typeface="Lato"/>
            </a:endParaRPr>
          </a:p>
        </p:txBody>
      </p:sp>
      <p:sp>
        <p:nvSpPr>
          <p:cNvPr id="738" name="Google Shape;738;p73"/>
          <p:cNvSpPr/>
          <p:nvPr/>
        </p:nvSpPr>
        <p:spPr>
          <a:xfrm>
            <a:off x="301752" y="2743200"/>
            <a:ext cx="8540400" cy="18300"/>
          </a:xfrm>
          <a:prstGeom prst="rect">
            <a:avLst/>
          </a:prstGeom>
          <a:solidFill>
            <a:srgbClr val="EEEEEE"/>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739" name="Google Shape;739;p73"/>
          <p:cNvSpPr txBox="1"/>
          <p:nvPr/>
        </p:nvSpPr>
        <p:spPr>
          <a:xfrm>
            <a:off x="365752" y="2900891"/>
            <a:ext cx="384000" cy="3693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 sz="1800" u="none" cap="none" strike="noStrike">
                <a:solidFill>
                  <a:srgbClr val="ED315D"/>
                </a:solidFill>
                <a:latin typeface="Lato"/>
                <a:ea typeface="Lato"/>
                <a:cs typeface="Lato"/>
                <a:sym typeface="Lato"/>
              </a:rPr>
              <a:t>?</a:t>
            </a:r>
            <a:endParaRPr>
              <a:solidFill>
                <a:srgbClr val="ED315D"/>
              </a:solidFill>
            </a:endParaRPr>
          </a:p>
        </p:txBody>
      </p:sp>
      <p:sp>
        <p:nvSpPr>
          <p:cNvPr id="740" name="Google Shape;740;p73"/>
          <p:cNvSpPr txBox="1"/>
          <p:nvPr/>
        </p:nvSpPr>
        <p:spPr>
          <a:xfrm>
            <a:off x="777232" y="2900891"/>
            <a:ext cx="8229600" cy="3387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 sz="1600">
                <a:solidFill>
                  <a:srgbClr val="212121"/>
                </a:solidFill>
                <a:latin typeface="Lato"/>
                <a:ea typeface="Lato"/>
                <a:cs typeface="Lato"/>
                <a:sym typeface="Lato"/>
              </a:rPr>
              <a:t>Connect to the</a:t>
            </a:r>
            <a:r>
              <a:rPr b="1" i="0" lang="en" sz="1600" u="none" cap="none" strike="noStrike">
                <a:solidFill>
                  <a:srgbClr val="212121"/>
                </a:solidFill>
                <a:latin typeface="Lato"/>
                <a:ea typeface="Lato"/>
                <a:cs typeface="Lato"/>
                <a:sym typeface="Lato"/>
              </a:rPr>
              <a:t> </a:t>
            </a:r>
            <a:r>
              <a:rPr b="1" lang="en" sz="1600">
                <a:solidFill>
                  <a:srgbClr val="212121"/>
                </a:solidFill>
                <a:latin typeface="Lato"/>
                <a:ea typeface="Lato"/>
                <a:cs typeface="Lato"/>
                <a:sym typeface="Lato"/>
              </a:rPr>
              <a:t>C</a:t>
            </a:r>
            <a:r>
              <a:rPr b="1" i="0" lang="en" sz="1600" u="none" cap="none" strike="noStrike">
                <a:solidFill>
                  <a:srgbClr val="212121"/>
                </a:solidFill>
                <a:latin typeface="Lato"/>
                <a:ea typeface="Lato"/>
                <a:cs typeface="Lato"/>
                <a:sym typeface="Lato"/>
              </a:rPr>
              <a:t>ommittee </a:t>
            </a:r>
            <a:r>
              <a:rPr b="1" lang="en" sz="1600">
                <a:solidFill>
                  <a:srgbClr val="212121"/>
                </a:solidFill>
                <a:latin typeface="Lato"/>
                <a:ea typeface="Lato"/>
                <a:cs typeface="Lato"/>
                <a:sym typeface="Lato"/>
              </a:rPr>
              <a:t>L</a:t>
            </a:r>
            <a:r>
              <a:rPr b="1" i="0" lang="en" sz="1600" u="none" cap="none" strike="noStrike">
                <a:solidFill>
                  <a:srgbClr val="212121"/>
                </a:solidFill>
                <a:latin typeface="Lato"/>
                <a:ea typeface="Lato"/>
                <a:cs typeface="Lato"/>
                <a:sym typeface="Lato"/>
              </a:rPr>
              <a:t>ayer</a:t>
            </a:r>
            <a:endParaRPr b="1" sz="1600">
              <a:latin typeface="Lato"/>
              <a:ea typeface="Lato"/>
              <a:cs typeface="Lato"/>
              <a:sym typeface="Lato"/>
            </a:endParaRPr>
          </a:p>
        </p:txBody>
      </p:sp>
      <p:sp>
        <p:nvSpPr>
          <p:cNvPr id="741" name="Google Shape;741;p73"/>
          <p:cNvSpPr txBox="1"/>
          <p:nvPr/>
        </p:nvSpPr>
        <p:spPr>
          <a:xfrm>
            <a:off x="777232" y="3248363"/>
            <a:ext cx="8229600" cy="3231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i="0" lang="en" sz="1500" u="none" cap="none" strike="noStrike">
                <a:solidFill>
                  <a:srgbClr val="757575"/>
                </a:solidFill>
                <a:latin typeface="Lato"/>
                <a:ea typeface="Lato"/>
                <a:cs typeface="Lato"/>
                <a:sym typeface="Lato"/>
              </a:rPr>
              <a:t>Real deliberation happens in committees — </a:t>
            </a:r>
            <a:r>
              <a:rPr lang="en" sz="1500">
                <a:solidFill>
                  <a:srgbClr val="757575"/>
                </a:solidFill>
                <a:latin typeface="Lato"/>
                <a:ea typeface="Lato"/>
                <a:cs typeface="Lato"/>
                <a:sym typeface="Lato"/>
              </a:rPr>
              <a:t>can we connect conversation context to resolutions?</a:t>
            </a:r>
            <a:endParaRPr sz="1700">
              <a:latin typeface="Lato"/>
              <a:ea typeface="Lato"/>
              <a:cs typeface="Lato"/>
              <a:sym typeface="Lato"/>
            </a:endParaRPr>
          </a:p>
        </p:txBody>
      </p:sp>
      <p:sp>
        <p:nvSpPr>
          <p:cNvPr id="742" name="Google Shape;742;p73"/>
          <p:cNvSpPr/>
          <p:nvPr/>
        </p:nvSpPr>
        <p:spPr>
          <a:xfrm>
            <a:off x="365752" y="3723851"/>
            <a:ext cx="8540400" cy="18300"/>
          </a:xfrm>
          <a:prstGeom prst="rect">
            <a:avLst/>
          </a:prstGeom>
          <a:solidFill>
            <a:srgbClr val="EEEEEE"/>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743" name="Google Shape;743;p73"/>
          <p:cNvSpPr/>
          <p:nvPr/>
        </p:nvSpPr>
        <p:spPr>
          <a:xfrm>
            <a:off x="0" y="4846320"/>
            <a:ext cx="9144000" cy="2011800"/>
          </a:xfrm>
          <a:prstGeom prst="rect">
            <a:avLst/>
          </a:prstGeom>
          <a:solidFill>
            <a:srgbClr val="212121"/>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744" name="Google Shape;744;p73"/>
          <p:cNvSpPr txBox="1"/>
          <p:nvPr/>
        </p:nvSpPr>
        <p:spPr>
          <a:xfrm>
            <a:off x="365752" y="3873604"/>
            <a:ext cx="384000" cy="3693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 sz="1800" u="none" cap="none" strike="noStrike">
                <a:solidFill>
                  <a:srgbClr val="ED315D"/>
                </a:solidFill>
                <a:latin typeface="Lato"/>
                <a:ea typeface="Lato"/>
                <a:cs typeface="Lato"/>
                <a:sym typeface="Lato"/>
              </a:rPr>
              <a:t>?</a:t>
            </a:r>
            <a:endParaRPr>
              <a:solidFill>
                <a:srgbClr val="ED315D"/>
              </a:solidFill>
            </a:endParaRPr>
          </a:p>
        </p:txBody>
      </p:sp>
      <p:sp>
        <p:nvSpPr>
          <p:cNvPr id="745" name="Google Shape;745;p73"/>
          <p:cNvSpPr txBox="1"/>
          <p:nvPr/>
        </p:nvSpPr>
        <p:spPr>
          <a:xfrm>
            <a:off x="777232" y="3873604"/>
            <a:ext cx="8229600" cy="3387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 sz="1600">
                <a:solidFill>
                  <a:srgbClr val="212121"/>
                </a:solidFill>
                <a:latin typeface="Lato"/>
                <a:ea typeface="Lato"/>
                <a:cs typeface="Lato"/>
                <a:sym typeface="Lato"/>
              </a:rPr>
              <a:t>More Accessible</a:t>
            </a:r>
            <a:endParaRPr b="1" sz="1600">
              <a:latin typeface="Lato"/>
              <a:ea typeface="Lato"/>
              <a:cs typeface="Lato"/>
              <a:sym typeface="Lato"/>
            </a:endParaRPr>
          </a:p>
        </p:txBody>
      </p:sp>
      <p:sp>
        <p:nvSpPr>
          <p:cNvPr id="746" name="Google Shape;746;p73"/>
          <p:cNvSpPr txBox="1"/>
          <p:nvPr/>
        </p:nvSpPr>
        <p:spPr>
          <a:xfrm>
            <a:off x="777232" y="4221076"/>
            <a:ext cx="8229600" cy="3231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 sz="1500">
                <a:solidFill>
                  <a:srgbClr val="757575"/>
                </a:solidFill>
                <a:latin typeface="Lato"/>
                <a:ea typeface="Lato"/>
                <a:cs typeface="Lato"/>
                <a:sym typeface="Lato"/>
              </a:rPr>
              <a:t>How might we improve how the key information can be extracted, summarized, digested?</a:t>
            </a:r>
            <a:endParaRPr sz="1700">
              <a:latin typeface="Lato"/>
              <a:ea typeface="Lato"/>
              <a:cs typeface="Lato"/>
              <a:sym typeface="Lato"/>
            </a:endParaRPr>
          </a:p>
        </p:txBody>
      </p:sp>
      <p:sp>
        <p:nvSpPr>
          <p:cNvPr id="747" name="Google Shape;747;p73"/>
          <p:cNvSpPr/>
          <p:nvPr/>
        </p:nvSpPr>
        <p:spPr>
          <a:xfrm>
            <a:off x="365752" y="4696564"/>
            <a:ext cx="8540400" cy="18300"/>
          </a:xfrm>
          <a:prstGeom prst="rect">
            <a:avLst/>
          </a:prstGeom>
          <a:solidFill>
            <a:srgbClr val="EEEEEE"/>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748" name="Google Shape;748;p73"/>
          <p:cNvSpPr txBox="1"/>
          <p:nvPr/>
        </p:nvSpPr>
        <p:spPr>
          <a:xfrm>
            <a:off x="365760" y="4983480"/>
            <a:ext cx="8412600" cy="3231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 sz="1500">
                <a:solidFill>
                  <a:srgbClr val="00E09D"/>
                </a:solidFill>
                <a:latin typeface="Lato Light"/>
                <a:ea typeface="Lato Light"/>
                <a:cs typeface="Lato Light"/>
                <a:sym typeface="Lato Light"/>
              </a:rPr>
              <a:t>Read more @ NYCuriosity</a:t>
            </a:r>
            <a:r>
              <a:rPr i="0" lang="en" sz="1500" u="none" cap="none" strike="noStrike">
                <a:solidFill>
                  <a:srgbClr val="00E09D"/>
                </a:solidFill>
                <a:latin typeface="Lato Light"/>
                <a:ea typeface="Lato Light"/>
                <a:cs typeface="Lato Light"/>
                <a:sym typeface="Lato Light"/>
              </a:rPr>
              <a:t>.  </a:t>
            </a:r>
            <a:r>
              <a:rPr lang="en" sz="1500">
                <a:solidFill>
                  <a:srgbClr val="00E09D"/>
                </a:solidFill>
                <a:latin typeface="Lato Light"/>
                <a:ea typeface="Lato Light"/>
                <a:cs typeface="Lato Light"/>
                <a:sym typeface="Lato Light"/>
              </a:rPr>
              <a:t>Join @ Committee Meeting</a:t>
            </a:r>
            <a:r>
              <a:rPr i="0" lang="en" sz="1500" u="none" cap="none" strike="noStrike">
                <a:solidFill>
                  <a:srgbClr val="00E09D"/>
                </a:solidFill>
                <a:latin typeface="Lato Light"/>
                <a:ea typeface="Lato Light"/>
                <a:cs typeface="Lato Light"/>
                <a:sym typeface="Lato Light"/>
              </a:rPr>
              <a:t>.  </a:t>
            </a:r>
            <a:r>
              <a:rPr lang="en" sz="1500">
                <a:solidFill>
                  <a:srgbClr val="00E09D"/>
                </a:solidFill>
                <a:latin typeface="Lato Light"/>
                <a:ea typeface="Lato Light"/>
                <a:cs typeface="Lato Light"/>
                <a:sym typeface="Lato Light"/>
              </a:rPr>
              <a:t>Subscribe @ Block Party</a:t>
            </a:r>
            <a:r>
              <a:rPr i="0" lang="en" sz="1500" u="none" cap="none" strike="noStrike">
                <a:solidFill>
                  <a:srgbClr val="00E09D"/>
                </a:solidFill>
                <a:latin typeface="Lato Light"/>
                <a:ea typeface="Lato Light"/>
                <a:cs typeface="Lato Light"/>
                <a:sym typeface="Lato Light"/>
              </a:rPr>
              <a:t>.</a:t>
            </a:r>
            <a:endParaRPr>
              <a:solidFill>
                <a:srgbClr val="00E09D"/>
              </a:solidFill>
              <a:latin typeface="Lato Light"/>
              <a:ea typeface="Lato Light"/>
              <a:cs typeface="Lato Light"/>
              <a:sym typeface="Lato Light"/>
            </a:endParaRPr>
          </a:p>
        </p:txBody>
      </p:sp>
      <p:sp>
        <p:nvSpPr>
          <p:cNvPr id="749" name="Google Shape;749;p73"/>
          <p:cNvSpPr/>
          <p:nvPr/>
        </p:nvSpPr>
        <p:spPr>
          <a:xfrm>
            <a:off x="2348900" y="5575175"/>
            <a:ext cx="4574100" cy="962700"/>
          </a:xfrm>
          <a:prstGeom prst="flowChartAlternateProcess">
            <a:avLst/>
          </a:prstGeom>
          <a:solidFill>
            <a:srgbClr val="ED315D"/>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b="1" lang="en" sz="1600">
                <a:solidFill>
                  <a:schemeClr val="lt1"/>
                </a:solidFill>
                <a:latin typeface="Lato"/>
                <a:ea typeface="Lato"/>
                <a:cs typeface="Lato"/>
                <a:sym typeface="Lato"/>
              </a:rPr>
              <a:t>Please share your thoughts/feedback/ideas with us!</a:t>
            </a:r>
            <a:endParaRPr b="1" sz="1600">
              <a:solidFill>
                <a:schemeClr val="lt1"/>
              </a:solidFill>
              <a:latin typeface="Lato"/>
              <a:ea typeface="Lato"/>
              <a:cs typeface="Lato"/>
              <a:sym typeface="Lato"/>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